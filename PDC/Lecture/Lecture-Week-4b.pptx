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416" r:id="rId3"/>
    <p:sldId id="257" r:id="rId4"/>
    <p:sldId id="402" r:id="rId5"/>
    <p:sldId id="403" r:id="rId6"/>
    <p:sldId id="401" r:id="rId7"/>
    <p:sldId id="258" r:id="rId8"/>
    <p:sldId id="414" r:id="rId9"/>
    <p:sldId id="415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709" autoAdjust="0"/>
  </p:normalViewPr>
  <p:slideViewPr>
    <p:cSldViewPr snapToGrid="0">
      <p:cViewPr varScale="1">
        <p:scale>
          <a:sx n="70" d="100"/>
          <a:sy n="70" d="100"/>
        </p:scale>
        <p:origin x="12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3-30T03:25:14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9475 5798 0</inkml:trace>
  <inkml:trace contextRef="#ctx0" brushRef="#br0" timeOffset="6400.46">16050 5770 0,'0'28'218,"27"-28"-202,1 0 0,-1 0 15,1 0-15,0 0-16,27 0 15,-27 0-15,54 0 16,-54 0-16,55 0 15,-28 0-15,0 0 16,28 0-16,0 0 16,-28 0-16,1 0 15,-1 0-15,0 0 16,-27 0-16,-1 0 16,1 0-16,27 0 15,1 0-15,-29 0 0,28 0 16,-27 0-16,27 0 15,28 0-15,-55 0 16,27 0-16,-27 0 16,27-28-1,28 28-15,-83-27 16,55 27-16,-27 0 16,-1 0-16,1-28 15,27 28-15,-27 0 16,-1 0-1,1 0 1,0 0-16,-1 0 16,28 0-1,-27 0 1,0 0 15,-1 0-15,1 0 31,-28-27 46</inkml:trace>
  <inkml:trace contextRef="#ctx0" brushRef="#br0" timeOffset="6642.88">18149 5688 0</inkml:trace>
  <inkml:trace contextRef="#ctx0" brushRef="#br0" timeOffset="10365.44">7017 7123 0,'55'0'281,"55"0"-281,-54 0 16,-29 0-16,29 0 15,26 0 1,-26-27-16,-29 27 16,28-28-1,1 28-15,-29 0 16,1-28-1,27 28 1,-27 0-16,27 0 16,0 0-1,-27 0 1,0 0 31,-1 0-16,1 0-15,-1 0-1,1 0 63,0 0-62,-1 0 78,1 0-79,0 0 17,-1 0 30,1 0-31,-1 0 1,1 0-17</inkml:trace>
  <inkml:trace contextRef="#ctx0" brushRef="#br0" timeOffset="15908.22">19061 7013 0,'27'0'609,"1"0"-593,-1 0 15,29 0-15,-29 0 31,1 0-32,0 0 48,-1 0-48,1 0-15,27 0 16,-27 0 15,-1 0-31,1 0 16,0 0 15,-1 0-31,28 0 47,-27 0-31,0 0 46,-1 0-46,1 0-1,0 0 1,-1 0 0,1 0-1,-1 0 1,1 0-16,0 0 16,-1 0-1,1 0 1,0 0 15,-1 0-31,1 0 16,-1 0-1,1 0 1,27 0 0,-27 0 15,27 0-31,-27 0 15,27-28 1,-27 28 0,-1 0-16,-27-27 15,56 27 1,-29 0-16,1 0 31,-1 0-15,1 0-1,-28-28 17,28 28-32,-1 0 15,1 0 1,0 0 0,-1 0 15,1 0-16,-1 0 1,1 0 15,0 0-31,-1 0 32,1 0-17,-1 0 1,1 0 15,0 0 0,-1 0-15,1 0 0,27 0-1,-27 0 1,-1 0-1,1 0 1,0 0-16,-1 0 16,-27 28-1,56-28 1,-29 0-16,-27 27 31,28-27-31,-1 0 16,1 0 15,0 0-15,27 0 31,-27 0-16,-1 0 63,1 0-79,-1 28 16,1-1-15,0-27-16,-1 0 16,1 0-16,0 0 15,-1 0 17,1 0-17,27 0 1,0 0-16,-27 0 15,0 0 1,-1 0 15,1 0 16,-56 0 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9EE5-29F7-4936-BB9E-C496A010A51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85E8A-A197-49EA-96E2-2AD1E68BD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03859" y="1728598"/>
            <a:ext cx="533628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53084" y="3568675"/>
            <a:ext cx="503783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 u="heavy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6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982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10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821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596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4565" y="461901"/>
            <a:ext cx="3134868" cy="2708434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2092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2092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BE47-9B4F-4BE7-BD84-C5864EF90CD1}" type="datetime1">
              <a:rPr lang="de-DE" smtClean="0"/>
              <a:t>27.09.2026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70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2000"/>
              <a:buNone/>
              <a:defRPr sz="15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63"/>
          <p:cNvSpPr txBox="1">
            <a:spLocks noGrp="1"/>
          </p:cNvSpPr>
          <p:nvPr>
            <p:ph type="dt" idx="10"/>
          </p:nvPr>
        </p:nvSpPr>
        <p:spPr>
          <a:xfrm>
            <a:off x="628650" y="632460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ftr" idx="11"/>
          </p:nvPr>
        </p:nvSpPr>
        <p:spPr>
          <a:xfrm>
            <a:off x="3028950" y="632460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3"/>
          <p:cNvSpPr txBox="1">
            <a:spLocks noGrp="1"/>
          </p:cNvSpPr>
          <p:nvPr>
            <p:ph type="sldNum" idx="12"/>
          </p:nvPr>
        </p:nvSpPr>
        <p:spPr>
          <a:xfrm>
            <a:off x="6457950" y="632460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4565" y="461899"/>
            <a:ext cx="313486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558493"/>
            <a:ext cx="80721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3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3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3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062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92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857251"/>
            <a:ext cx="9144000" cy="5143503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135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0" y="857251"/>
            <a:ext cx="9144000" cy="10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2286" y="85725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135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286" y="857250"/>
            <a:ext cx="9141714" cy="5143500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135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l="9052" r="15486" b="-2"/>
          <a:stretch/>
        </p:blipFill>
        <p:spPr>
          <a:xfrm>
            <a:off x="4497471" y="856269"/>
            <a:ext cx="4646529" cy="34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0" y="4309408"/>
            <a:ext cx="9144000" cy="170050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135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"/>
          <p:cNvSpPr/>
          <p:nvPr/>
        </p:nvSpPr>
        <p:spPr>
          <a:xfrm rot="10800000">
            <a:off x="-2291" y="4304266"/>
            <a:ext cx="9143999" cy="1705646"/>
          </a:xfrm>
          <a:prstGeom prst="rect">
            <a:avLst/>
          </a:prstGeom>
          <a:blipFill rotWithShape="1">
            <a:blip r:embed="rId5">
              <a:alphaModFix amt="20000"/>
            </a:blip>
            <a:tile tx="889000" ty="0" sx="100000" sy="100000" flip="none" algn="tl"/>
          </a:blip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135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628650" y="4514850"/>
            <a:ext cx="750241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l" rtl="0">
              <a:lnSpc>
                <a:spcPct val="90000"/>
              </a:lnSpc>
              <a:buSzPts val="4100"/>
            </a:pPr>
            <a:r>
              <a:rPr lang="en-US" sz="3075" b="1" dirty="0">
                <a:solidFill>
                  <a:schemeClr val="bg1"/>
                </a:solidFill>
              </a:rPr>
              <a:t>CSDC-446 Parallel and Distributed Computing</a:t>
            </a:r>
            <a:endParaRPr sz="3075" b="1" dirty="0">
              <a:solidFill>
                <a:schemeClr val="bg1"/>
              </a:solidFill>
            </a:endParaRPr>
          </a:p>
        </p:txBody>
      </p:sp>
      <p:sp>
        <p:nvSpPr>
          <p:cNvPr id="98" name="Google Shape;98;p1"/>
          <p:cNvSpPr txBox="1">
            <a:spLocks noGrp="1"/>
          </p:cNvSpPr>
          <p:nvPr>
            <p:ph type="subTitle" idx="1"/>
          </p:nvPr>
        </p:nvSpPr>
        <p:spPr>
          <a:xfrm>
            <a:off x="0" y="848092"/>
            <a:ext cx="3985089" cy="295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/>
          </a:bodyPr>
          <a:lstStyle/>
          <a:p>
            <a:pPr algn="just" rtl="0">
              <a:spcBef>
                <a:spcPts val="0"/>
              </a:spcBef>
              <a:buSzPts val="2800"/>
            </a:pPr>
            <a:r>
              <a:rPr lang="en-US" sz="2700" b="1" dirty="0">
                <a:latin typeface="Arial"/>
                <a:ea typeface="Arial"/>
                <a:cs typeface="Arial"/>
                <a:sym typeface="Arial"/>
              </a:rPr>
              <a:t>Dr. </a:t>
            </a:r>
            <a:r>
              <a:rPr lang="en-US" sz="2700" b="1" dirty="0" err="1">
                <a:latin typeface="Arial"/>
                <a:ea typeface="Arial"/>
                <a:cs typeface="Arial"/>
                <a:sym typeface="Arial"/>
              </a:rPr>
              <a:t>Sehrish</a:t>
            </a:r>
            <a:r>
              <a:rPr lang="en-US" sz="2700" b="1" dirty="0">
                <a:latin typeface="Arial"/>
                <a:ea typeface="Arial"/>
                <a:cs typeface="Arial"/>
                <a:sym typeface="Arial"/>
              </a:rPr>
              <a:t> Amjad</a:t>
            </a:r>
            <a:endParaRPr sz="27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85725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-2286" y="22622"/>
            <a:ext cx="9144000" cy="1669256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523882" y="214340"/>
            <a:ext cx="7502414" cy="120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l" rtl="0">
              <a:buClr>
                <a:schemeClr val="lt1"/>
              </a:buClr>
              <a:buSzPts val="4400"/>
            </a:pPr>
            <a:r>
              <a:rPr lang="en-US" b="1" dirty="0">
                <a:solidFill>
                  <a:schemeClr val="bg1"/>
                </a:solidFill>
              </a:rPr>
              <a:t>Topics Covered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4" name="Google Shape;141;p4">
            <a:extLst>
              <a:ext uri="{FF2B5EF4-FFF2-40B4-BE49-F238E27FC236}">
                <a16:creationId xmlns:a16="http://schemas.microsoft.com/office/drawing/2014/main" id="{51427039-8E57-7CCE-9DFD-2CDF3DEDB0BE}"/>
              </a:ext>
            </a:extLst>
          </p:cNvPr>
          <p:cNvSpPr txBox="1">
            <a:spLocks/>
          </p:cNvSpPr>
          <p:nvPr/>
        </p:nvSpPr>
        <p:spPr>
          <a:xfrm>
            <a:off x="0" y="1749127"/>
            <a:ext cx="9141714" cy="3559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>
              <a:buSzPts val="2800"/>
            </a:pP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Amdahls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Law, Flops and Profiling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796" y="1654203"/>
            <a:ext cx="8122285" cy="25737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 algn="just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Floating-point operations per second (FLOPS) is a measure of a computer's performance based on the number of floating-point arithmetic calculations that the processor can perform within a second.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B6875E-3C19-8CCD-8B49-9F28FF0A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760E7E-939E-57F9-AFFC-4DBDF393C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F5AA4F-4EC3-3C5B-86EF-B9A94ED1CFD1}"/>
              </a:ext>
            </a:extLst>
          </p:cNvPr>
          <p:cNvSpPr txBox="1"/>
          <p:nvPr/>
        </p:nvSpPr>
        <p:spPr>
          <a:xfrm>
            <a:off x="510796" y="1654203"/>
            <a:ext cx="8122285" cy="306622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 algn="just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FLOPS is used as a performance metric, it is typically expressed with a prefix multiplier such as tera or </a:t>
            </a:r>
            <a:r>
              <a:rPr lang="en-US" sz="3200" spc="-5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</a:t>
            </a:r>
            <a:r>
              <a:rPr lang="en-US"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 in </a:t>
            </a:r>
            <a:r>
              <a:rPr lang="en-US" sz="3200" spc="-5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teraFLOPS</a:t>
            </a:r>
            <a:r>
              <a:rPr lang="en-US"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3200" spc="-5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petaFLOPS</a:t>
            </a:r>
            <a:r>
              <a:rPr lang="en-US"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following table provides a breakdown of several FLOPS prefix multipliers.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35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22BC65-205A-6B8D-0626-70FE1734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6EEBE8-8871-1FD6-6E6E-D271AEFC3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5FBC4-F816-1AE6-9E86-DA26664A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13" y="1308192"/>
            <a:ext cx="6071173" cy="525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4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423AF6-83F4-CA51-F115-58AD05CE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134571-47F8-5774-E26B-B65F8755C6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8378E7-D135-E6C4-FAB3-CC2ECE7A6C1A}"/>
              </a:ext>
            </a:extLst>
          </p:cNvPr>
          <p:cNvSpPr txBox="1"/>
          <p:nvPr/>
        </p:nvSpPr>
        <p:spPr>
          <a:xfrm>
            <a:off x="510796" y="1654203"/>
            <a:ext cx="8122285" cy="11990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 algn="just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operations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3200" spc="5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of theoretical peak</a:t>
            </a:r>
            <a:r>
              <a:rPr sz="3200" spc="-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CF6BDDE-476C-083F-73A1-56CD8F949F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107" y="3870579"/>
            <a:ext cx="914535" cy="22238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D44EA0A-4EC8-6813-50EC-F124E0E1C2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0031" y="3965587"/>
            <a:ext cx="209629" cy="84783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FA2C7F3F-4AE5-64DF-5128-B374849FE5E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9419" y="3874565"/>
            <a:ext cx="863639" cy="21611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D82BE8C-DBD1-6501-A361-134893BC093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3295" y="3927280"/>
            <a:ext cx="160740" cy="15889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8BB11E36-8333-D3EB-CBA2-5FFC77CE609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95131" y="3754625"/>
            <a:ext cx="607110" cy="147689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6F7CB040-04EC-29A0-EA6B-22A879BDABF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5761" y="3998703"/>
            <a:ext cx="785625" cy="290218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AE93A527-8CD5-B33B-20C4-9D89706FCD9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17178" y="3926619"/>
            <a:ext cx="156905" cy="159991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FBEF585D-E897-FB58-EC7F-2AC06A622D85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8302" y="3673828"/>
            <a:ext cx="839900" cy="615000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8A3C4238-8682-DAC4-55CF-0FA2DD213E38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63076" y="3927280"/>
            <a:ext cx="160740" cy="158894"/>
          </a:xfrm>
          <a:prstGeom prst="rect">
            <a:avLst/>
          </a:prstGeom>
        </p:spPr>
      </p:pic>
      <p:pic>
        <p:nvPicPr>
          <p:cNvPr id="13" name="object 13">
            <a:extLst>
              <a:ext uri="{FF2B5EF4-FFF2-40B4-BE49-F238E27FC236}">
                <a16:creationId xmlns:a16="http://schemas.microsoft.com/office/drawing/2014/main" id="{AE169C72-C14E-F9D4-5257-FBADCF4BF7D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60045" y="3683557"/>
            <a:ext cx="876066" cy="222415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02E1CD16-69D9-8909-F59B-5945FFD8FC20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45542" y="3998703"/>
            <a:ext cx="905613" cy="3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0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085"/>
            <a:ext cx="7920990" cy="42692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only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sometimes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socket;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(desktop</a:t>
            </a:r>
            <a:r>
              <a:rPr sz="24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laptop),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“sockets”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be</a:t>
            </a:r>
            <a:r>
              <a:rPr sz="2400" spc="6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0320" indent="-342900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 per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depends on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(dual- 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core),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3, 4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(quad-core),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(hexa-core),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8.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 prototype CPUs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80</a:t>
            </a:r>
            <a:r>
              <a:rPr sz="24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79375" indent="-342900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“Clock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 second” </a:t>
            </a:r>
            <a:r>
              <a:rPr sz="2400" spc="-3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speed of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rated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gigahertz.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GHz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2,000,000,000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</a:t>
            </a:r>
            <a:r>
              <a:rPr sz="2400" spc="7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61594" indent="-342900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4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depends on the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fastest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(home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computer) CPUs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i7–970, capable of 4 double-precision or 8 single-precision 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floating-point operations per cycle.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DE8B82-BCD6-27C9-907C-8BBFF0D6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B897E9-0454-6B4D-6CAB-F09771081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680D17-FDF8-1291-39DB-10FD6ED64BCA}"/>
              </a:ext>
            </a:extLst>
          </p:cNvPr>
          <p:cNvSpPr txBox="1"/>
          <p:nvPr/>
        </p:nvSpPr>
        <p:spPr>
          <a:xfrm>
            <a:off x="535940" y="1545085"/>
            <a:ext cx="7920990" cy="42692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only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sometimes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socket;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(desktop</a:t>
            </a:r>
            <a:r>
              <a:rPr sz="24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laptop),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“sockets”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be</a:t>
            </a:r>
            <a:r>
              <a:rPr sz="2400" spc="6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0320" indent="-342900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 per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depends on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(dual- 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core),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3, 4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(quad-core),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(hexa-core),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8.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 prototype CPUs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80</a:t>
            </a:r>
            <a:r>
              <a:rPr sz="24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79375" indent="-342900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“Clock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 second” </a:t>
            </a:r>
            <a:r>
              <a:rPr sz="2400" spc="-3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speed of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CPUs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rated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gigahertz.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GHz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2,000,000,000 </a:t>
            </a:r>
            <a:r>
              <a:rPr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</a:t>
            </a:r>
            <a:r>
              <a:rPr sz="2400" spc="7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61594" indent="-342900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4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depends on the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</a:t>
            </a:r>
            <a:r>
              <a:rPr sz="24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fastest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(home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computer) CPUs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sz="24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 </a:t>
            </a:r>
            <a:r>
              <a:rPr sz="24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i7–970, capable of 4 double-precision or 8 single-precision  </a:t>
            </a:r>
            <a:r>
              <a:rPr sz="24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floating-point operations per cycle.</a:t>
            </a: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8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839809-8A93-6862-B55A-12A4911F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10A80D-7DF4-C8EE-8153-3696B07F4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61057" y="461903"/>
            <a:ext cx="1421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9C5B73C-9E9C-F5AB-2C85-CB089A676751}"/>
              </a:ext>
            </a:extLst>
          </p:cNvPr>
          <p:cNvSpPr txBox="1"/>
          <p:nvPr/>
        </p:nvSpPr>
        <p:spPr>
          <a:xfrm>
            <a:off x="535940" y="1545085"/>
            <a:ext cx="7920990" cy="42287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application requires 10^12 floating-point operations. The system that has been used for this application has a peak performance of 6 PFLOPS (</a:t>
            </a:r>
            <a:r>
              <a:rPr lang="en-US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PetaFLOPS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How long will this system take to complete the simulation in seconds?</a:t>
            </a:r>
          </a:p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taken by the system = total number of operation required/System Flops</a:t>
            </a:r>
          </a:p>
          <a:p>
            <a:pPr marL="2298700" marR="5080" lvl="5" algn="just">
              <a:lnSpc>
                <a:spcPts val="2400"/>
              </a:lnSpc>
              <a:spcBef>
                <a:spcPts val="675"/>
              </a:spcBef>
              <a:tabLst>
                <a:tab pos="355600" algn="l"/>
              </a:tabLst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10^12 float point operations/6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Pflops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second</a:t>
            </a:r>
          </a:p>
          <a:p>
            <a:pPr marL="2298700" marR="5080" lvl="5" algn="just">
              <a:lnSpc>
                <a:spcPts val="2400"/>
              </a:lnSpc>
              <a:spcBef>
                <a:spcPts val="675"/>
              </a:spcBef>
              <a:tabLst>
                <a:tab pos="355600" algn="l"/>
              </a:tabLst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10^12 / 6 * 10 ^ 15</a:t>
            </a:r>
          </a:p>
          <a:p>
            <a:pPr marL="2298700" marR="5080" lvl="5" algn="just">
              <a:lnSpc>
                <a:spcPts val="2400"/>
              </a:lnSpc>
              <a:spcBef>
                <a:spcPts val="675"/>
              </a:spcBef>
              <a:tabLst>
                <a:tab pos="355600" algn="l"/>
              </a:tabLst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/ 6 * 10 ^ 3</a:t>
            </a:r>
          </a:p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endParaRPr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69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7945" y="461903"/>
            <a:ext cx="92836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395" dirty="0"/>
              <a:t>T</a:t>
            </a:r>
            <a:r>
              <a:rPr dirty="0"/>
              <a:t>e</a:t>
            </a:r>
            <a:r>
              <a:rPr spc="-40" dirty="0"/>
              <a:t>s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836" y="1592978"/>
            <a:ext cx="8236585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i7–970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running</a:t>
            </a:r>
            <a:r>
              <a:rPr sz="3200" spc="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3.46 GHz and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</a:t>
            </a:r>
            <a:r>
              <a:rPr lang="en-US"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second, calculate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this</a:t>
            </a:r>
            <a:r>
              <a:rPr sz="32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2291C4-ACB0-494E-A804-47D53A4A45D4}"/>
                  </a:ext>
                </a:extLst>
              </p14:cNvPr>
              <p14:cNvContentPartPr/>
              <p14:nvPr/>
            </p14:nvContentPartPr>
            <p14:xfrm>
              <a:off x="1002120" y="2047680"/>
              <a:ext cx="5360400" cy="51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2291C4-ACB0-494E-A804-47D53A4A45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2760" y="2038320"/>
                <a:ext cx="5379120" cy="53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30" y="461903"/>
            <a:ext cx="1945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5"/>
            <a:ext cx="8002270" cy="36657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i7–970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running</a:t>
            </a:r>
            <a:r>
              <a:rPr sz="2800" spc="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>
              <a:spcBef>
                <a:spcPts val="5"/>
              </a:spcBef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3.46 GHz, the </a:t>
            </a: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sz="2800" spc="6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be: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60985" indent="-342900" algn="just"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sz="28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(socket)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6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(cores)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3,460,000,000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(cycles  per second)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8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(single-precision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 second)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166,080,000,000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single-precision 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83,040,000,000 </a:t>
            </a: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double- 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8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r>
              <a:rPr sz="2800" spc="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GFLOPS.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741</TotalTime>
  <Words>566</Words>
  <Application>Microsoft Office PowerPoint</Application>
  <PresentationFormat>On-screen Show (4:3)</PresentationFormat>
  <Paragraphs>36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</vt:lpstr>
      <vt:lpstr>Calibri</vt:lpstr>
      <vt:lpstr>1_Office Theme</vt:lpstr>
      <vt:lpstr>CSDC-446 Parallel and Distributed Computing</vt:lpstr>
      <vt:lpstr>Topics Covered</vt:lpstr>
      <vt:lpstr>FLOPS</vt:lpstr>
      <vt:lpstr>FLOPS</vt:lpstr>
      <vt:lpstr>FLOPS</vt:lpstr>
      <vt:lpstr>FLOPS</vt:lpstr>
      <vt:lpstr>FLOPS</vt:lpstr>
      <vt:lpstr>FLOPS</vt:lpstr>
      <vt:lpstr>FLOPS</vt:lpstr>
      <vt:lpstr>Test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Mateen Yaqoob</dc:creator>
  <cp:lastModifiedBy>Sehrish Amjad</cp:lastModifiedBy>
  <cp:revision>108</cp:revision>
  <dcterms:created xsi:type="dcterms:W3CDTF">2020-09-03T08:42:31Z</dcterms:created>
  <dcterms:modified xsi:type="dcterms:W3CDTF">2026-09-28T05:54:07Z</dcterms:modified>
</cp:coreProperties>
</file>