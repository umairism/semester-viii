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9" r:id="rId3"/>
    <p:sldId id="422" r:id="rId4"/>
    <p:sldId id="428" r:id="rId5"/>
    <p:sldId id="429" r:id="rId6"/>
    <p:sldId id="430" r:id="rId7"/>
    <p:sldId id="431" r:id="rId8"/>
    <p:sldId id="432" r:id="rId9"/>
    <p:sldId id="433" r:id="rId10"/>
    <p:sldId id="434" r:id="rId11"/>
    <p:sldId id="435" r:id="rId12"/>
    <p:sldId id="436" r:id="rId13"/>
    <p:sldId id="437" r:id="rId14"/>
    <p:sldId id="438" r:id="rId15"/>
    <p:sldId id="439" r:id="rId16"/>
    <p:sldId id="440" r:id="rId17"/>
    <p:sldId id="441" r:id="rId18"/>
    <p:sldId id="442" r:id="rId19"/>
    <p:sldId id="443" r:id="rId20"/>
    <p:sldId id="444" r:id="rId21"/>
    <p:sldId id="445" r:id="rId22"/>
    <p:sldId id="446"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0" roundtripDataSignature="AMtx7mjLOmqfjBRYjHjL0yn0qA3zyNo6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05" autoAdjust="0"/>
  </p:normalViewPr>
  <p:slideViewPr>
    <p:cSldViewPr snapToGrid="0">
      <p:cViewPr varScale="1">
        <p:scale>
          <a:sx n="63" d="100"/>
          <a:sy n="63" d="100"/>
        </p:scale>
        <p:origin x="9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72"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7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https://www.run.ai/guides/distributed-computing/parallel-computing</a:t>
            </a:r>
            <a:endParaRPr dirty="0"/>
          </a:p>
        </p:txBody>
      </p:sp>
      <p:sp>
        <p:nvSpPr>
          <p:cNvPr id="134" name="Google Shape;13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36410A8-785A-58D2-05B1-30334B12B937}"/>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343DB47A-B781-899D-9A0C-FD2C497A9EB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6D10F75-EFA3-00EC-1B00-B54EE950BB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https://www.run.ai/guides/distributed-computing/parallel-computing</a:t>
            </a:r>
            <a:endParaRPr dirty="0"/>
          </a:p>
        </p:txBody>
      </p:sp>
      <p:sp>
        <p:nvSpPr>
          <p:cNvPr id="134" name="Google Shape;134;p4:notes">
            <a:extLst>
              <a:ext uri="{FF2B5EF4-FFF2-40B4-BE49-F238E27FC236}">
                <a16:creationId xmlns:a16="http://schemas.microsoft.com/office/drawing/2014/main" id="{78B5A6AD-B759-505A-2036-72054181D22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702558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9998EDD-FED9-CA31-401A-79038AAA927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438B5503-F9F0-3F10-1849-1181AE58B0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3C9DFA54-0D81-AB12-A750-BFEFE509FA4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https://www.run.ai/guides/distributed-computing/parallel-computing</a:t>
            </a:r>
            <a:endParaRPr dirty="0"/>
          </a:p>
        </p:txBody>
      </p:sp>
      <p:sp>
        <p:nvSpPr>
          <p:cNvPr id="134" name="Google Shape;134;p4:notes">
            <a:extLst>
              <a:ext uri="{FF2B5EF4-FFF2-40B4-BE49-F238E27FC236}">
                <a16:creationId xmlns:a16="http://schemas.microsoft.com/office/drawing/2014/main" id="{94AD0DF1-6B39-D902-4E24-56CD655BD85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711333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A4CDA159-9884-3C18-0C41-1B9A89DF0A0E}"/>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D586DCD7-7607-FC93-F272-8C34BFAF79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8ADF7862-2449-1A35-FE4B-9219895C7F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https://www.run.ai/guides/distributed-computing/parallel-computing</a:t>
            </a:r>
            <a:endParaRPr dirty="0"/>
          </a:p>
        </p:txBody>
      </p:sp>
      <p:sp>
        <p:nvSpPr>
          <p:cNvPr id="134" name="Google Shape;134;p4:notes">
            <a:extLst>
              <a:ext uri="{FF2B5EF4-FFF2-40B4-BE49-F238E27FC236}">
                <a16:creationId xmlns:a16="http://schemas.microsoft.com/office/drawing/2014/main" id="{5694E761-14F4-0CB8-DD1D-864187E6DEB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423894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60A2043-ACD9-7761-5816-9A73C92B35B4}"/>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5762348A-2E9F-0F1C-DCEA-931621A781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2FAB21AB-B5F2-9772-0DE5-A729B24F38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9D7C6798-9F3D-6D24-EC7F-D02D01CC513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980793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CEDC011-92DB-A702-F04B-68FEFA4A4852}"/>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4EDB1E17-C925-80AA-DFE7-F774889BFC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EA01E9EC-F5CE-DE0E-FAF0-5B02115F61C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D459B540-EE44-3B5F-A5E2-FA5568FE5D8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415336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F8F51CC-1184-16F2-D6D9-6A8972BF4921}"/>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A7846ED-AC0B-C0A3-38DE-43BAA9F34B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B1EC5A34-8CA1-097D-E24F-BA1741C5D8F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D4A2173B-DAAC-D92B-9343-D3968C94F8E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316833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1163D0DC-46A2-E435-AD03-C9A70FE50530}"/>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E1E22EEC-751F-7D93-DB5B-91BCCDDEBB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7B285B46-5841-ECDB-1BD1-FA008A2D0B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dirty="0">
                <a:solidFill>
                  <a:srgbClr val="767676"/>
                </a:solidFill>
                <a:effectLst/>
                <a:latin typeface="Google Sans"/>
              </a:rPr>
              <a:t>Data Locality</a:t>
            </a:r>
            <a:r>
              <a:rPr lang="en-US" b="0" i="0" dirty="0">
                <a:solidFill>
                  <a:srgbClr val="474747"/>
                </a:solidFill>
                <a:effectLst/>
                <a:latin typeface="Google Sans"/>
              </a:rPr>
              <a:t> is the practice of storing data near the processing unit that will consume it, reducing data movement and latency in data-intensive applications.</a:t>
            </a:r>
            <a:endParaRPr dirty="0"/>
          </a:p>
        </p:txBody>
      </p:sp>
      <p:sp>
        <p:nvSpPr>
          <p:cNvPr id="134" name="Google Shape;134;p4:notes">
            <a:extLst>
              <a:ext uri="{FF2B5EF4-FFF2-40B4-BE49-F238E27FC236}">
                <a16:creationId xmlns:a16="http://schemas.microsoft.com/office/drawing/2014/main" id="{6CF9E1CB-6C48-36F2-DC31-2EF7E24735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0836785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57685D5-00CE-806F-AD0B-334F36BE786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405ABF71-5B55-7CFF-5AD9-6C75693DD8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38638170-E99F-56F5-F620-16F4396646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1622E102-44A4-D0FE-66F6-36E9733E75D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977334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CFFF91E-E426-D6B7-A5D9-38F83E4EF114}"/>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158E4BBF-D8BF-05AB-BFCF-AB35B418D1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316A19A2-CD6D-39E6-288A-816B46A5AC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EEF39161-F259-7AB7-399E-7CCDD693CE6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484526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8C184266-A406-9F1B-DFF3-2B1279C387B9}"/>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6A9742EA-1F34-9250-C171-54A13EA338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8FCAA2B3-868C-1A03-EDBF-9E6421F63C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54E37E82-7A42-6630-65DB-1A11D801060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465222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F740102-207B-4548-CDE9-D118870C443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383F6313-4428-ACFF-DC22-F900BD7394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CFBDEC4-575F-5C7A-493B-32B3F1D016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22F84CB0-0E2F-5A9E-A568-3917DB4FD4E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884776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591D4EA0-EE01-1145-9C1F-EAAC45481812}"/>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43A2671B-8082-9BEE-4987-A4D41880C9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EFDA30F9-50D8-D25C-F2FF-6FEA1B922B6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6CAE12B4-96E2-3CFA-E937-D8ABB3F6ADA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214132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36D2793-1BC7-3840-EF56-132B0FA13207}"/>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7A580B44-AAAD-467C-90BB-6D5D3E96BA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9467606-3A8A-CD36-FDAA-F9087AF80E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048CAD88-92CD-EA7A-D05E-B91B2F1AF82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130771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1E3187F6-DA26-ACF1-92A2-D4FCA4AB961B}"/>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4E1483DE-4774-941A-2839-324AAD3474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91B2E88-5F7E-9512-5DD9-645AE934F59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8C180301-958C-674C-E6AE-75299331CE4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993251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930FB63-E385-2276-350E-618DCD38E218}"/>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58CA9FA6-E0C7-229C-3F91-CC47C9039E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66CAC4CA-003A-D6D7-E324-224B47D8017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77BBE27D-AFE8-DC4F-888E-F52C46C5C80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070390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B1A801C-B33C-28E2-2CB1-3ABF9F3DEDB1}"/>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F95CEBF-B5E2-FAF4-C933-73B30011FF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17827322-615E-561D-FEB0-6AB33D4274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CCFFC7D4-72DA-5550-C5BC-E4C4B4845B7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976580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C0989D0-43AB-6BC8-EABB-C3E375564BC0}"/>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D965743-1B44-9C61-5F0B-0EA4F33E9C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FC20B383-B0DA-6C71-2D97-4A05EBBC33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205AE1C5-1E15-93D7-9855-7AFDCCDE2DC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798381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F0881D3-8B2A-5570-EA8C-3199B0822703}"/>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2B63F307-8486-F498-6656-9259691196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3842DD3-9656-C3D7-4A85-96E7CB5D7E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6D36E26D-16AB-CB20-005F-FA13C274A54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48891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2A15C47-9D8B-0D1E-3442-079B0687164C}"/>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CA3AD12-0B3E-C95B-F643-C82992E13E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02A2FF63-46B6-152B-9CC2-5D4CE58BF24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D2D8CBF3-CA41-4505-8368-69C315F4547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850480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F279ED6-79E5-E28E-D275-C75E3B18AD8B}"/>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FE94C7A7-1E83-7851-E146-D0BEB12847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74C65A9C-07DE-E70A-0D3C-9E508237E63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https://hpc.llnl.gov/documentation/tutorials/introduction-parallel-computing-tutorial##Models</a:t>
            </a:r>
            <a:endParaRPr dirty="0"/>
          </a:p>
        </p:txBody>
      </p:sp>
      <p:sp>
        <p:nvSpPr>
          <p:cNvPr id="134" name="Google Shape;134;p4:notes">
            <a:extLst>
              <a:ext uri="{FF2B5EF4-FFF2-40B4-BE49-F238E27FC236}">
                <a16:creationId xmlns:a16="http://schemas.microsoft.com/office/drawing/2014/main" id="{596832B8-FF64-0FB2-FE6D-E0AA1543EEC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50677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SzPts val="2000"/>
              <a:buNone/>
              <a:defRPr sz="2000">
                <a:latin typeface="Avenir"/>
                <a:ea typeface="Avenir"/>
                <a:cs typeface="Avenir"/>
                <a:sym typeface="Avenir"/>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6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lt1"/>
                </a:solidFill>
                <a:latin typeface="Avenir"/>
                <a:ea typeface="Avenir"/>
                <a:cs typeface="Avenir"/>
                <a:sym typeface="Avenir"/>
              </a:defRPr>
            </a:lvl1pPr>
            <a:lvl2pPr marL="0" lvl="1" indent="0" algn="r">
              <a:spcBef>
                <a:spcPts val="0"/>
              </a:spcBef>
              <a:buNone/>
              <a:defRPr sz="900" b="0" i="0" u="none" strike="noStrike" cap="none">
                <a:solidFill>
                  <a:schemeClr val="lt1"/>
                </a:solidFill>
                <a:latin typeface="Avenir"/>
                <a:ea typeface="Avenir"/>
                <a:cs typeface="Avenir"/>
                <a:sym typeface="Avenir"/>
              </a:defRPr>
            </a:lvl2pPr>
            <a:lvl3pPr marL="0" lvl="2" indent="0" algn="r">
              <a:spcBef>
                <a:spcPts val="0"/>
              </a:spcBef>
              <a:buNone/>
              <a:defRPr sz="900" b="0" i="0" u="none" strike="noStrike" cap="none">
                <a:solidFill>
                  <a:schemeClr val="lt1"/>
                </a:solidFill>
                <a:latin typeface="Avenir"/>
                <a:ea typeface="Avenir"/>
                <a:cs typeface="Avenir"/>
                <a:sym typeface="Avenir"/>
              </a:defRPr>
            </a:lvl3pPr>
            <a:lvl4pPr marL="0" lvl="3" indent="0" algn="r">
              <a:spcBef>
                <a:spcPts val="0"/>
              </a:spcBef>
              <a:buNone/>
              <a:defRPr sz="900" b="0" i="0" u="none" strike="noStrike" cap="none">
                <a:solidFill>
                  <a:schemeClr val="lt1"/>
                </a:solidFill>
                <a:latin typeface="Avenir"/>
                <a:ea typeface="Avenir"/>
                <a:cs typeface="Avenir"/>
                <a:sym typeface="Avenir"/>
              </a:defRPr>
            </a:lvl4pPr>
            <a:lvl5pPr marL="0" lvl="4" indent="0" algn="r">
              <a:spcBef>
                <a:spcPts val="0"/>
              </a:spcBef>
              <a:buNone/>
              <a:defRPr sz="900" b="0" i="0" u="none" strike="noStrike" cap="none">
                <a:solidFill>
                  <a:schemeClr val="lt1"/>
                </a:solidFill>
                <a:latin typeface="Avenir"/>
                <a:ea typeface="Avenir"/>
                <a:cs typeface="Avenir"/>
                <a:sym typeface="Avenir"/>
              </a:defRPr>
            </a:lvl5pPr>
            <a:lvl6pPr marL="0" lvl="5" indent="0" algn="r">
              <a:spcBef>
                <a:spcPts val="0"/>
              </a:spcBef>
              <a:buNone/>
              <a:defRPr sz="900" b="0" i="0" u="none" strike="noStrike" cap="none">
                <a:solidFill>
                  <a:schemeClr val="lt1"/>
                </a:solidFill>
                <a:latin typeface="Avenir"/>
                <a:ea typeface="Avenir"/>
                <a:cs typeface="Avenir"/>
                <a:sym typeface="Avenir"/>
              </a:defRPr>
            </a:lvl6pPr>
            <a:lvl7pPr marL="0" lvl="6" indent="0" algn="r">
              <a:spcBef>
                <a:spcPts val="0"/>
              </a:spcBef>
              <a:buNone/>
              <a:defRPr sz="900" b="0" i="0" u="none" strike="noStrike" cap="none">
                <a:solidFill>
                  <a:schemeClr val="lt1"/>
                </a:solidFill>
                <a:latin typeface="Avenir"/>
                <a:ea typeface="Avenir"/>
                <a:cs typeface="Avenir"/>
                <a:sym typeface="Avenir"/>
              </a:defRPr>
            </a:lvl7pPr>
            <a:lvl8pPr marL="0" lvl="7" indent="0" algn="r">
              <a:spcBef>
                <a:spcPts val="0"/>
              </a:spcBef>
              <a:buNone/>
              <a:defRPr sz="900" b="0" i="0" u="none" strike="noStrike" cap="none">
                <a:solidFill>
                  <a:schemeClr val="lt1"/>
                </a:solidFill>
                <a:latin typeface="Avenir"/>
                <a:ea typeface="Avenir"/>
                <a:cs typeface="Avenir"/>
                <a:sym typeface="Avenir"/>
              </a:defRPr>
            </a:lvl8pPr>
            <a:lvl9pPr marL="0" lvl="8" indent="0" algn="r">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4"/>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4"/>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4"/>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4"/>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4"/>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400"/>
              <a:buNone/>
              <a:defRPr sz="2400">
                <a:solidFill>
                  <a:schemeClr val="lt1"/>
                </a:solidFill>
              </a:defRPr>
            </a:lvl1pPr>
            <a:lvl2pPr marL="914400" lvl="1" indent="-228600" algn="l">
              <a:lnSpc>
                <a:spcPct val="110000"/>
              </a:lnSpc>
              <a:spcBef>
                <a:spcPts val="500"/>
              </a:spcBef>
              <a:spcAft>
                <a:spcPts val="0"/>
              </a:spcAft>
              <a:buSzPts val="2000"/>
              <a:buNone/>
              <a:defRPr sz="2000">
                <a:solidFill>
                  <a:srgbClr val="888888"/>
                </a:solidFill>
              </a:defRPr>
            </a:lvl2pPr>
            <a:lvl3pPr marL="1371600" lvl="2" indent="-228600" algn="l">
              <a:lnSpc>
                <a:spcPct val="110000"/>
              </a:lnSpc>
              <a:spcBef>
                <a:spcPts val="500"/>
              </a:spcBef>
              <a:spcAft>
                <a:spcPts val="0"/>
              </a:spcAft>
              <a:buSzPts val="1800"/>
              <a:buNone/>
              <a:defRPr sz="1800">
                <a:solidFill>
                  <a:srgbClr val="888888"/>
                </a:solidFill>
              </a:defRPr>
            </a:lvl3pPr>
            <a:lvl4pPr marL="1828800" lvl="3" indent="-228600" algn="l">
              <a:lnSpc>
                <a:spcPct val="110000"/>
              </a:lnSpc>
              <a:spcBef>
                <a:spcPts val="500"/>
              </a:spcBef>
              <a:spcAft>
                <a:spcPts val="0"/>
              </a:spcAft>
              <a:buSzPts val="1600"/>
              <a:buNone/>
              <a:defRPr sz="1600">
                <a:solidFill>
                  <a:srgbClr val="888888"/>
                </a:solidFill>
              </a:defRPr>
            </a:lvl4pPr>
            <a:lvl5pPr marL="2286000" lvl="4" indent="-228600" algn="l">
              <a:lnSpc>
                <a:spcPct val="110000"/>
              </a:lnSpc>
              <a:spcBef>
                <a:spcPts val="500"/>
              </a:spcBef>
              <a:spcAft>
                <a:spcPts val="0"/>
              </a:spcAft>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5"/>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5"/>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5"/>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6"/>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6"/>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6"/>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6"/>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7"/>
          <p:cNvSpPr txBox="1">
            <a:spLocks noGrp="1"/>
          </p:cNvSpPr>
          <p:nvPr>
            <p:ph type="body" idx="1"/>
          </p:nvPr>
        </p:nvSpPr>
        <p:spPr>
          <a:xfrm>
            <a:off x="839788" y="175260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7"/>
          <p:cNvSpPr txBox="1">
            <a:spLocks noGrp="1"/>
          </p:cNvSpPr>
          <p:nvPr>
            <p:ph type="body" idx="2"/>
          </p:nvPr>
        </p:nvSpPr>
        <p:spPr>
          <a:xfrm>
            <a:off x="839788" y="2666999"/>
            <a:ext cx="5157787"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7"/>
          <p:cNvSpPr txBox="1">
            <a:spLocks noGrp="1"/>
          </p:cNvSpPr>
          <p:nvPr>
            <p:ph type="body" idx="3"/>
          </p:nvPr>
        </p:nvSpPr>
        <p:spPr>
          <a:xfrm>
            <a:off x="6172200" y="175260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7"/>
          <p:cNvSpPr txBox="1">
            <a:spLocks noGrp="1"/>
          </p:cNvSpPr>
          <p:nvPr>
            <p:ph type="body" idx="4"/>
          </p:nvPr>
        </p:nvSpPr>
        <p:spPr>
          <a:xfrm>
            <a:off x="6172200" y="2666999"/>
            <a:ext cx="5183188"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7"/>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7"/>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7"/>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8"/>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8"/>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8"/>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8"/>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9"/>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9"/>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9"/>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7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1000"/>
              </a:spcBef>
              <a:spcAft>
                <a:spcPts val="0"/>
              </a:spcAft>
              <a:buSzPts val="3200"/>
              <a:buChar char="•"/>
              <a:defRPr sz="3200"/>
            </a:lvl1pPr>
            <a:lvl2pPr marL="914400" lvl="1" indent="-406400" algn="l">
              <a:lnSpc>
                <a:spcPct val="110000"/>
              </a:lnSpc>
              <a:spcBef>
                <a:spcPts val="500"/>
              </a:spcBef>
              <a:spcAft>
                <a:spcPts val="0"/>
              </a:spcAft>
              <a:buSzPts val="2800"/>
              <a:buChar char="•"/>
              <a:defRPr sz="2800"/>
            </a:lvl2pPr>
            <a:lvl3pPr marL="1371600" lvl="2" indent="-381000" algn="l">
              <a:lnSpc>
                <a:spcPct val="110000"/>
              </a:lnSpc>
              <a:spcBef>
                <a:spcPts val="500"/>
              </a:spcBef>
              <a:spcAft>
                <a:spcPts val="0"/>
              </a:spcAft>
              <a:buSzPts val="2400"/>
              <a:buChar char="•"/>
              <a:defRPr sz="2400"/>
            </a:lvl3pPr>
            <a:lvl4pPr marL="1828800" lvl="3" indent="-355600" algn="l">
              <a:lnSpc>
                <a:spcPct val="110000"/>
              </a:lnSpc>
              <a:spcBef>
                <a:spcPts val="500"/>
              </a:spcBef>
              <a:spcAft>
                <a:spcPts val="0"/>
              </a:spcAft>
              <a:buSzPts val="2000"/>
              <a:buChar char="•"/>
              <a:defRPr sz="2000"/>
            </a:lvl4pPr>
            <a:lvl5pPr marL="2286000" lvl="4" indent="-355600" algn="l">
              <a:lnSpc>
                <a:spcPct val="110000"/>
              </a:lnSpc>
              <a:spcBef>
                <a:spcPts val="500"/>
              </a:spcBef>
              <a:spcAft>
                <a:spcPts val="0"/>
              </a:spcAft>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7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70"/>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0"/>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0"/>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71"/>
          <p:cNvSpPr>
            <a:spLocks noGrp="1"/>
          </p:cNvSpPr>
          <p:nvPr>
            <p:ph type="pic" idx="2"/>
          </p:nvPr>
        </p:nvSpPr>
        <p:spPr>
          <a:xfrm>
            <a:off x="5183188" y="987425"/>
            <a:ext cx="6172200" cy="4873625"/>
          </a:xfrm>
          <a:prstGeom prst="rect">
            <a:avLst/>
          </a:prstGeom>
          <a:noFill/>
          <a:ln>
            <a:noFill/>
          </a:ln>
        </p:spPr>
      </p:sp>
      <p:sp>
        <p:nvSpPr>
          <p:cNvPr id="70" name="Google Shape;70;p7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71"/>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1"/>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1"/>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7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2"/>
          <p:cNvSpPr txBox="1">
            <a:spLocks noGrp="1"/>
          </p:cNvSpPr>
          <p:nvPr>
            <p:ph type="body" idx="1"/>
          </p:nvPr>
        </p:nvSpPr>
        <p:spPr>
          <a:xfrm rot="5400000">
            <a:off x="3998119" y="-1210468"/>
            <a:ext cx="4195763"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7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7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7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11" name="Google Shape;11;p62"/>
          <p:cNvPicPr preferRelativeResize="0"/>
          <p:nvPr/>
        </p:nvPicPr>
        <p:blipFill rotWithShape="1">
          <a:blip r:embed="rId13">
            <a:alphaModFix amt="35000"/>
          </a:blip>
          <a:srcRect/>
          <a:stretch/>
        </p:blipFill>
        <p:spPr>
          <a:xfrm>
            <a:off x="0" y="1"/>
            <a:ext cx="12192000" cy="1392401"/>
          </a:xfrm>
          <a:prstGeom prst="rect">
            <a:avLst/>
          </a:prstGeom>
          <a:noFill/>
          <a:ln>
            <a:noFill/>
          </a:ln>
        </p:spPr>
      </p:pic>
      <p:sp>
        <p:nvSpPr>
          <p:cNvPr id="12" name="Google Shape;12;p6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lt1"/>
              </a:buClr>
              <a:buSzPts val="4400"/>
              <a:buFont typeface="Avenir"/>
              <a:buNone/>
              <a:defRPr sz="4400" b="1" i="0" u="none" strike="noStrike" cap="none">
                <a:solidFill>
                  <a:schemeClr val="lt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6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1000"/>
              </a:spcBef>
              <a:spcAft>
                <a:spcPts val="0"/>
              </a:spcAft>
              <a:buClr>
                <a:schemeClr val="accent1"/>
              </a:buClr>
              <a:buSzPts val="2800"/>
              <a:buFont typeface="Arial"/>
              <a:buChar char="•"/>
              <a:defRPr sz="2800" b="0" i="0" u="none" strike="noStrike" cap="none">
                <a:solidFill>
                  <a:schemeClr val="lt1"/>
                </a:solidFill>
                <a:latin typeface="Avenir"/>
                <a:ea typeface="Avenir"/>
                <a:cs typeface="Avenir"/>
                <a:sym typeface="Avenir"/>
              </a:defRPr>
            </a:lvl1pPr>
            <a:lvl2pPr marL="914400" marR="0" lvl="1" indent="-381000" algn="l" rtl="0">
              <a:lnSpc>
                <a:spcPct val="110000"/>
              </a:lnSpc>
              <a:spcBef>
                <a:spcPts val="500"/>
              </a:spcBef>
              <a:spcAft>
                <a:spcPts val="0"/>
              </a:spcAft>
              <a:buClr>
                <a:schemeClr val="accent1"/>
              </a:buClr>
              <a:buSzPts val="2400"/>
              <a:buFont typeface="Arial"/>
              <a:buChar char="•"/>
              <a:defRPr sz="2400" b="0" i="0" u="none" strike="noStrike" cap="none">
                <a:solidFill>
                  <a:schemeClr val="lt1"/>
                </a:solidFill>
                <a:latin typeface="Avenir"/>
                <a:ea typeface="Avenir"/>
                <a:cs typeface="Avenir"/>
                <a:sym typeface="Avenir"/>
              </a:defRPr>
            </a:lvl2pPr>
            <a:lvl3pPr marL="1371600" marR="0" lvl="2" indent="-355600" algn="l" rtl="0">
              <a:lnSpc>
                <a:spcPct val="110000"/>
              </a:lnSpc>
              <a:spcBef>
                <a:spcPts val="500"/>
              </a:spcBef>
              <a:spcAft>
                <a:spcPts val="0"/>
              </a:spcAft>
              <a:buClr>
                <a:schemeClr val="accent1"/>
              </a:buClr>
              <a:buSzPts val="20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14" name="Google Shape;14;p6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5" name="Google Shape;15;p6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6" name="Google Shape;16;p6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lt1"/>
                </a:solidFill>
                <a:latin typeface="Avenir"/>
                <a:ea typeface="Avenir"/>
                <a:cs typeface="Avenir"/>
                <a:sym typeface="Avenir"/>
              </a:defRPr>
            </a:lvl1pPr>
            <a:lvl2pPr marL="0" marR="0" lvl="1" indent="0" algn="r" rtl="0">
              <a:spcBef>
                <a:spcPts val="0"/>
              </a:spcBef>
              <a:buNone/>
              <a:defRPr sz="900" b="0" i="0" u="none" strike="noStrike" cap="none">
                <a:solidFill>
                  <a:schemeClr val="lt1"/>
                </a:solidFill>
                <a:latin typeface="Avenir"/>
                <a:ea typeface="Avenir"/>
                <a:cs typeface="Avenir"/>
                <a:sym typeface="Avenir"/>
              </a:defRPr>
            </a:lvl2pPr>
            <a:lvl3pPr marL="0" marR="0" lvl="2" indent="0" algn="r" rtl="0">
              <a:spcBef>
                <a:spcPts val="0"/>
              </a:spcBef>
              <a:buNone/>
              <a:defRPr sz="900" b="0" i="0" u="none" strike="noStrike" cap="none">
                <a:solidFill>
                  <a:schemeClr val="lt1"/>
                </a:solidFill>
                <a:latin typeface="Avenir"/>
                <a:ea typeface="Avenir"/>
                <a:cs typeface="Avenir"/>
                <a:sym typeface="Avenir"/>
              </a:defRPr>
            </a:lvl3pPr>
            <a:lvl4pPr marL="0" marR="0" lvl="3" indent="0" algn="r" rtl="0">
              <a:spcBef>
                <a:spcPts val="0"/>
              </a:spcBef>
              <a:buNone/>
              <a:defRPr sz="900" b="0" i="0" u="none" strike="noStrike" cap="none">
                <a:solidFill>
                  <a:schemeClr val="lt1"/>
                </a:solidFill>
                <a:latin typeface="Avenir"/>
                <a:ea typeface="Avenir"/>
                <a:cs typeface="Avenir"/>
                <a:sym typeface="Avenir"/>
              </a:defRPr>
            </a:lvl4pPr>
            <a:lvl5pPr marL="0" marR="0" lvl="4" indent="0" algn="r" rtl="0">
              <a:spcBef>
                <a:spcPts val="0"/>
              </a:spcBef>
              <a:buNone/>
              <a:defRPr sz="900" b="0" i="0" u="none" strike="noStrike" cap="none">
                <a:solidFill>
                  <a:schemeClr val="lt1"/>
                </a:solidFill>
                <a:latin typeface="Avenir"/>
                <a:ea typeface="Avenir"/>
                <a:cs typeface="Avenir"/>
                <a:sym typeface="Avenir"/>
              </a:defRPr>
            </a:lvl5pPr>
            <a:lvl6pPr marL="0" marR="0" lvl="5" indent="0" algn="r" rtl="0">
              <a:spcBef>
                <a:spcPts val="0"/>
              </a:spcBef>
              <a:buNone/>
              <a:defRPr sz="900" b="0" i="0" u="none" strike="noStrike" cap="none">
                <a:solidFill>
                  <a:schemeClr val="lt1"/>
                </a:solidFill>
                <a:latin typeface="Avenir"/>
                <a:ea typeface="Avenir"/>
                <a:cs typeface="Avenir"/>
                <a:sym typeface="Avenir"/>
              </a:defRPr>
            </a:lvl6pPr>
            <a:lvl7pPr marL="0" marR="0" lvl="6" indent="0" algn="r" rtl="0">
              <a:spcBef>
                <a:spcPts val="0"/>
              </a:spcBef>
              <a:buNone/>
              <a:defRPr sz="900" b="0" i="0" u="none" strike="noStrike" cap="none">
                <a:solidFill>
                  <a:schemeClr val="lt1"/>
                </a:solidFill>
                <a:latin typeface="Avenir"/>
                <a:ea typeface="Avenir"/>
                <a:cs typeface="Avenir"/>
                <a:sym typeface="Avenir"/>
              </a:defRPr>
            </a:lvl7pPr>
            <a:lvl8pPr marL="0" marR="0" lvl="7" indent="0" algn="r" rtl="0">
              <a:spcBef>
                <a:spcPts val="0"/>
              </a:spcBef>
              <a:buNone/>
              <a:defRPr sz="900" b="0" i="0" u="none" strike="noStrike" cap="none">
                <a:solidFill>
                  <a:schemeClr val="lt1"/>
                </a:solidFill>
                <a:latin typeface="Avenir"/>
                <a:ea typeface="Avenir"/>
                <a:cs typeface="Avenir"/>
                <a:sym typeface="Avenir"/>
              </a:defRPr>
            </a:lvl8pPr>
            <a:lvl9pPr marL="0" marR="0" lvl="8" indent="0" algn="r" rtl="0">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1" name="Google Shape;91;p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92" name="Google Shape;92;p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3" name="Google Shape;93;p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4" name="Google Shape;94;p1"/>
          <p:cNvPicPr preferRelativeResize="0"/>
          <p:nvPr/>
        </p:nvPicPr>
        <p:blipFill rotWithShape="1">
          <a:blip r:embed="rId4">
            <a:alphaModFix/>
          </a:blip>
          <a:srcRect l="9052" r="15486" b="-2"/>
          <a:stretch/>
        </p:blipFill>
        <p:spPr>
          <a:xfrm>
            <a:off x="5996628" y="-1308"/>
            <a:ext cx="6195372" cy="4618233"/>
          </a:xfrm>
          <a:prstGeom prst="rect">
            <a:avLst/>
          </a:prstGeom>
          <a:noFill/>
          <a:ln>
            <a:noFill/>
          </a:ln>
        </p:spPr>
      </p:pic>
      <p:sp>
        <p:nvSpPr>
          <p:cNvPr id="95" name="Google Shape;95;p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6" name="Google Shape;96;p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97" name="Google Shape;97;p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dirty="0"/>
              <a:t>CSDC-446 Parallel and Distributed Computing</a:t>
            </a:r>
            <a:endParaRPr sz="4100" dirty="0"/>
          </a:p>
        </p:txBody>
      </p:sp>
      <p:sp>
        <p:nvSpPr>
          <p:cNvPr id="98" name="Google Shape;98;p1"/>
          <p:cNvSpPr txBox="1">
            <a:spLocks noGrp="1"/>
          </p:cNvSpPr>
          <p:nvPr>
            <p:ph type="subTitle" idx="1"/>
          </p:nvPr>
        </p:nvSpPr>
        <p:spPr>
          <a:xfrm>
            <a:off x="0" y="-12211"/>
            <a:ext cx="5313452" cy="3935986"/>
          </a:xfrm>
          <a:prstGeom prst="rect">
            <a:avLst/>
          </a:prstGeom>
          <a:noFill/>
          <a:ln>
            <a:noFill/>
          </a:ln>
        </p:spPr>
        <p:txBody>
          <a:bodyPr spcFirstLastPara="1" wrap="square" lIns="91425" tIns="45700" rIns="91425" bIns="45700" anchor="b" anchorCtr="0">
            <a:normAutofit/>
          </a:bodyPr>
          <a:lstStyle/>
          <a:p>
            <a:pPr marL="0" lvl="0" indent="0" algn="just" rtl="0">
              <a:lnSpc>
                <a:spcPct val="110000"/>
              </a:lnSpc>
              <a:spcBef>
                <a:spcPts val="0"/>
              </a:spcBef>
              <a:spcAft>
                <a:spcPts val="0"/>
              </a:spcAft>
              <a:buSzPts val="2800"/>
              <a:buNone/>
            </a:pPr>
            <a:r>
              <a:rPr lang="en-US" sz="3600" b="1" dirty="0">
                <a:solidFill>
                  <a:schemeClr val="dk2"/>
                </a:solidFill>
                <a:latin typeface="Arial"/>
                <a:ea typeface="Arial"/>
                <a:cs typeface="Arial"/>
                <a:sym typeface="Arial"/>
              </a:rPr>
              <a:t>Dr. </a:t>
            </a:r>
            <a:r>
              <a:rPr lang="en-US" sz="3600" b="1" dirty="0" err="1">
                <a:solidFill>
                  <a:schemeClr val="dk2"/>
                </a:solidFill>
                <a:latin typeface="Arial"/>
                <a:ea typeface="Arial"/>
                <a:cs typeface="Arial"/>
                <a:sym typeface="Arial"/>
              </a:rPr>
              <a:t>Sehrish</a:t>
            </a:r>
            <a:r>
              <a:rPr lang="en-US" sz="3600" b="1" dirty="0">
                <a:solidFill>
                  <a:schemeClr val="dk2"/>
                </a:solidFill>
                <a:latin typeface="Arial"/>
                <a:ea typeface="Arial"/>
                <a:cs typeface="Arial"/>
                <a:sym typeface="Arial"/>
              </a:rPr>
              <a:t> Amjad</a:t>
            </a:r>
            <a:endParaRPr sz="3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Topics Covered</a:t>
            </a:r>
            <a:endParaRPr dirty="0"/>
          </a:p>
        </p:txBody>
      </p:sp>
      <p:sp>
        <p:nvSpPr>
          <p:cNvPr id="4" name="Google Shape;141;p4">
            <a:extLst>
              <a:ext uri="{FF2B5EF4-FFF2-40B4-BE49-F238E27FC236}">
                <a16:creationId xmlns:a16="http://schemas.microsoft.com/office/drawing/2014/main" id="{51427039-8E57-7CCE-9DFD-2CDF3DEDB0BE}"/>
              </a:ext>
            </a:extLst>
          </p:cNvPr>
          <p:cNvSpPr txBox="1">
            <a:spLocks/>
          </p:cNvSpPr>
          <p:nvPr/>
        </p:nvSpPr>
        <p:spPr>
          <a:xfrm>
            <a:off x="-3048" y="2111374"/>
            <a:ext cx="12188952"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Parallel Programming Models</a:t>
            </a:r>
          </a:p>
          <a:p>
            <a:pPr lvl="1" indent="-457200">
              <a:buSzPts val="2800"/>
            </a:pPr>
            <a:endParaRPr lang="en-US"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D816DF54-0D75-3CD7-FB62-DD6F118E175F}"/>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F453EE1B-F24B-EA18-1431-B22AC74BF870}"/>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8ED33AEE-BA6C-25C5-3C52-8288E404FFFB}"/>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C46514CF-ED2D-1060-7B57-432CD4DA6479}"/>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164F4377-8D50-9FD5-04CB-BE0FCA14A196}"/>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7481DA54-8208-7937-8E2B-1CFB3E654BB6}"/>
              </a:ext>
            </a:extLst>
          </p:cNvPr>
          <p:cNvSpPr txBox="1">
            <a:spLocks/>
          </p:cNvSpPr>
          <p:nvPr/>
        </p:nvSpPr>
        <p:spPr>
          <a:xfrm>
            <a:off x="-3048" y="2111374"/>
            <a:ext cx="12188952"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There are several parallel programming models in common use:</a:t>
            </a:r>
          </a:p>
          <a:p>
            <a:pPr lvl="1" indent="-457200">
              <a:buSzPts val="2800"/>
            </a:pPr>
            <a:r>
              <a:rPr lang="en-US" dirty="0">
                <a:solidFill>
                  <a:schemeClr val="dk1"/>
                </a:solidFill>
                <a:latin typeface="Arial"/>
                <a:ea typeface="Arial"/>
                <a:cs typeface="Arial"/>
                <a:sym typeface="Arial"/>
              </a:rPr>
              <a:t>Shared Memory (without threads)</a:t>
            </a:r>
          </a:p>
          <a:p>
            <a:pPr lvl="1" indent="-457200">
              <a:buSzPts val="2800"/>
            </a:pPr>
            <a:r>
              <a:rPr lang="en-US" dirty="0">
                <a:solidFill>
                  <a:schemeClr val="dk1"/>
                </a:solidFill>
                <a:latin typeface="Arial"/>
                <a:ea typeface="Arial"/>
                <a:cs typeface="Arial"/>
                <a:sym typeface="Arial"/>
              </a:rPr>
              <a:t>Threads</a:t>
            </a:r>
          </a:p>
          <a:p>
            <a:pPr lvl="1" indent="-457200">
              <a:buSzPts val="2800"/>
            </a:pPr>
            <a:r>
              <a:rPr lang="en-US" dirty="0">
                <a:solidFill>
                  <a:schemeClr val="dk1"/>
                </a:solidFill>
                <a:latin typeface="Arial"/>
                <a:ea typeface="Arial"/>
                <a:cs typeface="Arial"/>
                <a:sym typeface="Arial"/>
              </a:rPr>
              <a:t>Distributed Memory / Message Passing</a:t>
            </a:r>
          </a:p>
          <a:p>
            <a:pPr lvl="1" indent="-457200">
              <a:buSzPts val="2800"/>
            </a:pPr>
            <a:r>
              <a:rPr lang="en-US" dirty="0">
                <a:solidFill>
                  <a:schemeClr val="dk1"/>
                </a:solidFill>
                <a:latin typeface="Arial"/>
                <a:ea typeface="Arial"/>
                <a:cs typeface="Arial"/>
                <a:sym typeface="Arial"/>
              </a:rPr>
              <a:t>Data Parallel</a:t>
            </a:r>
          </a:p>
          <a:p>
            <a:pPr lvl="1" indent="-457200">
              <a:buSzPts val="2800"/>
            </a:pPr>
            <a:r>
              <a:rPr lang="en-US" dirty="0">
                <a:solidFill>
                  <a:schemeClr val="dk1"/>
                </a:solidFill>
                <a:latin typeface="Arial"/>
                <a:ea typeface="Arial"/>
                <a:cs typeface="Arial"/>
                <a:sym typeface="Arial"/>
              </a:rPr>
              <a:t>Hybrid</a:t>
            </a:r>
          </a:p>
          <a:p>
            <a:pPr lvl="1" indent="-457200">
              <a:buSzPts val="2800"/>
            </a:pPr>
            <a:r>
              <a:rPr lang="en-US" dirty="0">
                <a:solidFill>
                  <a:schemeClr val="dk1"/>
                </a:solidFill>
                <a:latin typeface="Arial"/>
                <a:ea typeface="Arial"/>
                <a:cs typeface="Arial"/>
                <a:sym typeface="Arial"/>
              </a:rPr>
              <a:t>Single Program Multiple Data (SPMD)</a:t>
            </a:r>
          </a:p>
          <a:p>
            <a:pPr lvl="1" indent="-457200">
              <a:buSzPts val="2800"/>
            </a:pPr>
            <a:r>
              <a:rPr lang="en-US" dirty="0">
                <a:solidFill>
                  <a:schemeClr val="dk1"/>
                </a:solidFill>
                <a:latin typeface="Arial"/>
                <a:ea typeface="Arial"/>
                <a:cs typeface="Arial"/>
                <a:sym typeface="Arial"/>
              </a:rPr>
              <a:t>Multiple Program Multiple Data (MPMD)</a:t>
            </a:r>
          </a:p>
          <a:p>
            <a:pPr lvl="1" indent="-457200">
              <a:buSzPts val="2800"/>
            </a:pPr>
            <a:endParaRPr lang="en-US" dirty="0">
              <a:solidFill>
                <a:schemeClr val="dk1"/>
              </a:solidFill>
              <a:latin typeface="Arial"/>
              <a:ea typeface="Arial"/>
              <a:cs typeface="Arial"/>
              <a:sym typeface="Arial"/>
            </a:endParaRPr>
          </a:p>
          <a:p>
            <a:pPr lvl="1" indent="-457200">
              <a:buSzPts val="2800"/>
            </a:pPr>
            <a:endParaRPr lang="en-US" dirty="0">
              <a:solidFill>
                <a:schemeClr val="dk1"/>
              </a:solidFill>
              <a:latin typeface="Arial"/>
              <a:ea typeface="Arial"/>
              <a:cs typeface="Arial"/>
              <a:sym typeface="Arial"/>
            </a:endParaRPr>
          </a:p>
          <a:p>
            <a:pPr lvl="1" indent="-4572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98209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3F7887AC-07ED-FE23-0960-A3E8A67C6FA1}"/>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AF73B55E-26CE-2EB7-230A-A1712E1FB53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D483A20B-0480-4AF5-ED11-51E2D7AEF075}"/>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5B57A5B8-F542-C838-3DCE-90EF9BC54EDA}"/>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B8545F1F-55D8-A0AE-CF3D-113D4F5C3141}"/>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2793D13E-0F21-0523-BCB5-530C2D6DA4C0}"/>
              </a:ext>
            </a:extLst>
          </p:cNvPr>
          <p:cNvSpPr txBox="1">
            <a:spLocks/>
          </p:cNvSpPr>
          <p:nvPr/>
        </p:nvSpPr>
        <p:spPr>
          <a:xfrm>
            <a:off x="-3048" y="2111374"/>
            <a:ext cx="12188952"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Parallel programming models exist as an abstraction between hardware and memory architectures.</a:t>
            </a:r>
          </a:p>
          <a:p>
            <a:pPr indent="-457200">
              <a:buSzPts val="2800"/>
            </a:pPr>
            <a:r>
              <a:rPr lang="en-US" dirty="0">
                <a:solidFill>
                  <a:schemeClr val="dk1"/>
                </a:solidFill>
                <a:latin typeface="Arial"/>
                <a:ea typeface="Arial"/>
                <a:cs typeface="Arial"/>
                <a:sym typeface="Arial"/>
              </a:rPr>
              <a:t>These models are NOT specific to a particular type of machine or memory architecture. In fact, any of these models can (theoretically) be implemented on any underlying hardware. Two examples from the past are discussed below.</a:t>
            </a:r>
          </a:p>
          <a:p>
            <a:pPr indent="-457200">
              <a:buSzPts val="2800"/>
            </a:pPr>
            <a:endParaRPr lang="en-US" dirty="0">
              <a:solidFill>
                <a:schemeClr val="dk1"/>
              </a:solidFill>
              <a:latin typeface="Arial"/>
              <a:ea typeface="Arial"/>
              <a:cs typeface="Arial"/>
              <a:sym typeface="Arial"/>
            </a:endParaRPr>
          </a:p>
          <a:p>
            <a:pPr lvl="1" indent="-457200">
              <a:buSzPts val="2800"/>
            </a:pPr>
            <a:endParaRPr lang="en-US" dirty="0">
              <a:solidFill>
                <a:schemeClr val="dk1"/>
              </a:solidFill>
              <a:latin typeface="Arial"/>
              <a:ea typeface="Arial"/>
              <a:cs typeface="Arial"/>
              <a:sym typeface="Arial"/>
            </a:endParaRPr>
          </a:p>
          <a:p>
            <a:pPr lvl="1" indent="-457200">
              <a:buSzPts val="2800"/>
            </a:pPr>
            <a:endParaRPr lang="en-US" dirty="0">
              <a:solidFill>
                <a:schemeClr val="dk1"/>
              </a:solidFill>
              <a:latin typeface="Arial"/>
              <a:ea typeface="Arial"/>
              <a:cs typeface="Arial"/>
              <a:sym typeface="Arial"/>
            </a:endParaRPr>
          </a:p>
          <a:p>
            <a:pPr lvl="1" indent="-4572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96070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85BC4648-5C17-914C-39B8-6E37D40E53A4}"/>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948876FC-6D52-0D22-EF49-2C2DF4A6525D}"/>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0C95ACB6-B5E6-A212-E3EE-F76C21F24186}"/>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1A14ECF5-4A06-3437-8FE4-BEB2665DAF6E}"/>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43D16336-DB45-D990-769A-1D776A85D04F}"/>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3AA434DA-9D85-780C-AFB5-4D90BADC933C}"/>
              </a:ext>
            </a:extLst>
          </p:cNvPr>
          <p:cNvSpPr txBox="1">
            <a:spLocks/>
          </p:cNvSpPr>
          <p:nvPr/>
        </p:nvSpPr>
        <p:spPr>
          <a:xfrm>
            <a:off x="-3048" y="2111374"/>
            <a:ext cx="12188952"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SHARED memory model on a DISTRIBUTED memory machine</a:t>
            </a:r>
          </a:p>
          <a:p>
            <a:pPr lvl="1" indent="-457200">
              <a:buSzPts val="2800"/>
            </a:pPr>
            <a:r>
              <a:rPr lang="en-US" dirty="0">
                <a:solidFill>
                  <a:schemeClr val="dk1"/>
                </a:solidFill>
                <a:latin typeface="Arial"/>
                <a:ea typeface="Arial"/>
                <a:cs typeface="Arial"/>
                <a:sym typeface="Arial"/>
              </a:rPr>
              <a:t>Machine memory is physically distributed across networked machines, but appeared to the user as a single shared memory global address space. Generically, this approach is referred to as "virtual shared memory".</a:t>
            </a:r>
          </a:p>
          <a:p>
            <a:pPr lvl="1" indent="-457200">
              <a:buSzPts val="2800"/>
            </a:pPr>
            <a:endParaRPr lang="en-US" dirty="0">
              <a:solidFill>
                <a:schemeClr val="dk1"/>
              </a:solidFill>
              <a:latin typeface="Arial"/>
              <a:ea typeface="Arial"/>
              <a:cs typeface="Arial"/>
              <a:sym typeface="Arial"/>
            </a:endParaRPr>
          </a:p>
          <a:p>
            <a:pPr lvl="1" indent="-457200">
              <a:buSzPts val="2800"/>
            </a:pPr>
            <a:endParaRPr lang="en-US" dirty="0">
              <a:solidFill>
                <a:schemeClr val="dk1"/>
              </a:solidFill>
              <a:latin typeface="Arial"/>
              <a:ea typeface="Arial"/>
              <a:cs typeface="Arial"/>
              <a:sym typeface="Arial"/>
            </a:endParaRPr>
          </a:p>
          <a:p>
            <a:pPr lvl="1" indent="-457200">
              <a:buSzPts val="2800"/>
            </a:pPr>
            <a:endParaRPr lang="en-US" dirty="0">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62E9B27A-CF8F-C7CF-4383-3193FB7BDD53}"/>
              </a:ext>
            </a:extLst>
          </p:cNvPr>
          <p:cNvPicPr>
            <a:picLocks noChangeAspect="1"/>
          </p:cNvPicPr>
          <p:nvPr/>
        </p:nvPicPr>
        <p:blipFill>
          <a:blip r:embed="rId3"/>
          <a:stretch>
            <a:fillRect/>
          </a:stretch>
        </p:blipFill>
        <p:spPr>
          <a:xfrm>
            <a:off x="2952404" y="4850130"/>
            <a:ext cx="6287191" cy="1824990"/>
          </a:xfrm>
          <a:prstGeom prst="rect">
            <a:avLst/>
          </a:prstGeom>
        </p:spPr>
      </p:pic>
    </p:spTree>
    <p:extLst>
      <p:ext uri="{BB962C8B-B14F-4D97-AF65-F5344CB8AC3E}">
        <p14:creationId xmlns:p14="http://schemas.microsoft.com/office/powerpoint/2010/main" val="1235053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E40109DD-86E8-6F11-7A3D-0409E59A215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79065AA2-748E-B3CB-D851-73790FE02477}"/>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92A4C52E-B7E8-9357-6851-CBFB59206DCB}"/>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3F34B93-68E0-7697-6C22-6A626DA6F5D9}"/>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F5D3F05C-CFA3-B50E-C3AF-9040C9FE1E5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EF26968F-5348-83C7-D30F-A53A384CEC40}"/>
              </a:ext>
            </a:extLst>
          </p:cNvPr>
          <p:cNvSpPr txBox="1">
            <a:spLocks/>
          </p:cNvSpPr>
          <p:nvPr/>
        </p:nvSpPr>
        <p:spPr>
          <a:xfrm>
            <a:off x="-3048" y="2111374"/>
            <a:ext cx="12188952"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DISTRIBUTED memory model on a SHARED memory machine</a:t>
            </a:r>
          </a:p>
          <a:p>
            <a:pPr lvl="1" indent="-457200">
              <a:buSzPts val="2800"/>
            </a:pPr>
            <a:r>
              <a:rPr lang="en-US" dirty="0">
                <a:solidFill>
                  <a:schemeClr val="dk1"/>
                </a:solidFill>
                <a:latin typeface="Arial"/>
                <a:ea typeface="Arial"/>
                <a:cs typeface="Arial"/>
                <a:sym typeface="Arial"/>
              </a:rPr>
              <a:t>Every task has direct access to global address space spread across all machines. However, the ability to send and receive messages using MPI, as is commonly done over a network of distributed memory machines, was implemented and commonly used.</a:t>
            </a:r>
          </a:p>
          <a:p>
            <a:pPr lvl="1" indent="-457200">
              <a:buSzPts val="2800"/>
            </a:pPr>
            <a:endParaRPr lang="en-US" dirty="0">
              <a:solidFill>
                <a:schemeClr val="dk1"/>
              </a:solidFill>
              <a:latin typeface="Arial"/>
              <a:ea typeface="Arial"/>
              <a:cs typeface="Arial"/>
              <a:sym typeface="Arial"/>
            </a:endParaRPr>
          </a:p>
          <a:p>
            <a:pPr lvl="1" indent="-457200">
              <a:buSzPts val="2800"/>
            </a:pPr>
            <a:endParaRPr lang="en-US" dirty="0">
              <a:solidFill>
                <a:schemeClr val="dk1"/>
              </a:solidFill>
              <a:latin typeface="Arial"/>
              <a:ea typeface="Arial"/>
              <a:cs typeface="Arial"/>
              <a:sym typeface="Arial"/>
            </a:endParaRPr>
          </a:p>
        </p:txBody>
      </p:sp>
      <p:pic>
        <p:nvPicPr>
          <p:cNvPr id="5" name="Picture 4">
            <a:extLst>
              <a:ext uri="{FF2B5EF4-FFF2-40B4-BE49-F238E27FC236}">
                <a16:creationId xmlns:a16="http://schemas.microsoft.com/office/drawing/2014/main" id="{516C746A-4163-B17E-8D33-11111C300963}"/>
              </a:ext>
            </a:extLst>
          </p:cNvPr>
          <p:cNvPicPr>
            <a:picLocks noChangeAspect="1"/>
          </p:cNvPicPr>
          <p:nvPr/>
        </p:nvPicPr>
        <p:blipFill>
          <a:blip r:embed="rId3"/>
          <a:stretch>
            <a:fillRect/>
          </a:stretch>
        </p:blipFill>
        <p:spPr>
          <a:xfrm>
            <a:off x="3285141" y="4999672"/>
            <a:ext cx="5829300" cy="1704975"/>
          </a:xfrm>
          <a:prstGeom prst="rect">
            <a:avLst/>
          </a:prstGeom>
        </p:spPr>
      </p:pic>
    </p:spTree>
    <p:extLst>
      <p:ext uri="{BB962C8B-B14F-4D97-AF65-F5344CB8AC3E}">
        <p14:creationId xmlns:p14="http://schemas.microsoft.com/office/powerpoint/2010/main" val="740336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EF8FDDDF-A4C7-14F9-8A25-65449E43597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E462028B-5C21-61B5-0F57-7345AFFA5D43}"/>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67E969A9-8788-3859-E916-27BE163FE8B9}"/>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DFFCCDB3-7869-6E6E-FA1C-C3065700FC21}"/>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3FD5B964-A58D-3340-3973-72F533ECBC16}"/>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BC3A6B84-7BCB-B8AF-706E-25991BBFC8CE}"/>
              </a:ext>
            </a:extLst>
          </p:cNvPr>
          <p:cNvSpPr txBox="1">
            <a:spLocks/>
          </p:cNvSpPr>
          <p:nvPr/>
        </p:nvSpPr>
        <p:spPr>
          <a:xfrm>
            <a:off x="-3048" y="2111374"/>
            <a:ext cx="12188952"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Which model to use? </a:t>
            </a:r>
          </a:p>
          <a:p>
            <a:pPr lvl="1" indent="-457200">
              <a:buSzPts val="2800"/>
            </a:pPr>
            <a:r>
              <a:rPr lang="en-US" dirty="0">
                <a:solidFill>
                  <a:schemeClr val="dk1"/>
                </a:solidFill>
                <a:latin typeface="Arial"/>
                <a:ea typeface="Arial"/>
                <a:cs typeface="Arial"/>
                <a:sym typeface="Arial"/>
              </a:rPr>
              <a:t>This is often a combination of what is available and personal choice. There is no "best" model, although there certainly are better implementations of some models over others.</a:t>
            </a:r>
          </a:p>
        </p:txBody>
      </p:sp>
    </p:spTree>
    <p:extLst>
      <p:ext uri="{BB962C8B-B14F-4D97-AF65-F5344CB8AC3E}">
        <p14:creationId xmlns:p14="http://schemas.microsoft.com/office/powerpoint/2010/main" val="2479481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01A83943-EA2A-3215-80CE-DBD3E79A610B}"/>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A9B62EBB-7E04-CD04-F79D-0FC0F40BA0BD}"/>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98EE4013-1B0A-79EA-7B3A-E020EB42BC93}"/>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37E2817F-ACCD-9680-0DA8-3BDBB03D26F0}"/>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EE708E43-725A-7BF0-AD43-6ED703789F58}"/>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D0D13049-D85F-FFA3-1332-95061F7F67AD}"/>
              </a:ext>
            </a:extLst>
          </p:cNvPr>
          <p:cNvSpPr txBox="1">
            <a:spLocks/>
          </p:cNvSpPr>
          <p:nvPr/>
        </p:nvSpPr>
        <p:spPr>
          <a:xfrm>
            <a:off x="-3048" y="2111374"/>
            <a:ext cx="12188952"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Shared Memory Model (without threads)</a:t>
            </a:r>
          </a:p>
          <a:p>
            <a:pPr lvl="1" indent="-457200">
              <a:buSzPts val="2800"/>
            </a:pPr>
            <a:r>
              <a:rPr lang="en-US" dirty="0">
                <a:solidFill>
                  <a:schemeClr val="dk1"/>
                </a:solidFill>
                <a:latin typeface="Arial"/>
                <a:ea typeface="Arial"/>
                <a:cs typeface="Arial"/>
                <a:sym typeface="Arial"/>
              </a:rPr>
              <a:t>In this programming model, processes/tasks share a common address space, which they read and write to asynchronously.</a:t>
            </a:r>
          </a:p>
          <a:p>
            <a:pPr lvl="1" indent="-457200">
              <a:buSzPts val="2800"/>
            </a:pPr>
            <a:r>
              <a:rPr lang="en-US" dirty="0">
                <a:solidFill>
                  <a:schemeClr val="dk1"/>
                </a:solidFill>
                <a:latin typeface="Arial"/>
                <a:ea typeface="Arial"/>
                <a:cs typeface="Arial"/>
                <a:sym typeface="Arial"/>
              </a:rPr>
              <a:t>Various mechanisms such as locks / semaphores are used to control access to the shared memory, resolve contentions and to prevent race conditions and deadlocks.</a:t>
            </a:r>
          </a:p>
          <a:p>
            <a:pPr lvl="1" indent="-457200">
              <a:buSzPts val="2800"/>
            </a:pPr>
            <a:r>
              <a:rPr lang="en-US" dirty="0">
                <a:solidFill>
                  <a:schemeClr val="dk1"/>
                </a:solidFill>
                <a:latin typeface="Arial"/>
                <a:ea typeface="Arial"/>
                <a:cs typeface="Arial"/>
                <a:sym typeface="Arial"/>
              </a:rPr>
              <a:t>This is perhaps the simplest parallel programming model.</a:t>
            </a:r>
          </a:p>
          <a:p>
            <a:pPr lvl="1" indent="-457200">
              <a:buSzPts val="2800"/>
            </a:pPr>
            <a:r>
              <a:rPr lang="en-US" dirty="0">
                <a:solidFill>
                  <a:schemeClr val="dk1"/>
                </a:solidFill>
                <a:latin typeface="Arial"/>
                <a:ea typeface="Arial"/>
                <a:cs typeface="Arial"/>
                <a:sym typeface="Arial"/>
              </a:rPr>
              <a:t>An advantage of this model is the notion of data "ownership" is lacking, so there is no need to specify explicitly the communication of data between tasks. All processes see and have equal access to shared memory. </a:t>
            </a:r>
          </a:p>
        </p:txBody>
      </p:sp>
    </p:spTree>
    <p:extLst>
      <p:ext uri="{BB962C8B-B14F-4D97-AF65-F5344CB8AC3E}">
        <p14:creationId xmlns:p14="http://schemas.microsoft.com/office/powerpoint/2010/main" val="3287668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5F4F0206-7536-310B-C4D4-F09C4A16B6E9}"/>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B2F97A9F-46AB-2241-8147-F930200709DC}"/>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752D9FBC-CE84-7655-30B7-A243C5C9DF02}"/>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12DD9F84-C278-E740-C6E4-D854789C7A1D}"/>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B8096096-0AF7-A621-6EF2-28745F04C83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2DF8A90F-3EC0-95A7-26FD-73E47512B323}"/>
              </a:ext>
            </a:extLst>
          </p:cNvPr>
          <p:cNvSpPr txBox="1">
            <a:spLocks/>
          </p:cNvSpPr>
          <p:nvPr/>
        </p:nvSpPr>
        <p:spPr>
          <a:xfrm>
            <a:off x="-3048" y="2111374"/>
            <a:ext cx="8517391"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Shared Memory Model (without threads)</a:t>
            </a:r>
          </a:p>
          <a:p>
            <a:pPr lvl="1" indent="-457200">
              <a:buSzPts val="2800"/>
            </a:pPr>
            <a:r>
              <a:rPr lang="en-US" dirty="0">
                <a:solidFill>
                  <a:schemeClr val="dk1"/>
                </a:solidFill>
                <a:latin typeface="Arial"/>
                <a:ea typeface="Arial"/>
                <a:cs typeface="Arial"/>
                <a:sym typeface="Arial"/>
              </a:rPr>
              <a:t>An important disadvantage in terms of performance is that it becomes more difficult to understand and manage data locality:</a:t>
            </a:r>
          </a:p>
          <a:p>
            <a:pPr lvl="2" indent="-457200">
              <a:buSzPts val="2800"/>
            </a:pPr>
            <a:r>
              <a:rPr lang="en-US" dirty="0">
                <a:solidFill>
                  <a:schemeClr val="dk1"/>
                </a:solidFill>
                <a:latin typeface="Arial"/>
                <a:ea typeface="Arial"/>
                <a:cs typeface="Arial"/>
                <a:sym typeface="Arial"/>
              </a:rPr>
              <a:t>Keeping data local to the process that works on it conserves memory accesses, cache refreshes and bus traffic that occurs when multiple processes use the same data.</a:t>
            </a:r>
          </a:p>
          <a:p>
            <a:pPr lvl="2" indent="-457200">
              <a:buSzPts val="2800"/>
            </a:pPr>
            <a:r>
              <a:rPr lang="en-US" dirty="0">
                <a:solidFill>
                  <a:schemeClr val="dk1"/>
                </a:solidFill>
                <a:latin typeface="Arial"/>
                <a:ea typeface="Arial"/>
                <a:cs typeface="Arial"/>
                <a:sym typeface="Arial"/>
              </a:rPr>
              <a:t>Unfortunately, controlling data locality is hard to understand and may be beyond the control of the average user.</a:t>
            </a:r>
          </a:p>
        </p:txBody>
      </p:sp>
      <p:pic>
        <p:nvPicPr>
          <p:cNvPr id="3" name="Picture 2">
            <a:extLst>
              <a:ext uri="{FF2B5EF4-FFF2-40B4-BE49-F238E27FC236}">
                <a16:creationId xmlns:a16="http://schemas.microsoft.com/office/drawing/2014/main" id="{95DFDAFF-1EB6-3C56-FDA0-59E67DECE0AF}"/>
              </a:ext>
            </a:extLst>
          </p:cNvPr>
          <p:cNvPicPr>
            <a:picLocks noChangeAspect="1"/>
          </p:cNvPicPr>
          <p:nvPr/>
        </p:nvPicPr>
        <p:blipFill>
          <a:blip r:embed="rId3"/>
          <a:stretch>
            <a:fillRect/>
          </a:stretch>
        </p:blipFill>
        <p:spPr>
          <a:xfrm>
            <a:off x="8517391" y="2789235"/>
            <a:ext cx="3343275" cy="3095625"/>
          </a:xfrm>
          <a:prstGeom prst="rect">
            <a:avLst/>
          </a:prstGeom>
        </p:spPr>
      </p:pic>
    </p:spTree>
    <p:extLst>
      <p:ext uri="{BB962C8B-B14F-4D97-AF65-F5344CB8AC3E}">
        <p14:creationId xmlns:p14="http://schemas.microsoft.com/office/powerpoint/2010/main" val="1917991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C278A79-10DE-397B-CC6C-C6771E820907}"/>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97760910-B4F7-C7EC-EEA8-B203DF4C6EA6}"/>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BC235F70-7441-6EE9-8540-C963CC7F6323}"/>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EAE3AB51-4AB6-4925-A6EB-DAAB9AEA30E5}"/>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5F03C5AF-F8CD-57C9-A8C9-BAFFA64C155D}"/>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0AFA4511-435F-4CEF-7C20-3F846609087C}"/>
              </a:ext>
            </a:extLst>
          </p:cNvPr>
          <p:cNvSpPr txBox="1">
            <a:spLocks/>
          </p:cNvSpPr>
          <p:nvPr/>
        </p:nvSpPr>
        <p:spPr>
          <a:xfrm>
            <a:off x="-3048" y="2111374"/>
            <a:ext cx="8464877"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Threads Model</a:t>
            </a:r>
          </a:p>
          <a:p>
            <a:pPr lvl="1" indent="-457200">
              <a:buSzPts val="2800"/>
            </a:pPr>
            <a:r>
              <a:rPr lang="en-US" dirty="0">
                <a:solidFill>
                  <a:schemeClr val="dk1"/>
                </a:solidFill>
                <a:latin typeface="Arial"/>
                <a:ea typeface="Arial"/>
                <a:cs typeface="Arial"/>
                <a:sym typeface="Arial"/>
              </a:rPr>
              <a:t>This programming model is a type of shared memory programming.</a:t>
            </a:r>
          </a:p>
          <a:p>
            <a:pPr lvl="1" indent="-457200">
              <a:buSzPts val="2800"/>
            </a:pPr>
            <a:r>
              <a:rPr lang="en-US" dirty="0">
                <a:solidFill>
                  <a:schemeClr val="dk1"/>
                </a:solidFill>
                <a:latin typeface="Arial"/>
                <a:ea typeface="Arial"/>
                <a:cs typeface="Arial"/>
                <a:sym typeface="Arial"/>
              </a:rPr>
              <a:t>In the threads model of parallel programming, a single "heavy weight" process can have multiple "light weight", concurrent execution paths.</a:t>
            </a:r>
          </a:p>
          <a:p>
            <a:pPr lvl="1" indent="-457200">
              <a:buSzPts val="2800"/>
            </a:pPr>
            <a:r>
              <a:rPr lang="en-US" dirty="0">
                <a:solidFill>
                  <a:schemeClr val="dk1"/>
                </a:solidFill>
                <a:latin typeface="Arial"/>
                <a:ea typeface="Arial"/>
                <a:cs typeface="Arial"/>
                <a:sym typeface="Arial"/>
              </a:rPr>
              <a:t>For example:</a:t>
            </a:r>
          </a:p>
          <a:p>
            <a:pPr lvl="2" indent="-457200">
              <a:buSzPts val="2800"/>
            </a:pPr>
            <a:r>
              <a:rPr lang="en-US" dirty="0">
                <a:solidFill>
                  <a:schemeClr val="dk1"/>
                </a:solidFill>
                <a:latin typeface="Arial"/>
                <a:ea typeface="Arial"/>
                <a:cs typeface="Arial"/>
                <a:sym typeface="Arial"/>
              </a:rPr>
              <a:t>The main program </a:t>
            </a:r>
            <a:r>
              <a:rPr lang="en-US" dirty="0" err="1">
                <a:solidFill>
                  <a:schemeClr val="dk1"/>
                </a:solidFill>
                <a:latin typeface="Arial"/>
                <a:ea typeface="Arial"/>
                <a:cs typeface="Arial"/>
                <a:sym typeface="Arial"/>
              </a:rPr>
              <a:t>a.out</a:t>
            </a:r>
            <a:r>
              <a:rPr lang="en-US" dirty="0">
                <a:solidFill>
                  <a:schemeClr val="dk1"/>
                </a:solidFill>
                <a:latin typeface="Arial"/>
                <a:ea typeface="Arial"/>
                <a:cs typeface="Arial"/>
                <a:sym typeface="Arial"/>
              </a:rPr>
              <a:t> is scheduled to run by the native operating system. </a:t>
            </a:r>
            <a:r>
              <a:rPr lang="en-US" dirty="0" err="1">
                <a:solidFill>
                  <a:schemeClr val="dk1"/>
                </a:solidFill>
                <a:latin typeface="Arial"/>
                <a:ea typeface="Arial"/>
                <a:cs typeface="Arial"/>
                <a:sym typeface="Arial"/>
              </a:rPr>
              <a:t>a.out</a:t>
            </a:r>
            <a:r>
              <a:rPr lang="en-US" dirty="0">
                <a:solidFill>
                  <a:schemeClr val="dk1"/>
                </a:solidFill>
                <a:latin typeface="Arial"/>
                <a:ea typeface="Arial"/>
                <a:cs typeface="Arial"/>
                <a:sym typeface="Arial"/>
              </a:rPr>
              <a:t> loads and acquires all of the necessary system and user resources to run. This is the "heavy weight" process.</a:t>
            </a:r>
          </a:p>
        </p:txBody>
      </p:sp>
      <p:pic>
        <p:nvPicPr>
          <p:cNvPr id="3" name="Picture 2">
            <a:extLst>
              <a:ext uri="{FF2B5EF4-FFF2-40B4-BE49-F238E27FC236}">
                <a16:creationId xmlns:a16="http://schemas.microsoft.com/office/drawing/2014/main" id="{361B19A0-1117-FF2E-07FE-E503B69D6882}"/>
              </a:ext>
            </a:extLst>
          </p:cNvPr>
          <p:cNvPicPr>
            <a:picLocks noChangeAspect="1"/>
          </p:cNvPicPr>
          <p:nvPr/>
        </p:nvPicPr>
        <p:blipFill>
          <a:blip r:embed="rId3"/>
          <a:stretch>
            <a:fillRect/>
          </a:stretch>
        </p:blipFill>
        <p:spPr>
          <a:xfrm>
            <a:off x="8342213" y="3027589"/>
            <a:ext cx="3846739" cy="2914196"/>
          </a:xfrm>
          <a:prstGeom prst="rect">
            <a:avLst/>
          </a:prstGeom>
        </p:spPr>
      </p:pic>
    </p:spTree>
    <p:extLst>
      <p:ext uri="{BB962C8B-B14F-4D97-AF65-F5344CB8AC3E}">
        <p14:creationId xmlns:p14="http://schemas.microsoft.com/office/powerpoint/2010/main" val="2716356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FFA49A6F-FD71-AB2D-A7A2-A83A04A90541}"/>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D5ED32A4-F854-1399-DE9B-B2D1B7321488}"/>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8E2A66DF-B5CC-E1DD-EAE8-F55E10737D93}"/>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E6CE819-78F2-0D03-688D-741D97EC9C99}"/>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40C09905-7C51-14BA-5644-3100830BF59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EE95AA43-8BC3-790E-28DC-860CB96F7420}"/>
              </a:ext>
            </a:extLst>
          </p:cNvPr>
          <p:cNvSpPr txBox="1">
            <a:spLocks/>
          </p:cNvSpPr>
          <p:nvPr/>
        </p:nvSpPr>
        <p:spPr>
          <a:xfrm>
            <a:off x="-3048" y="2111374"/>
            <a:ext cx="8464877"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Threads Model (Example)</a:t>
            </a:r>
          </a:p>
          <a:p>
            <a:pPr lvl="2" indent="-457200">
              <a:buSzPts val="2800"/>
            </a:pPr>
            <a:r>
              <a:rPr lang="en-US" dirty="0" err="1">
                <a:solidFill>
                  <a:schemeClr val="dk1"/>
                </a:solidFill>
                <a:latin typeface="Arial"/>
                <a:ea typeface="Arial"/>
                <a:cs typeface="Arial"/>
                <a:sym typeface="Arial"/>
              </a:rPr>
              <a:t>a.out</a:t>
            </a:r>
            <a:r>
              <a:rPr lang="en-US" dirty="0">
                <a:solidFill>
                  <a:schemeClr val="dk1"/>
                </a:solidFill>
                <a:latin typeface="Arial"/>
                <a:ea typeface="Arial"/>
                <a:cs typeface="Arial"/>
                <a:sym typeface="Arial"/>
              </a:rPr>
              <a:t> performs some serial work, and then creates a number of tasks (threads) that can be scheduled and run by the operating system concurrently.</a:t>
            </a:r>
          </a:p>
          <a:p>
            <a:pPr lvl="2" indent="-457200">
              <a:buSzPts val="2800"/>
            </a:pPr>
            <a:r>
              <a:rPr lang="en-US" dirty="0">
                <a:solidFill>
                  <a:schemeClr val="dk1"/>
                </a:solidFill>
                <a:latin typeface="Arial"/>
                <a:ea typeface="Arial"/>
                <a:cs typeface="Arial"/>
                <a:sym typeface="Arial"/>
              </a:rPr>
              <a:t>Each thread has local data, but also, shares the entire resources of </a:t>
            </a:r>
            <a:r>
              <a:rPr lang="en-US" dirty="0" err="1">
                <a:solidFill>
                  <a:schemeClr val="dk1"/>
                </a:solidFill>
                <a:latin typeface="Arial"/>
                <a:ea typeface="Arial"/>
                <a:cs typeface="Arial"/>
                <a:sym typeface="Arial"/>
              </a:rPr>
              <a:t>a.out</a:t>
            </a:r>
            <a:r>
              <a:rPr lang="en-US" dirty="0">
                <a:solidFill>
                  <a:schemeClr val="dk1"/>
                </a:solidFill>
                <a:latin typeface="Arial"/>
                <a:ea typeface="Arial"/>
                <a:cs typeface="Arial"/>
                <a:sym typeface="Arial"/>
              </a:rPr>
              <a:t>. This saves the overhead associated with replicating a program's resources for each thread ("light weight"). Each thread also benefits from a global memory view because it shares the memory space of </a:t>
            </a:r>
            <a:r>
              <a:rPr lang="en-US" dirty="0" err="1">
                <a:solidFill>
                  <a:schemeClr val="dk1"/>
                </a:solidFill>
                <a:latin typeface="Arial"/>
                <a:ea typeface="Arial"/>
                <a:cs typeface="Arial"/>
                <a:sym typeface="Arial"/>
              </a:rPr>
              <a:t>a.out</a:t>
            </a:r>
            <a:r>
              <a:rPr lang="en-US" dirty="0">
                <a:solidFill>
                  <a:schemeClr val="dk1"/>
                </a:solidFill>
                <a:latin typeface="Arial"/>
                <a:ea typeface="Arial"/>
                <a:cs typeface="Arial"/>
                <a:sym typeface="Arial"/>
              </a:rPr>
              <a:t>.</a:t>
            </a:r>
          </a:p>
          <a:p>
            <a:pPr lvl="2" indent="-457200">
              <a:buSzPts val="2800"/>
            </a:pPr>
            <a:r>
              <a:rPr lang="en-US" dirty="0">
                <a:solidFill>
                  <a:schemeClr val="dk1"/>
                </a:solidFill>
                <a:latin typeface="Arial"/>
                <a:ea typeface="Arial"/>
                <a:cs typeface="Arial"/>
                <a:sym typeface="Arial"/>
              </a:rPr>
              <a:t>A thread's work may best be described as a subroutine within the main program. Any thread can execute any subroutine at the same time as other threads.</a:t>
            </a:r>
          </a:p>
        </p:txBody>
      </p:sp>
      <p:pic>
        <p:nvPicPr>
          <p:cNvPr id="5" name="Picture 4">
            <a:extLst>
              <a:ext uri="{FF2B5EF4-FFF2-40B4-BE49-F238E27FC236}">
                <a16:creationId xmlns:a16="http://schemas.microsoft.com/office/drawing/2014/main" id="{01A7D8AE-CDF4-C600-4E8E-034198C73F6D}"/>
              </a:ext>
            </a:extLst>
          </p:cNvPr>
          <p:cNvPicPr>
            <a:picLocks noChangeAspect="1"/>
          </p:cNvPicPr>
          <p:nvPr/>
        </p:nvPicPr>
        <p:blipFill>
          <a:blip r:embed="rId3"/>
          <a:stretch>
            <a:fillRect/>
          </a:stretch>
        </p:blipFill>
        <p:spPr>
          <a:xfrm>
            <a:off x="8461829" y="3058204"/>
            <a:ext cx="3545071" cy="2907167"/>
          </a:xfrm>
          <a:prstGeom prst="rect">
            <a:avLst/>
          </a:prstGeom>
        </p:spPr>
      </p:pic>
    </p:spTree>
    <p:extLst>
      <p:ext uri="{BB962C8B-B14F-4D97-AF65-F5344CB8AC3E}">
        <p14:creationId xmlns:p14="http://schemas.microsoft.com/office/powerpoint/2010/main" val="3527724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20630927-5451-8F28-FA48-51564E2A3EE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F1979E70-82B1-37D5-68B5-9D9B69618FB4}"/>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E0435A1-CEBD-5325-79CF-AF6B594B5337}"/>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9D6A4C3-7A72-412F-ABE4-43837269463C}"/>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D70AE5E7-5D91-8EE8-AE06-8F7AF742426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DB1E17A5-16BD-D3DC-DD77-F14ED198C8A1}"/>
              </a:ext>
            </a:extLst>
          </p:cNvPr>
          <p:cNvSpPr txBox="1">
            <a:spLocks/>
          </p:cNvSpPr>
          <p:nvPr/>
        </p:nvSpPr>
        <p:spPr>
          <a:xfrm>
            <a:off x="-3048" y="2111374"/>
            <a:ext cx="12195048"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Threads Model (Example)</a:t>
            </a:r>
          </a:p>
          <a:p>
            <a:pPr lvl="2" indent="-457200">
              <a:buSzPts val="2800"/>
            </a:pPr>
            <a:r>
              <a:rPr lang="en-US" dirty="0">
                <a:solidFill>
                  <a:schemeClr val="dk1"/>
                </a:solidFill>
                <a:latin typeface="Arial"/>
                <a:ea typeface="Arial"/>
                <a:cs typeface="Arial"/>
                <a:sym typeface="Arial"/>
              </a:rPr>
              <a:t>Threads communicate with each other through global memory (updating address locations). This requires synchronization constructs to ensure that more than one thread is not updating the same global address at any time.</a:t>
            </a:r>
          </a:p>
          <a:p>
            <a:pPr lvl="2" indent="-457200">
              <a:buSzPts val="2800"/>
            </a:pPr>
            <a:r>
              <a:rPr lang="en-US" dirty="0">
                <a:solidFill>
                  <a:schemeClr val="dk1"/>
                </a:solidFill>
                <a:latin typeface="Arial"/>
                <a:ea typeface="Arial"/>
                <a:cs typeface="Arial"/>
                <a:sym typeface="Arial"/>
              </a:rPr>
              <a:t>Threads can come and go, but </a:t>
            </a:r>
            <a:r>
              <a:rPr lang="en-US" dirty="0" err="1">
                <a:solidFill>
                  <a:schemeClr val="dk1"/>
                </a:solidFill>
                <a:latin typeface="Arial"/>
                <a:ea typeface="Arial"/>
                <a:cs typeface="Arial"/>
                <a:sym typeface="Arial"/>
              </a:rPr>
              <a:t>a.out</a:t>
            </a:r>
            <a:r>
              <a:rPr lang="en-US" dirty="0">
                <a:solidFill>
                  <a:schemeClr val="dk1"/>
                </a:solidFill>
                <a:latin typeface="Arial"/>
                <a:ea typeface="Arial"/>
                <a:cs typeface="Arial"/>
                <a:sym typeface="Arial"/>
              </a:rPr>
              <a:t> remains present to provide the necessary shared resources until the application has completed.</a:t>
            </a:r>
          </a:p>
          <a:p>
            <a:pPr lvl="2" indent="-457200">
              <a:buSzPts val="2800"/>
            </a:pPr>
            <a:r>
              <a:rPr lang="en-US" b="1" dirty="0">
                <a:solidFill>
                  <a:schemeClr val="dk1"/>
                </a:solidFill>
                <a:latin typeface="Arial"/>
                <a:ea typeface="Arial"/>
                <a:cs typeface="Arial"/>
                <a:sym typeface="Arial"/>
              </a:rPr>
              <a:t>Example:</a:t>
            </a:r>
          </a:p>
          <a:p>
            <a:pPr lvl="3" indent="-457200">
              <a:buSzPts val="2800"/>
            </a:pPr>
            <a:r>
              <a:rPr lang="en-US" dirty="0">
                <a:solidFill>
                  <a:schemeClr val="dk1"/>
                </a:solidFill>
                <a:latin typeface="Arial"/>
                <a:ea typeface="Arial"/>
                <a:cs typeface="Arial"/>
                <a:sym typeface="Arial"/>
              </a:rPr>
              <a:t>Two very different implementation of threads: POSIX Threads and OpenMP</a:t>
            </a:r>
          </a:p>
        </p:txBody>
      </p:sp>
    </p:spTree>
    <p:extLst>
      <p:ext uri="{BB962C8B-B14F-4D97-AF65-F5344CB8AC3E}">
        <p14:creationId xmlns:p14="http://schemas.microsoft.com/office/powerpoint/2010/main" val="4122191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9329107E-8818-7090-E06D-FF10DAC92BC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6DC531EB-2D11-ABC5-6D02-2B690D80480E}"/>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75B88FE9-2C7F-1257-E391-04D083F7DBEE}"/>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F6A040C0-57C0-0340-062A-661ABAF16D4D}"/>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9017AF88-F2B9-EC56-9341-57F2322609E3}"/>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8ADB5C91-F31A-873C-D425-9B0D7B3878A1}"/>
              </a:ext>
            </a:extLst>
          </p:cNvPr>
          <p:cNvSpPr txBox="1">
            <a:spLocks/>
          </p:cNvSpPr>
          <p:nvPr/>
        </p:nvSpPr>
        <p:spPr>
          <a:xfrm>
            <a:off x="-3048" y="2111374"/>
            <a:ext cx="8392305"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Distributed Memory / Message Passing Model</a:t>
            </a:r>
          </a:p>
          <a:p>
            <a:pPr lvl="1" indent="-457200">
              <a:buSzPts val="2800"/>
            </a:pPr>
            <a:r>
              <a:rPr lang="en-US" dirty="0">
                <a:solidFill>
                  <a:schemeClr val="dk1"/>
                </a:solidFill>
                <a:latin typeface="Arial"/>
                <a:ea typeface="Arial"/>
                <a:cs typeface="Arial"/>
                <a:sym typeface="Arial"/>
              </a:rPr>
              <a:t>This model demonstrates the following characteristics:</a:t>
            </a:r>
          </a:p>
          <a:p>
            <a:pPr lvl="2" indent="-457200">
              <a:buSzPts val="2800"/>
            </a:pPr>
            <a:r>
              <a:rPr lang="en-US" dirty="0">
                <a:solidFill>
                  <a:schemeClr val="dk1"/>
                </a:solidFill>
                <a:latin typeface="Arial"/>
                <a:ea typeface="Arial"/>
                <a:cs typeface="Arial"/>
                <a:sym typeface="Arial"/>
              </a:rPr>
              <a:t>A set of tasks that use their own local memory during computation. Multiple tasks can reside on the same physical machine and/or across an arbitrary number of machines.</a:t>
            </a:r>
          </a:p>
          <a:p>
            <a:pPr lvl="2" indent="-457200">
              <a:buSzPts val="2800"/>
            </a:pPr>
            <a:r>
              <a:rPr lang="en-US" dirty="0">
                <a:solidFill>
                  <a:schemeClr val="dk1"/>
                </a:solidFill>
                <a:latin typeface="Arial"/>
                <a:ea typeface="Arial"/>
                <a:cs typeface="Arial"/>
                <a:sym typeface="Arial"/>
              </a:rPr>
              <a:t>Tasks exchange data through communications by sending and receiving messages.</a:t>
            </a:r>
          </a:p>
          <a:p>
            <a:pPr lvl="2" indent="-457200">
              <a:buSzPts val="2800"/>
            </a:pPr>
            <a:r>
              <a:rPr lang="en-US" dirty="0">
                <a:solidFill>
                  <a:schemeClr val="dk1"/>
                </a:solidFill>
                <a:latin typeface="Arial"/>
                <a:ea typeface="Arial"/>
                <a:cs typeface="Arial"/>
                <a:sym typeface="Arial"/>
              </a:rPr>
              <a:t>Data transfer usually requires cooperative operations to be performed by each process. For example, a send operation must have a matching receive operation.</a:t>
            </a:r>
          </a:p>
          <a:p>
            <a:pPr lvl="2" indent="-457200">
              <a:buSzPts val="2800"/>
            </a:pPr>
            <a:r>
              <a:rPr lang="en-US" b="1" dirty="0">
                <a:solidFill>
                  <a:schemeClr val="dk1"/>
                </a:solidFill>
                <a:latin typeface="Arial"/>
                <a:ea typeface="Arial"/>
                <a:cs typeface="Arial"/>
                <a:sym typeface="Arial"/>
              </a:rPr>
              <a:t>Implementation:</a:t>
            </a:r>
            <a:r>
              <a:rPr lang="en-US" dirty="0">
                <a:solidFill>
                  <a:schemeClr val="dk1"/>
                </a:solidFill>
                <a:latin typeface="Arial"/>
                <a:ea typeface="Arial"/>
                <a:cs typeface="Arial"/>
                <a:sym typeface="Arial"/>
              </a:rPr>
              <a:t> Message Passing Interface</a:t>
            </a:r>
          </a:p>
        </p:txBody>
      </p:sp>
      <p:pic>
        <p:nvPicPr>
          <p:cNvPr id="3" name="Picture 2">
            <a:extLst>
              <a:ext uri="{FF2B5EF4-FFF2-40B4-BE49-F238E27FC236}">
                <a16:creationId xmlns:a16="http://schemas.microsoft.com/office/drawing/2014/main" id="{C2152BBF-0193-191D-875E-05755614E17D}"/>
              </a:ext>
            </a:extLst>
          </p:cNvPr>
          <p:cNvPicPr>
            <a:picLocks noChangeAspect="1"/>
          </p:cNvPicPr>
          <p:nvPr/>
        </p:nvPicPr>
        <p:blipFill>
          <a:blip r:embed="rId3"/>
          <a:stretch>
            <a:fillRect/>
          </a:stretch>
        </p:blipFill>
        <p:spPr>
          <a:xfrm>
            <a:off x="8228756" y="3127828"/>
            <a:ext cx="3703411" cy="2576286"/>
          </a:xfrm>
          <a:prstGeom prst="rect">
            <a:avLst/>
          </a:prstGeom>
        </p:spPr>
      </p:pic>
    </p:spTree>
    <p:extLst>
      <p:ext uri="{BB962C8B-B14F-4D97-AF65-F5344CB8AC3E}">
        <p14:creationId xmlns:p14="http://schemas.microsoft.com/office/powerpoint/2010/main" val="3664694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69618DA7-9DFA-F3D3-AF8C-282ADB5199C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8A9F6DFD-AAFC-0AF2-19E5-2FD776DA1998}"/>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ECFE1B1D-FA00-8C95-211F-E3A4572E8F4D}"/>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5A3A19B-9825-6344-ED0A-97B008739E9F}"/>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A3724414-21AC-CFE5-06D8-75CF865FB962}"/>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F9B3E57E-CE0C-44B5-3E84-7497E94309C9}"/>
              </a:ext>
            </a:extLst>
          </p:cNvPr>
          <p:cNvSpPr txBox="1">
            <a:spLocks/>
          </p:cNvSpPr>
          <p:nvPr/>
        </p:nvSpPr>
        <p:spPr>
          <a:xfrm>
            <a:off x="-3048" y="2111374"/>
            <a:ext cx="8392305"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Data Parallel Model</a:t>
            </a:r>
          </a:p>
          <a:p>
            <a:pPr lvl="1" indent="-457200">
              <a:buSzPts val="2800"/>
            </a:pPr>
            <a:r>
              <a:rPr lang="en-US" dirty="0">
                <a:solidFill>
                  <a:schemeClr val="dk1"/>
                </a:solidFill>
                <a:latin typeface="Arial"/>
                <a:ea typeface="Arial"/>
                <a:cs typeface="Arial"/>
                <a:sym typeface="Arial"/>
              </a:rPr>
              <a:t>May also be referred to as the Partitioned Global Address Space (PGAS) model.</a:t>
            </a:r>
          </a:p>
          <a:p>
            <a:pPr lvl="1" indent="-457200">
              <a:buSzPts val="2800"/>
            </a:pPr>
            <a:r>
              <a:rPr lang="en-US" dirty="0">
                <a:solidFill>
                  <a:schemeClr val="dk1"/>
                </a:solidFill>
                <a:latin typeface="Arial"/>
                <a:ea typeface="Arial"/>
                <a:cs typeface="Arial"/>
                <a:sym typeface="Arial"/>
              </a:rPr>
              <a:t>The data parallel model demonstrates the following characteristics:</a:t>
            </a:r>
          </a:p>
          <a:p>
            <a:pPr lvl="2" indent="-457200">
              <a:buSzPts val="2800"/>
            </a:pPr>
            <a:r>
              <a:rPr lang="en-US" dirty="0">
                <a:solidFill>
                  <a:schemeClr val="dk1"/>
                </a:solidFill>
                <a:latin typeface="Arial"/>
                <a:ea typeface="Arial"/>
                <a:cs typeface="Arial"/>
                <a:sym typeface="Arial"/>
              </a:rPr>
              <a:t>Address space is treated globally</a:t>
            </a:r>
          </a:p>
          <a:p>
            <a:pPr lvl="2" indent="-457200">
              <a:buSzPts val="2800"/>
            </a:pPr>
            <a:r>
              <a:rPr lang="en-US" dirty="0">
                <a:solidFill>
                  <a:schemeClr val="dk1"/>
                </a:solidFill>
                <a:latin typeface="Arial"/>
                <a:ea typeface="Arial"/>
                <a:cs typeface="Arial"/>
                <a:sym typeface="Arial"/>
              </a:rPr>
              <a:t>Most of the parallel work focuses on performing operations on a data set. The data set is typically organized into a common structure, such as an array or cube.</a:t>
            </a:r>
          </a:p>
          <a:p>
            <a:pPr lvl="2" indent="-457200">
              <a:buSzPts val="2800"/>
            </a:pPr>
            <a:r>
              <a:rPr lang="en-US" dirty="0">
                <a:solidFill>
                  <a:schemeClr val="dk1"/>
                </a:solidFill>
                <a:latin typeface="Arial"/>
                <a:ea typeface="Arial"/>
                <a:cs typeface="Arial"/>
                <a:sym typeface="Arial"/>
              </a:rPr>
              <a:t>A set of tasks work collectively on the same data structure, however, each task works on a different partition of the same data structure.</a:t>
            </a:r>
          </a:p>
        </p:txBody>
      </p:sp>
      <p:pic>
        <p:nvPicPr>
          <p:cNvPr id="5" name="Picture 4">
            <a:extLst>
              <a:ext uri="{FF2B5EF4-FFF2-40B4-BE49-F238E27FC236}">
                <a16:creationId xmlns:a16="http://schemas.microsoft.com/office/drawing/2014/main" id="{EEDCABF0-88C8-1230-4C2C-9297EC9B8655}"/>
              </a:ext>
            </a:extLst>
          </p:cNvPr>
          <p:cNvPicPr>
            <a:picLocks noChangeAspect="1"/>
          </p:cNvPicPr>
          <p:nvPr/>
        </p:nvPicPr>
        <p:blipFill>
          <a:blip r:embed="rId3"/>
          <a:stretch>
            <a:fillRect/>
          </a:stretch>
        </p:blipFill>
        <p:spPr>
          <a:xfrm>
            <a:off x="8229599" y="2803978"/>
            <a:ext cx="3817257" cy="3406680"/>
          </a:xfrm>
          <a:prstGeom prst="rect">
            <a:avLst/>
          </a:prstGeom>
        </p:spPr>
      </p:pic>
    </p:spTree>
    <p:extLst>
      <p:ext uri="{BB962C8B-B14F-4D97-AF65-F5344CB8AC3E}">
        <p14:creationId xmlns:p14="http://schemas.microsoft.com/office/powerpoint/2010/main" val="2280916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B3F32DF4-EFAC-E648-C8FC-6B7C8A7A2AD7}"/>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A1BBB467-DA7F-69FD-6F26-B1BF71CD10A1}"/>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B752EC15-B338-FF29-EFEA-EC5FEB005501}"/>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879DC43-0825-C2C6-EB93-243DD1BC29F2}"/>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C9963232-D547-D2EC-7457-EA4AA5D9CB9F}"/>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83FDD65C-FD52-3FDF-6DE9-E12AE67AA760}"/>
              </a:ext>
            </a:extLst>
          </p:cNvPr>
          <p:cNvSpPr txBox="1">
            <a:spLocks/>
          </p:cNvSpPr>
          <p:nvPr/>
        </p:nvSpPr>
        <p:spPr>
          <a:xfrm>
            <a:off x="-3048" y="2111374"/>
            <a:ext cx="12195048"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Data Parallel Model</a:t>
            </a:r>
          </a:p>
          <a:p>
            <a:pPr lvl="2" indent="-457200">
              <a:buSzPts val="2800"/>
            </a:pPr>
            <a:r>
              <a:rPr lang="en-US" dirty="0">
                <a:solidFill>
                  <a:schemeClr val="dk1"/>
                </a:solidFill>
                <a:latin typeface="Arial"/>
                <a:ea typeface="Arial"/>
                <a:cs typeface="Arial"/>
                <a:sym typeface="Arial"/>
              </a:rPr>
              <a:t>Tasks perform the same operation on their partition of work, for example, "add 4 to every array element".</a:t>
            </a:r>
          </a:p>
          <a:p>
            <a:pPr lvl="1" indent="-457200">
              <a:buSzPts val="2800"/>
            </a:pPr>
            <a:r>
              <a:rPr lang="en-US" dirty="0">
                <a:solidFill>
                  <a:schemeClr val="dk1"/>
                </a:solidFill>
                <a:latin typeface="Arial"/>
                <a:ea typeface="Arial"/>
                <a:cs typeface="Arial"/>
                <a:sym typeface="Arial"/>
              </a:rPr>
              <a:t>On shared memory architectures, all tasks may have access to the data structure through global memory.</a:t>
            </a:r>
          </a:p>
          <a:p>
            <a:pPr lvl="1" indent="-457200">
              <a:buSzPts val="2800"/>
            </a:pPr>
            <a:r>
              <a:rPr lang="en-US" dirty="0">
                <a:solidFill>
                  <a:schemeClr val="dk1"/>
                </a:solidFill>
                <a:latin typeface="Arial"/>
                <a:ea typeface="Arial"/>
                <a:cs typeface="Arial"/>
                <a:sym typeface="Arial"/>
              </a:rPr>
              <a:t>On distributed memory architectures, the global data structure can be split up logically and/or physically across tasks.</a:t>
            </a:r>
          </a:p>
          <a:p>
            <a:pPr lvl="1" indent="-457200">
              <a:buSzPts val="2800"/>
            </a:pPr>
            <a:r>
              <a:rPr lang="en-US" b="1" dirty="0">
                <a:solidFill>
                  <a:schemeClr val="dk1"/>
                </a:solidFill>
                <a:latin typeface="Arial"/>
                <a:ea typeface="Arial"/>
                <a:cs typeface="Arial"/>
                <a:sym typeface="Arial"/>
              </a:rPr>
              <a:t>Implementation:</a:t>
            </a:r>
          </a:p>
          <a:p>
            <a:pPr lvl="2" indent="-457200">
              <a:buSzPts val="2800"/>
            </a:pPr>
            <a:r>
              <a:rPr lang="en-US" dirty="0" err="1">
                <a:solidFill>
                  <a:schemeClr val="dk1"/>
                </a:solidFill>
                <a:latin typeface="Arial"/>
                <a:ea typeface="Arial"/>
                <a:cs typeface="Arial"/>
                <a:sym typeface="Arial"/>
              </a:rPr>
              <a:t>Coarray</a:t>
            </a:r>
            <a:r>
              <a:rPr lang="en-US" dirty="0">
                <a:solidFill>
                  <a:schemeClr val="dk1"/>
                </a:solidFill>
                <a:latin typeface="Arial"/>
                <a:ea typeface="Arial"/>
                <a:cs typeface="Arial"/>
                <a:sym typeface="Arial"/>
              </a:rPr>
              <a:t> Fortran		Unified Parallel C (UPC)</a:t>
            </a:r>
          </a:p>
          <a:p>
            <a:pPr lvl="2" indent="-457200">
              <a:buSzPts val="2800"/>
            </a:pPr>
            <a:r>
              <a:rPr lang="en-US" dirty="0">
                <a:solidFill>
                  <a:schemeClr val="dk1"/>
                </a:solidFill>
                <a:latin typeface="Arial"/>
                <a:ea typeface="Arial"/>
                <a:cs typeface="Arial"/>
                <a:sym typeface="Arial"/>
              </a:rPr>
              <a:t>Global Arrays		X10: a PGAS</a:t>
            </a:r>
          </a:p>
          <a:p>
            <a:pPr lvl="2" indent="-457200">
              <a:buSzPts val="2800"/>
            </a:pPr>
            <a:r>
              <a:rPr lang="en-US" dirty="0">
                <a:solidFill>
                  <a:schemeClr val="dk1"/>
                </a:solidFill>
                <a:latin typeface="Arial"/>
                <a:ea typeface="Arial"/>
                <a:cs typeface="Arial"/>
                <a:sym typeface="Arial"/>
              </a:rPr>
              <a:t>Chapel</a:t>
            </a:r>
          </a:p>
        </p:txBody>
      </p:sp>
    </p:spTree>
    <p:extLst>
      <p:ext uri="{BB962C8B-B14F-4D97-AF65-F5344CB8AC3E}">
        <p14:creationId xmlns:p14="http://schemas.microsoft.com/office/powerpoint/2010/main" val="3814659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C7832E91-95A8-3050-4E5E-826C22392819}"/>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BE7FDA6C-EF58-0870-53A4-3786FEDF0D37}"/>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618BDC80-EA05-E971-10B1-EDF88182C9CC}"/>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931DEB7-AA94-9B2D-68D2-5EB4D38BA896}"/>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84C715AB-E66E-4E39-1FE1-98657AC22F4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DEB58FF0-75BE-4F11-497D-A830F584D374}"/>
              </a:ext>
            </a:extLst>
          </p:cNvPr>
          <p:cNvSpPr txBox="1">
            <a:spLocks/>
          </p:cNvSpPr>
          <p:nvPr/>
        </p:nvSpPr>
        <p:spPr>
          <a:xfrm>
            <a:off x="-3048" y="2111374"/>
            <a:ext cx="8392305"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Hybrid Model</a:t>
            </a:r>
          </a:p>
          <a:p>
            <a:pPr lvl="1" indent="-457200">
              <a:buSzPts val="2800"/>
            </a:pPr>
            <a:r>
              <a:rPr lang="en-US" dirty="0">
                <a:solidFill>
                  <a:schemeClr val="dk1"/>
                </a:solidFill>
                <a:latin typeface="Arial"/>
                <a:ea typeface="Arial"/>
                <a:cs typeface="Arial"/>
                <a:sym typeface="Arial"/>
              </a:rPr>
              <a:t>A hybrid model combines more than one of the previously described programming models.</a:t>
            </a:r>
          </a:p>
          <a:p>
            <a:pPr lvl="1" indent="-457200">
              <a:buSzPts val="2800"/>
            </a:pPr>
            <a:r>
              <a:rPr lang="en-US" dirty="0">
                <a:solidFill>
                  <a:schemeClr val="dk1"/>
                </a:solidFill>
                <a:latin typeface="Arial"/>
                <a:ea typeface="Arial"/>
                <a:cs typeface="Arial"/>
                <a:sym typeface="Arial"/>
              </a:rPr>
              <a:t>Currently, a common example of a hybrid model is the combination of the message passing model (MPI) with the threads model (OpenMP).</a:t>
            </a:r>
          </a:p>
          <a:p>
            <a:pPr lvl="2" indent="-457200">
              <a:buSzPts val="2800"/>
            </a:pPr>
            <a:r>
              <a:rPr lang="en-US" dirty="0">
                <a:solidFill>
                  <a:schemeClr val="dk1"/>
                </a:solidFill>
                <a:latin typeface="Arial"/>
                <a:ea typeface="Arial"/>
                <a:cs typeface="Arial"/>
                <a:sym typeface="Arial"/>
              </a:rPr>
              <a:t>Threads perform computationally intensive kernels using local, on-node data</a:t>
            </a:r>
          </a:p>
          <a:p>
            <a:pPr lvl="2" indent="-457200">
              <a:buSzPts val="2800"/>
            </a:pPr>
            <a:r>
              <a:rPr lang="en-US" dirty="0">
                <a:solidFill>
                  <a:schemeClr val="dk1"/>
                </a:solidFill>
                <a:latin typeface="Arial"/>
                <a:ea typeface="Arial"/>
                <a:cs typeface="Arial"/>
                <a:sym typeface="Arial"/>
              </a:rPr>
              <a:t>Communications between processes on different nodes occurs over the network using MPI</a:t>
            </a:r>
          </a:p>
        </p:txBody>
      </p:sp>
      <p:pic>
        <p:nvPicPr>
          <p:cNvPr id="5" name="Picture 4">
            <a:extLst>
              <a:ext uri="{FF2B5EF4-FFF2-40B4-BE49-F238E27FC236}">
                <a16:creationId xmlns:a16="http://schemas.microsoft.com/office/drawing/2014/main" id="{B26EE230-68E8-97F6-D1C9-311C3EB1BCA8}"/>
              </a:ext>
            </a:extLst>
          </p:cNvPr>
          <p:cNvPicPr>
            <a:picLocks noChangeAspect="1"/>
          </p:cNvPicPr>
          <p:nvPr/>
        </p:nvPicPr>
        <p:blipFill>
          <a:blip r:embed="rId3"/>
          <a:stretch>
            <a:fillRect/>
          </a:stretch>
        </p:blipFill>
        <p:spPr>
          <a:xfrm>
            <a:off x="8255899" y="3498622"/>
            <a:ext cx="3715121" cy="2086429"/>
          </a:xfrm>
          <a:prstGeom prst="rect">
            <a:avLst/>
          </a:prstGeom>
        </p:spPr>
      </p:pic>
    </p:spTree>
    <p:extLst>
      <p:ext uri="{BB962C8B-B14F-4D97-AF65-F5344CB8AC3E}">
        <p14:creationId xmlns:p14="http://schemas.microsoft.com/office/powerpoint/2010/main" val="2398654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8FE747A-8883-AF58-FA65-059F6E442518}"/>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36949E67-5E38-7ED6-3229-61A927119485}"/>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C3868B56-C1AF-D804-751D-00C1755BE474}"/>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CDA9F14-DF2A-D6F3-0BAD-B3282A7E6BA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5E6A1286-54E0-EE4B-3EA4-213CFC6476E7}"/>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B92F0A83-734B-9D83-69CE-7ED9A57CC8A5}"/>
              </a:ext>
            </a:extLst>
          </p:cNvPr>
          <p:cNvSpPr txBox="1">
            <a:spLocks/>
          </p:cNvSpPr>
          <p:nvPr/>
        </p:nvSpPr>
        <p:spPr>
          <a:xfrm>
            <a:off x="-3048" y="2111374"/>
            <a:ext cx="8392305"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Hybrid Model</a:t>
            </a:r>
          </a:p>
          <a:p>
            <a:pPr lvl="1" indent="-457200">
              <a:buSzPts val="2800"/>
            </a:pPr>
            <a:r>
              <a:rPr lang="en-US" dirty="0">
                <a:solidFill>
                  <a:schemeClr val="dk1"/>
                </a:solidFill>
                <a:latin typeface="Arial"/>
                <a:ea typeface="Arial"/>
                <a:cs typeface="Arial"/>
                <a:sym typeface="Arial"/>
              </a:rPr>
              <a:t>This hybrid model lends itself well to the most popular (currently) hardware environment of clustered multi/many-core machines.</a:t>
            </a:r>
          </a:p>
          <a:p>
            <a:pPr lvl="1" indent="-457200">
              <a:buSzPts val="2800"/>
            </a:pPr>
            <a:r>
              <a:rPr lang="en-US" dirty="0">
                <a:solidFill>
                  <a:schemeClr val="dk1"/>
                </a:solidFill>
                <a:latin typeface="Arial"/>
                <a:ea typeface="Arial"/>
                <a:cs typeface="Arial"/>
                <a:sym typeface="Arial"/>
              </a:rPr>
              <a:t>Another similar and increasingly popular example of a hybrid model is using MPI with CPU-GPU (graphics processing unit) programming.</a:t>
            </a:r>
          </a:p>
          <a:p>
            <a:pPr lvl="2" indent="-457200">
              <a:buSzPts val="2800"/>
            </a:pPr>
            <a:r>
              <a:rPr lang="en-US" dirty="0">
                <a:solidFill>
                  <a:schemeClr val="dk1"/>
                </a:solidFill>
                <a:latin typeface="Arial"/>
                <a:ea typeface="Arial"/>
                <a:cs typeface="Arial"/>
                <a:sym typeface="Arial"/>
              </a:rPr>
              <a:t>MPI tasks run on CPUs using local memory </a:t>
            </a:r>
            <a:r>
              <a:rPr lang="en-US">
                <a:solidFill>
                  <a:schemeClr val="dk1"/>
                </a:solidFill>
                <a:latin typeface="Arial"/>
                <a:ea typeface="Arial"/>
                <a:cs typeface="Arial"/>
                <a:sym typeface="Arial"/>
              </a:rPr>
              <a:t>and communicate </a:t>
            </a:r>
            <a:r>
              <a:rPr lang="en-US" dirty="0">
                <a:solidFill>
                  <a:schemeClr val="dk1"/>
                </a:solidFill>
                <a:latin typeface="Arial"/>
                <a:ea typeface="Arial"/>
                <a:cs typeface="Arial"/>
                <a:sym typeface="Arial"/>
              </a:rPr>
              <a:t>with each other over a network.</a:t>
            </a:r>
          </a:p>
          <a:p>
            <a:pPr lvl="2" indent="-457200">
              <a:buSzPts val="2800"/>
            </a:pPr>
            <a:r>
              <a:rPr lang="en-US" dirty="0">
                <a:solidFill>
                  <a:schemeClr val="dk1"/>
                </a:solidFill>
                <a:latin typeface="Arial"/>
                <a:ea typeface="Arial"/>
                <a:cs typeface="Arial"/>
                <a:sym typeface="Arial"/>
              </a:rPr>
              <a:t>Computationally intensive kernels are off-loaded to GPUs on-node.</a:t>
            </a:r>
          </a:p>
        </p:txBody>
      </p:sp>
      <p:pic>
        <p:nvPicPr>
          <p:cNvPr id="3" name="Picture 2">
            <a:extLst>
              <a:ext uri="{FF2B5EF4-FFF2-40B4-BE49-F238E27FC236}">
                <a16:creationId xmlns:a16="http://schemas.microsoft.com/office/drawing/2014/main" id="{5863405B-4ED6-9734-C672-EEAFCA6713F0}"/>
              </a:ext>
            </a:extLst>
          </p:cNvPr>
          <p:cNvPicPr>
            <a:picLocks noChangeAspect="1"/>
          </p:cNvPicPr>
          <p:nvPr/>
        </p:nvPicPr>
        <p:blipFill>
          <a:blip r:embed="rId3"/>
          <a:stretch>
            <a:fillRect/>
          </a:stretch>
        </p:blipFill>
        <p:spPr>
          <a:xfrm>
            <a:off x="8389257" y="3429000"/>
            <a:ext cx="3769555" cy="1810657"/>
          </a:xfrm>
          <a:prstGeom prst="rect">
            <a:avLst/>
          </a:prstGeom>
        </p:spPr>
      </p:pic>
    </p:spTree>
    <p:extLst>
      <p:ext uri="{BB962C8B-B14F-4D97-AF65-F5344CB8AC3E}">
        <p14:creationId xmlns:p14="http://schemas.microsoft.com/office/powerpoint/2010/main" val="2604523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E9AE207-6050-C5EF-7223-80D1205D08A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350C0FC9-B2EA-BDDB-A9B0-4756E868FE0F}"/>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D3869B03-E6A6-7837-21FC-C50271DD57C3}"/>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90B2ABFA-606F-CA19-9B7D-87BAD961C7B0}"/>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3BC602B3-F273-15F6-4332-945205F14AE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E8F33470-5914-96F9-AFEF-FBA74B9ED949}"/>
              </a:ext>
            </a:extLst>
          </p:cNvPr>
          <p:cNvSpPr txBox="1">
            <a:spLocks/>
          </p:cNvSpPr>
          <p:nvPr/>
        </p:nvSpPr>
        <p:spPr>
          <a:xfrm>
            <a:off x="-3048" y="2111374"/>
            <a:ext cx="8392305"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Hybrid Model</a:t>
            </a:r>
          </a:p>
          <a:p>
            <a:pPr lvl="2" indent="-457200">
              <a:buSzPts val="2800"/>
            </a:pPr>
            <a:r>
              <a:rPr lang="en-US" dirty="0">
                <a:solidFill>
                  <a:schemeClr val="dk1"/>
                </a:solidFill>
                <a:latin typeface="Arial"/>
                <a:ea typeface="Arial"/>
                <a:cs typeface="Arial"/>
                <a:sym typeface="Arial"/>
              </a:rPr>
              <a:t>Data exchange between node-local memory and GPUs uses CUDA (or something equivalent).</a:t>
            </a:r>
          </a:p>
          <a:p>
            <a:pPr lvl="1" indent="-457200">
              <a:buSzPts val="2800"/>
            </a:pPr>
            <a:r>
              <a:rPr lang="en-US" dirty="0">
                <a:solidFill>
                  <a:schemeClr val="dk1"/>
                </a:solidFill>
                <a:latin typeface="Arial"/>
                <a:ea typeface="Arial"/>
                <a:cs typeface="Arial"/>
                <a:sym typeface="Arial"/>
              </a:rPr>
              <a:t>Other hybrid models are common:</a:t>
            </a:r>
          </a:p>
          <a:p>
            <a:pPr lvl="2" indent="-457200">
              <a:buSzPts val="2800"/>
            </a:pPr>
            <a:r>
              <a:rPr lang="en-US" dirty="0">
                <a:solidFill>
                  <a:schemeClr val="dk1"/>
                </a:solidFill>
                <a:latin typeface="Arial"/>
                <a:ea typeface="Arial"/>
                <a:cs typeface="Arial"/>
                <a:sym typeface="Arial"/>
              </a:rPr>
              <a:t>MPI with </a:t>
            </a:r>
            <a:r>
              <a:rPr lang="en-US" dirty="0" err="1">
                <a:solidFill>
                  <a:schemeClr val="dk1"/>
                </a:solidFill>
                <a:latin typeface="Arial"/>
                <a:ea typeface="Arial"/>
                <a:cs typeface="Arial"/>
                <a:sym typeface="Arial"/>
              </a:rPr>
              <a:t>Pthreads</a:t>
            </a:r>
            <a:endParaRPr lang="en-US" dirty="0">
              <a:solidFill>
                <a:schemeClr val="dk1"/>
              </a:solidFill>
              <a:latin typeface="Arial"/>
              <a:ea typeface="Arial"/>
              <a:cs typeface="Arial"/>
              <a:sym typeface="Arial"/>
            </a:endParaRPr>
          </a:p>
          <a:p>
            <a:pPr lvl="2" indent="-457200">
              <a:buSzPts val="2800"/>
            </a:pPr>
            <a:r>
              <a:rPr lang="en-US" dirty="0">
                <a:solidFill>
                  <a:schemeClr val="dk1"/>
                </a:solidFill>
                <a:latin typeface="Arial"/>
                <a:ea typeface="Arial"/>
                <a:cs typeface="Arial"/>
                <a:sym typeface="Arial"/>
              </a:rPr>
              <a:t>MPI with non-GPU accelerators</a:t>
            </a:r>
          </a:p>
        </p:txBody>
      </p:sp>
    </p:spTree>
    <p:extLst>
      <p:ext uri="{BB962C8B-B14F-4D97-AF65-F5344CB8AC3E}">
        <p14:creationId xmlns:p14="http://schemas.microsoft.com/office/powerpoint/2010/main" val="4162463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A6DACC21-1920-7CB1-CEF6-52CD7E7C396D}"/>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88D1E66C-B89D-5318-825A-2C49B3E3778D}"/>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9F5128B8-2DDD-0EDA-5A3A-03FB38AC5DD5}"/>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33C38EC2-EECF-4B4F-F80F-06E98A05441F}"/>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B62F3545-5570-7DAF-E13D-E848A864232D}"/>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AA4D2CB5-53F1-F6B9-8795-DFEF130B5E14}"/>
              </a:ext>
            </a:extLst>
          </p:cNvPr>
          <p:cNvSpPr txBox="1">
            <a:spLocks/>
          </p:cNvSpPr>
          <p:nvPr/>
        </p:nvSpPr>
        <p:spPr>
          <a:xfrm>
            <a:off x="-3048" y="2111374"/>
            <a:ext cx="8392305"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Single Program Multiple Data (SPMD)</a:t>
            </a:r>
          </a:p>
          <a:p>
            <a:pPr lvl="1" indent="-457200">
              <a:buSzPts val="2800"/>
            </a:pPr>
            <a:r>
              <a:rPr lang="en-US" dirty="0">
                <a:solidFill>
                  <a:schemeClr val="dk1"/>
                </a:solidFill>
                <a:latin typeface="Arial"/>
                <a:ea typeface="Arial"/>
                <a:cs typeface="Arial"/>
                <a:sym typeface="Arial"/>
              </a:rPr>
              <a:t>SPMD is actually a "high level" programming model that can be built upon any combination of the previously mentioned parallel programming models.</a:t>
            </a:r>
          </a:p>
          <a:p>
            <a:pPr lvl="1" indent="-457200">
              <a:buSzPts val="2800"/>
            </a:pPr>
            <a:r>
              <a:rPr lang="en-US" dirty="0">
                <a:solidFill>
                  <a:schemeClr val="dk1"/>
                </a:solidFill>
                <a:latin typeface="Arial"/>
                <a:ea typeface="Arial"/>
                <a:cs typeface="Arial"/>
                <a:sym typeface="Arial"/>
              </a:rPr>
              <a:t>SINGLE PROGRAM: All tasks execute their copy of the same program simultaneously. This program can be threads, message passing, data parallel or hybrid.</a:t>
            </a:r>
          </a:p>
          <a:p>
            <a:pPr lvl="1" indent="-457200">
              <a:buSzPts val="2800"/>
            </a:pPr>
            <a:r>
              <a:rPr lang="en-US" dirty="0">
                <a:solidFill>
                  <a:schemeClr val="dk1"/>
                </a:solidFill>
                <a:latin typeface="Arial"/>
                <a:ea typeface="Arial"/>
                <a:cs typeface="Arial"/>
                <a:sym typeface="Arial"/>
              </a:rPr>
              <a:t>MULTIPLE DATA: All tasks may use different data</a:t>
            </a:r>
          </a:p>
        </p:txBody>
      </p:sp>
      <p:pic>
        <p:nvPicPr>
          <p:cNvPr id="3" name="Picture 2">
            <a:extLst>
              <a:ext uri="{FF2B5EF4-FFF2-40B4-BE49-F238E27FC236}">
                <a16:creationId xmlns:a16="http://schemas.microsoft.com/office/drawing/2014/main" id="{23A2A6EF-90B3-6AE2-303D-D80D8DDEC012}"/>
              </a:ext>
            </a:extLst>
          </p:cNvPr>
          <p:cNvPicPr>
            <a:picLocks noChangeAspect="1"/>
          </p:cNvPicPr>
          <p:nvPr/>
        </p:nvPicPr>
        <p:blipFill>
          <a:blip r:embed="rId3"/>
          <a:stretch>
            <a:fillRect/>
          </a:stretch>
        </p:blipFill>
        <p:spPr>
          <a:xfrm>
            <a:off x="8109748" y="2890685"/>
            <a:ext cx="3922595" cy="1348392"/>
          </a:xfrm>
          <a:prstGeom prst="rect">
            <a:avLst/>
          </a:prstGeom>
        </p:spPr>
      </p:pic>
    </p:spTree>
    <p:extLst>
      <p:ext uri="{BB962C8B-B14F-4D97-AF65-F5344CB8AC3E}">
        <p14:creationId xmlns:p14="http://schemas.microsoft.com/office/powerpoint/2010/main" val="4194038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883E21F5-1AB4-9D89-2C39-EE91EFC50DCE}"/>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046FE21E-083B-7890-7D1E-DB0E7AABAA80}"/>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8A935B28-EF5E-891C-191C-1FCD360AEDD0}"/>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E532A403-ECA3-4F44-F0C9-6E6F662A4E86}"/>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59603C82-02BA-6C4A-2623-C85598A87227}"/>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F80C9852-2E5E-3766-FB15-114CFFA0DD57}"/>
              </a:ext>
            </a:extLst>
          </p:cNvPr>
          <p:cNvSpPr txBox="1">
            <a:spLocks/>
          </p:cNvSpPr>
          <p:nvPr/>
        </p:nvSpPr>
        <p:spPr>
          <a:xfrm>
            <a:off x="-3048" y="2111374"/>
            <a:ext cx="11919277"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Single Program Multiple Data (SPMD)</a:t>
            </a:r>
          </a:p>
          <a:p>
            <a:pPr lvl="1" indent="-457200">
              <a:buSzPts val="2800"/>
            </a:pPr>
            <a:r>
              <a:rPr lang="en-US" dirty="0">
                <a:solidFill>
                  <a:schemeClr val="dk1"/>
                </a:solidFill>
                <a:latin typeface="Arial"/>
                <a:ea typeface="Arial"/>
                <a:cs typeface="Arial"/>
                <a:sym typeface="Arial"/>
              </a:rPr>
              <a:t>SPMD programs usually have the necessary logic programmed into them to allow different tasks to branch or conditionally execute only those parts of the program they are designed to execute. That is, tasks do not necessarily have to execute the entire program - perhaps only a portion of it.</a:t>
            </a:r>
          </a:p>
          <a:p>
            <a:pPr lvl="1" indent="-457200">
              <a:buSzPts val="2800"/>
            </a:pPr>
            <a:r>
              <a:rPr lang="en-US" dirty="0">
                <a:solidFill>
                  <a:schemeClr val="dk1"/>
                </a:solidFill>
                <a:latin typeface="Arial"/>
                <a:ea typeface="Arial"/>
                <a:cs typeface="Arial"/>
                <a:sym typeface="Arial"/>
              </a:rPr>
              <a:t>The SPMD model, using message passing or hybrid programming, is probably the most commonly used parallel programming model for multi-node clusters.</a:t>
            </a:r>
          </a:p>
        </p:txBody>
      </p:sp>
    </p:spTree>
    <p:extLst>
      <p:ext uri="{BB962C8B-B14F-4D97-AF65-F5344CB8AC3E}">
        <p14:creationId xmlns:p14="http://schemas.microsoft.com/office/powerpoint/2010/main" val="1280195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1D6E578-2013-2FB1-7042-E6784B4A9098}"/>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D376D953-78DF-B0F8-9540-1000B3C148A4}"/>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6DEA086B-0FC3-2B35-BCE4-0FC501B0FC4C}"/>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90D188E7-3151-3CB5-2566-DEF1D4AC8872}"/>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70CA9A4E-63AE-2D5C-3B22-8A1E6DFE1FB8}"/>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53079C90-4500-78A9-A35C-4CA4C86FD33B}"/>
              </a:ext>
            </a:extLst>
          </p:cNvPr>
          <p:cNvSpPr txBox="1">
            <a:spLocks/>
          </p:cNvSpPr>
          <p:nvPr/>
        </p:nvSpPr>
        <p:spPr>
          <a:xfrm>
            <a:off x="-3048" y="2111374"/>
            <a:ext cx="8392305"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Multiple Program Multiple Data (SPMD)</a:t>
            </a:r>
          </a:p>
          <a:p>
            <a:pPr lvl="1" indent="-457200">
              <a:buSzPts val="2800"/>
            </a:pPr>
            <a:r>
              <a:rPr lang="en-US" dirty="0">
                <a:solidFill>
                  <a:schemeClr val="dk1"/>
                </a:solidFill>
                <a:latin typeface="Arial"/>
                <a:ea typeface="Arial"/>
                <a:cs typeface="Arial"/>
                <a:sym typeface="Arial"/>
              </a:rPr>
              <a:t>Like SPMD, MPMD is actually a "high level" programming model that can be built upon any combination of the previously mentioned parallel programming models.</a:t>
            </a:r>
          </a:p>
          <a:p>
            <a:pPr lvl="1" indent="-457200">
              <a:buSzPts val="2800"/>
            </a:pPr>
            <a:r>
              <a:rPr lang="en-US" dirty="0">
                <a:solidFill>
                  <a:schemeClr val="dk1"/>
                </a:solidFill>
                <a:latin typeface="Arial"/>
                <a:ea typeface="Arial"/>
                <a:cs typeface="Arial"/>
                <a:sym typeface="Arial"/>
              </a:rPr>
              <a:t>MULTIPLE PROGRAM: Tasks may execute different programs simultaneously. The programs can be threads, message passing, data parallel or hybrid.</a:t>
            </a:r>
          </a:p>
          <a:p>
            <a:pPr lvl="1" indent="-457200">
              <a:buSzPts val="2800"/>
            </a:pPr>
            <a:r>
              <a:rPr lang="en-US" dirty="0">
                <a:solidFill>
                  <a:schemeClr val="dk1"/>
                </a:solidFill>
                <a:latin typeface="Arial"/>
                <a:ea typeface="Arial"/>
                <a:cs typeface="Arial"/>
                <a:sym typeface="Arial"/>
              </a:rPr>
              <a:t>MULTIPLE DATA: All tasks may use different data</a:t>
            </a:r>
          </a:p>
        </p:txBody>
      </p:sp>
      <p:pic>
        <p:nvPicPr>
          <p:cNvPr id="5" name="Picture 4">
            <a:extLst>
              <a:ext uri="{FF2B5EF4-FFF2-40B4-BE49-F238E27FC236}">
                <a16:creationId xmlns:a16="http://schemas.microsoft.com/office/drawing/2014/main" id="{A78183D6-03F2-B969-952D-AC4ECB99FDD8}"/>
              </a:ext>
            </a:extLst>
          </p:cNvPr>
          <p:cNvPicPr>
            <a:picLocks noChangeAspect="1"/>
          </p:cNvPicPr>
          <p:nvPr/>
        </p:nvPicPr>
        <p:blipFill>
          <a:blip r:embed="rId3"/>
          <a:stretch>
            <a:fillRect/>
          </a:stretch>
        </p:blipFill>
        <p:spPr>
          <a:xfrm>
            <a:off x="7940603" y="3014886"/>
            <a:ext cx="4194310" cy="1469801"/>
          </a:xfrm>
          <a:prstGeom prst="rect">
            <a:avLst/>
          </a:prstGeom>
        </p:spPr>
      </p:pic>
    </p:spTree>
    <p:extLst>
      <p:ext uri="{BB962C8B-B14F-4D97-AF65-F5344CB8AC3E}">
        <p14:creationId xmlns:p14="http://schemas.microsoft.com/office/powerpoint/2010/main" val="2963260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FE01DBEF-0D6F-BFDE-0B4F-BB6BE067C8D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7E6656F7-B7D4-1FF8-FD7E-57009F0C14C4}"/>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00434114-B392-5A96-6660-2FC37EF57351}"/>
              </a:ext>
            </a:extLst>
          </p:cNvPr>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4E313932-E38F-2FE7-5686-D8A74E4104B0}"/>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E9651F82-F4C2-3B00-07C1-9A40D22258F0}"/>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Parallel Programming Models</a:t>
            </a:r>
            <a:endParaRPr dirty="0"/>
          </a:p>
        </p:txBody>
      </p:sp>
      <p:sp>
        <p:nvSpPr>
          <p:cNvPr id="4" name="Google Shape;141;p4">
            <a:extLst>
              <a:ext uri="{FF2B5EF4-FFF2-40B4-BE49-F238E27FC236}">
                <a16:creationId xmlns:a16="http://schemas.microsoft.com/office/drawing/2014/main" id="{A673FB5B-70D6-D1C5-C996-08C6EA3F1444}"/>
              </a:ext>
            </a:extLst>
          </p:cNvPr>
          <p:cNvSpPr txBox="1">
            <a:spLocks/>
          </p:cNvSpPr>
          <p:nvPr/>
        </p:nvSpPr>
        <p:spPr>
          <a:xfrm>
            <a:off x="-3048" y="2111374"/>
            <a:ext cx="11919277" cy="47466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Multiple Program Multiple Data (SPMD)</a:t>
            </a:r>
          </a:p>
          <a:p>
            <a:pPr lvl="1" indent="-457200">
              <a:buSzPts val="2800"/>
            </a:pPr>
            <a:r>
              <a:rPr lang="en-US" dirty="0">
                <a:solidFill>
                  <a:schemeClr val="dk1"/>
                </a:solidFill>
                <a:latin typeface="Arial"/>
                <a:ea typeface="Arial"/>
                <a:cs typeface="Arial"/>
                <a:sym typeface="Arial"/>
              </a:rPr>
              <a:t>MPMD applications are not as common as SPMD applications, but may be better suited for certain types of problems, particularly those that lend themselves better to functional decomposition than domain decomposition (discussed later under Partitioning).</a:t>
            </a:r>
          </a:p>
        </p:txBody>
      </p:sp>
    </p:spTree>
    <p:extLst>
      <p:ext uri="{BB962C8B-B14F-4D97-AF65-F5344CB8AC3E}">
        <p14:creationId xmlns:p14="http://schemas.microsoft.com/office/powerpoint/2010/main" val="1679597775"/>
      </p:ext>
    </p:extLst>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5226</TotalTime>
  <Words>1800</Words>
  <Application>Microsoft Office PowerPoint</Application>
  <PresentationFormat>Widescreen</PresentationFormat>
  <Paragraphs>157</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Avenir</vt:lpstr>
      <vt:lpstr>Calibri</vt:lpstr>
      <vt:lpstr>Google Sans</vt:lpstr>
      <vt:lpstr>BlockprintVTI</vt:lpstr>
      <vt:lpstr>CSDC-446 Parallel and Distributed Computing</vt:lpstr>
      <vt:lpstr>Topics Covered</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lpstr>Parallel Programming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CS621 Parallel and Distributed Computing</dc:title>
  <dc:creator>Academics 1</dc:creator>
  <cp:lastModifiedBy>ideal</cp:lastModifiedBy>
  <cp:revision>580</cp:revision>
  <dcterms:created xsi:type="dcterms:W3CDTF">2022-12-26T05:14:17Z</dcterms:created>
  <dcterms:modified xsi:type="dcterms:W3CDTF">2025-02-20T04:42:58Z</dcterms:modified>
</cp:coreProperties>
</file>