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9" r:id="rId3"/>
    <p:sldId id="517" r:id="rId4"/>
    <p:sldId id="518" r:id="rId5"/>
    <p:sldId id="519" r:id="rId6"/>
    <p:sldId id="520" r:id="rId7"/>
    <p:sldId id="521" r:id="rId8"/>
    <p:sldId id="522" r:id="rId9"/>
    <p:sldId id="523" r:id="rId10"/>
    <p:sldId id="524" r:id="rId11"/>
    <p:sldId id="526" r:id="rId12"/>
    <p:sldId id="525" r:id="rId13"/>
    <p:sldId id="527" r:id="rId14"/>
    <p:sldId id="528" r:id="rId15"/>
    <p:sldId id="529" r:id="rId16"/>
    <p:sldId id="530" r:id="rId17"/>
    <p:sldId id="531" r:id="rId18"/>
    <p:sldId id="532" r:id="rId19"/>
    <p:sldId id="533" r:id="rId20"/>
    <p:sldId id="534" r:id="rId21"/>
    <p:sldId id="473" r:id="rId22"/>
    <p:sldId id="535" r:id="rId23"/>
    <p:sldId id="550" r:id="rId24"/>
    <p:sldId id="538" r:id="rId25"/>
    <p:sldId id="551" r:id="rId26"/>
    <p:sldId id="539" r:id="rId27"/>
    <p:sldId id="552" r:id="rId28"/>
    <p:sldId id="553" r:id="rId29"/>
    <p:sldId id="554" r:id="rId30"/>
    <p:sldId id="541" r:id="rId31"/>
    <p:sldId id="543" r:id="rId32"/>
    <p:sldId id="544" r:id="rId33"/>
    <p:sldId id="545" r:id="rId34"/>
    <p:sldId id="536" r:id="rId35"/>
    <p:sldId id="546" r:id="rId36"/>
    <p:sldId id="547" r:id="rId37"/>
    <p:sldId id="548" r:id="rId38"/>
    <p:sldId id="549" r:id="rId39"/>
    <p:sldId id="555" r:id="rId40"/>
    <p:sldId id="556" r:id="rId41"/>
    <p:sldId id="557" r:id="rId42"/>
    <p:sldId id="558" r:id="rId43"/>
    <p:sldId id="559" r:id="rId44"/>
    <p:sldId id="560" r:id="rId45"/>
    <p:sldId id="562" r:id="rId4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3" roundtripDataSignature="AMtx7mjLOmqfjBRYjHjL0yn0qA3zyNo6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349" autoAdjust="0"/>
  </p:normalViewPr>
  <p:slideViewPr>
    <p:cSldViewPr snapToGrid="0">
      <p:cViewPr varScale="1">
        <p:scale>
          <a:sx n="44" d="100"/>
          <a:sy n="44" d="100"/>
        </p:scale>
        <p:origin x="150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83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0C2D6EFA-8B12-D14C-39D4-41DE076C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7A7AE47B-7908-23A6-D0FB-CBA79E477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5E2B5DD3-BFDE-3AB8-D675-E24A358314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E6A65A7C-5E0B-5D03-85C1-3A4E6E31FB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4019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10630106-4064-FBAF-14CC-713C97664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75B1899F-DEC7-7AFB-EF44-2FEBC85F0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89C84909-7CEB-9671-852A-35C979F1C6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A306A4CE-80FC-8685-C39A-C50DFE6F72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8004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566034DD-DE9A-B399-1E5B-00F55FB3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99E39713-A747-392F-7608-776837BB9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4D89433D-659D-FEB2-A65D-538271F86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3D030AF9-106C-F9F9-39FC-6C8391EFF6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048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1F76847-B517-1823-2095-005FBF9D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CBE74079-9D03-1E4A-F8C8-5CA1B6B64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6CA77F2B-89E9-E7B9-7A03-547B2553E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47014F58-8D15-5D3F-0860-B9F698C547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4572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E7ADB179-B44D-E5E7-8661-AC3C7939D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CD78FD17-ED23-DC08-A899-9EAED21A0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ED7E3FDB-AEF3-4F65-D729-7397E0BDFA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4A54719F-F166-3EFC-CCD6-7D54E328FC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9975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0E3607A3-C9EA-3A54-185D-B5AB6396D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38D068B0-1388-7EEC-7E3D-22A0BDBBAB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0B131C64-94FD-F7F9-E0C0-EDFB486D1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B12B88B5-CBFF-2AB6-5D8D-1059907BBF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8626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E2C6C351-C7D4-2200-4E72-D05874B5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74C75FF5-BD9B-57E0-E217-52809D6B4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6029D167-4C02-FFE7-71DF-FB93C2D918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D743BD42-A7F8-BA63-AE70-D74394933F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2206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0318E9BA-1C6D-3154-39D4-48570452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1AFCC118-B1CB-88D1-B45E-978BE7921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7F680586-B79A-1A23-0BFD-2D40C054D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DD3816D7-FA15-36FC-12AF-B0D36BE51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0975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4357346C-AB69-2CA1-0F00-29B629D8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81B76555-B8C1-4B61-260E-441FD1D88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D157F917-C655-DA1D-807A-DC2551A7A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9D177472-5C04-2FC9-B3D9-7B1BD516D6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7501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95423D26-E5A0-3DDC-49B0-C935206E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7905661F-827B-A05F-BC7C-B746AA813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81C19003-9845-5C3A-7D33-490E109226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Granualiry</a:t>
            </a:r>
            <a:r>
              <a:rPr lang="en-US" dirty="0"/>
              <a:t> = Computation/Communication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= 10 sec/</a:t>
            </a:r>
            <a:r>
              <a:rPr lang="en-US"/>
              <a:t>2 sec = 5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187D9006-2104-14BF-39E5-3155F8534F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23043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103E63BA-FE1B-611A-54D8-80BF3BC2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F8D453B6-937B-55A9-0B1D-B2D8C1E44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BE0D7A29-87C7-C8A4-5514-F1EA11EDFD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0F81BC4B-8770-EBCD-7C8C-4E6A481AE9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4262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A824CA1C-AEDA-C971-04B2-16EF95CC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3D28733D-142F-749D-55AA-C92B9F6E56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657B3EFF-130F-DE30-7A14-F55B745B71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9724723E-5D0A-A57D-9D12-2A0499BF11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6508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A7C8586-B72B-8E48-1864-8696EEE0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EC988F26-09B6-1EF7-54A9-5B0347964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292717B8-1B75-953A-402A-9C26ECE54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4A30C969-B4AA-7A3F-E42F-D44E271FBC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6949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279C106B-D5A3-42D1-0A97-74D21B56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99E3D7F3-7F45-7BA6-BD0A-154F04567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30D25D50-612B-9202-A82D-96C6D05EF6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9C71D6A6-84A5-2D5C-0512-EE6C2A542A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655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7DB5E295-69D7-3A31-2084-E92B3526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6D712614-477E-04A2-E23F-840EFF8E9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EC4CD156-E3B9-09CD-4335-1AD0E05DEF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15936184-834E-BA75-6BD2-DCF97D23A0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06943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F4EF0CF-EF27-BEE5-D41F-0C2ACF2F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7958139A-38ED-D792-9631-5245416F4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645C294D-99F9-571E-F213-A2D00E6E66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824AD494-E32E-426A-5272-E479BEF491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5041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0E2D66DB-C3FB-E844-AE79-31C8D18D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BFD7140F-5ADA-A633-9F0C-DF526661A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8CBDF277-953E-9CC6-1052-087F9483D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28E799B3-A941-64B6-C417-E2BE6C93C3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4218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8F73A34A-6237-26B6-8A8C-B1E127BD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FFC18193-25FC-BFD3-C55D-EB8A07C67B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6305E4B9-6FE2-178F-F8C4-820DA73ED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CAD737B3-87B9-AAD9-03D2-869064298A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09693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AE89A19-538C-6BC5-0B5E-320923F4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9A5CEDFB-70D0-78EE-3FA5-6A63A7AB51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AF8B2FFB-48CE-39FC-B17B-E1742250B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C4E5A4A8-8E58-788D-0314-AECE445006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01418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784D1DB5-02B3-69F9-8B05-B0805812A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F3DD7343-767A-004D-83C8-A1EA140B30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C15097DA-AEA1-319E-A342-71D5E98BB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https://hpc.llnl.gov/documentation/tutorials/introduction-parallel-computing-tutorial##Designing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18CC386C-B655-C632-EBF3-6E0628FDF4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00829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C5A022E8-F45E-F495-7630-9E6053A93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B88F5736-D17D-2C5F-B72A-B56269C658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90F9078F-6C1E-7660-858C-102C15B4B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8EEC3BE2-42D5-6E72-E379-D203B9124B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1934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9BB285E5-01C9-B349-5EE4-AE310AD0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564E1C92-0A23-3793-12C4-24E755C76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9DEBED1A-43BB-9A1A-3355-894BDE2C1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AFEE4A61-7CBF-F026-920A-9644DEF2CF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04888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F233A80-7DF6-E590-022F-701CFE4DD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ED9A004D-4670-2CBF-DB4D-036E4BD57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9CA508D7-56B7-3F49-E062-3EDD5AFDF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0D71985B-F429-EF70-6063-2FF3649DB6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32033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03A6548A-ADFA-6760-9DD6-E1162918D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DA318B80-DF7A-FE0A-D84B-9A8E77BD96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1F6F39C5-8CEE-D332-0FEA-F47CF82E8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513E98F3-BC11-4681-D638-F2EAAD59AE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2997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1009DE1-5628-763E-C013-4347CEB1D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F151879B-45A3-CC04-8519-F4B431C82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4E673BC2-48F0-E97E-D487-76FAD8A37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000AF233-E24B-84BD-3CCF-CB5CACF0A9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78919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BAEA01B0-194A-9327-0F54-5D6F7B30D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D1BEDD54-DB11-75E1-1363-BECC3B441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2A033F8D-8ECE-7398-FB65-270D025EF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25374445-742C-92D0-7550-43BE0C2CE2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7474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4EA5252C-979A-5AEE-DCF1-681B2DEC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64EF6D9D-3F18-9231-21A0-8E1FC12BE0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89D0D193-1177-0DCB-2B19-F45487CFB3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BFED4244-E523-571B-987A-C3D14CE3E8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90286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79278C6D-B367-2F6F-673E-F83CBDFD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A0BD4288-96EF-DDD8-0216-8745F43CC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4DB16D8B-6872-A128-25CF-6D9FDE4861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E8435AF8-5A30-A93D-C2E5-6C7BAB073A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35362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177989ED-C7E3-DF9C-2FFE-3E066083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14CEF419-F7F9-282F-871F-D9A0F23320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A96B4BED-A6F7-72C4-B048-9FA49538E2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09086B22-08BE-8110-9FB0-A23A8DDCFE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55431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C66E1608-C933-8737-6DC2-1DDBAB04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7376C2DE-A47F-166E-7451-022F82BBC8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09B62DBC-9718-DB83-CC88-BCF9B7667F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EE83B004-B767-6639-B42F-EFB9347D53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15408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C3376A13-AF0F-E9DD-9F00-3D246DEB6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82A144FC-10F7-9F2F-4D77-48E972B5A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95900E6C-9CAC-D6C3-E300-FB37DBEEC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8E132A1E-8405-FC3F-EF37-A718FF780B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602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E945889-F9E8-71DB-3293-25B6C0004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A36899B6-6F4D-C5FB-8901-15CDE5EDE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092E424A-55FB-AAF0-A84D-984481871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E8CCB974-7BFF-3338-506D-3B5B33C8EE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0459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77EA3962-0C71-58E8-1742-A8B534F0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D78D3E32-D9CD-22E5-6842-B738D2215E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CDEABAFB-F9B5-9111-4A9B-CBE924E9F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F0DB6B5E-FA23-7B25-4F07-F163A2B52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7616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B902773F-FF13-3EAF-BB17-FE11729C9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D06B2BAA-47F6-46D0-A726-A60112519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5E1E888C-6B54-DE78-C9E5-216383BE2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96AEA019-5AEA-73D8-3A45-12FE693848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36595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E9F75FB-BD63-3A70-1A91-74792A9D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3F6DB669-7739-AC74-CAB0-0B84D4FBB7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9BA6C0F6-5C30-EA8C-6618-95983F89F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E16A4BD6-BBB2-24B6-10AE-CD32F86089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18606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920424CB-407F-5939-E6EE-79F3BF23A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88266B4F-C79C-8F3C-AB42-6D4592513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4D03A15F-8E63-6426-C5F3-9FF3DAE46F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1FE522BF-C82A-57FE-7A3E-986B245E24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49725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EA747A1-1D19-195B-A53F-4173AA43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23CBCFD4-8246-52BA-05D9-B71CB4CC45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7666610C-4B60-1970-1C63-C228171A3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B1A1E78B-CE51-434E-176D-CF2E374536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60635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82B817A0-D15F-7C5E-B62A-E6FAF9FB9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45F6A73A-BA11-867E-ACF8-C4873309EE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8FD74F79-4E9C-DEF5-29AC-B793FA3CD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E2FF3838-8700-B910-04DC-4EFEC2C600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77801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7EE659B1-220A-1547-CCC2-B7D1D492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8CC588AA-5346-F0FC-02BC-8AC980D287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E917B8C4-12A8-91DA-4F29-E96A721959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46C7EA7C-71A6-EF49-27A3-8797576832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65282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5768C8B1-988A-91A3-0CB9-7A41362A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282868F9-3698-098C-C251-36D1744CA2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54713522-A37B-5D28-D811-ED719247DA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103A29A1-BB0A-21C3-88BB-CA75DB4187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13521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89E2B30D-3C3C-0504-500E-10DAA275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F75525DA-670D-8C7E-0EB0-4DB046D7A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83DE0B14-7B7C-DACE-B1EB-8BC5C9E73C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33A1A210-C58D-6038-BBC1-2290475C61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88524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1A5C1788-1728-94DF-0A64-AD9380B0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0C6BA40B-7391-3D31-D8EA-4111B6CD30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D443D2AD-E5A0-1ED5-7D41-6AA4BAC664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Blocking Send:</a:t>
            </a:r>
            <a:r>
              <a:rPr lang="en-US" dirty="0"/>
              <a:t> the sending process is blocked until the message is received either by the receiving process or by the mailbox.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Block Receive:</a:t>
            </a:r>
            <a:r>
              <a:rPr lang="en-US" dirty="0"/>
              <a:t> the receiver blocks until a message is available.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0E312E01-E612-9491-093D-12AFF57F39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20331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B5828393-3F2D-7375-24AD-FCB4014CB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1A2AC041-1746-EC2B-7688-4FC0082D3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3EAB249F-FF53-08D0-5AB4-DC4EDF71A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Non Blocking Send:</a:t>
            </a:r>
            <a:r>
              <a:rPr lang="en-US" dirty="0"/>
              <a:t> the sending process sends the message and immediately resumes operation.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Non Blocking Receive:</a:t>
            </a:r>
            <a:r>
              <a:rPr lang="en-US" dirty="0"/>
              <a:t> if there is no waiting message, the process continues executing, abandoning the attempt to receive.</a:t>
            </a:r>
            <a:endParaRPr dirty="0"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DC5C5AEF-B6A0-8988-3603-D4B7BA38E3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615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63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3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3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4"/>
          <p:cNvSpPr txBox="1"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4"/>
          <p:cNvSpPr txBox="1"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4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4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4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5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5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5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6"/>
          <p:cNvSpPr txBox="1"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6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6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6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7"/>
          <p:cNvSpPr txBox="1"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7"/>
          <p:cNvSpPr txBox="1">
            <a:spLocks noGrp="1"/>
          </p:cNvSpPr>
          <p:nvPr>
            <p:ph type="body" idx="2"/>
          </p:nvPr>
        </p:nvSpPr>
        <p:spPr>
          <a:xfrm>
            <a:off x="839788" y="2666999"/>
            <a:ext cx="5157787" cy="3522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7"/>
          <p:cNvSpPr txBox="1">
            <a:spLocks noGrp="1"/>
          </p:cNvSpPr>
          <p:nvPr>
            <p:ph type="body" idx="3"/>
          </p:nvPr>
        </p:nvSpPr>
        <p:spPr>
          <a:xfrm>
            <a:off x="6172200" y="1752600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7"/>
          <p:cNvSpPr txBox="1">
            <a:spLocks noGrp="1"/>
          </p:cNvSpPr>
          <p:nvPr>
            <p:ph type="body" idx="4"/>
          </p:nvPr>
        </p:nvSpPr>
        <p:spPr>
          <a:xfrm>
            <a:off x="6172200" y="2666999"/>
            <a:ext cx="5183188" cy="3522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7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7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7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8"/>
          <p:cNvSpPr txBox="1"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8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8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8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9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9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9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7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70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0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0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7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71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1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1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2"/>
          <p:cNvSpPr txBox="1"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2"/>
          <p:cNvSpPr txBox="1">
            <a:spLocks noGrp="1"/>
          </p:cNvSpPr>
          <p:nvPr>
            <p:ph type="body" idx="1"/>
          </p:nvPr>
        </p:nvSpPr>
        <p:spPr>
          <a:xfrm rot="5400000">
            <a:off x="3998119" y="-1210468"/>
            <a:ext cx="4195763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72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2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2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7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73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3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3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" name="Google Shape;11;p62"/>
          <p:cNvPicPr preferRelativeResize="0"/>
          <p:nvPr/>
        </p:nvPicPr>
        <p:blipFill rotWithShape="1">
          <a:blip r:embed="rId13">
            <a:alphaModFix amt="35000"/>
          </a:blip>
          <a:srcRect/>
          <a:stretch/>
        </p:blipFill>
        <p:spPr>
          <a:xfrm>
            <a:off x="0" y="1"/>
            <a:ext cx="12192000" cy="139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2"/>
          <p:cNvSpPr txBox="1"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  <a:defRPr sz="44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62"/>
          <p:cNvSpPr txBox="1"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4" name="Google Shape;14;p62"/>
          <p:cNvSpPr txBox="1">
            <a:spLocks noGrp="1"/>
          </p:cNvSpPr>
          <p:nvPr>
            <p:ph type="dt" idx="10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5" name="Google Shape;15;p62"/>
          <p:cNvSpPr txBox="1">
            <a:spLocks noGrp="1"/>
          </p:cNvSpPr>
          <p:nvPr>
            <p:ph type="ftr" idx="11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6" name="Google Shape;16;p62"/>
          <p:cNvSpPr txBox="1">
            <a:spLocks noGrp="1"/>
          </p:cNvSpPr>
          <p:nvPr>
            <p:ph type="sldNum" idx="12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0" y="1"/>
            <a:ext cx="12192000" cy="13924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2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l="9052" r="15486" b="-2"/>
          <a:stretch/>
        </p:blipFill>
        <p:spPr>
          <a:xfrm>
            <a:off x="5996628" y="-1308"/>
            <a:ext cx="6195372" cy="461823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6" name="Google Shape;96;p1"/>
          <p:cNvSpPr/>
          <p:nvPr/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rotWithShape="1">
            <a:blip r:embed="rId5">
              <a:alphaModFix amt="20000"/>
            </a:blip>
            <a:tile tx="88900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1"/>
          <p:cNvSpPr txBox="1"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venir"/>
              <a:buNone/>
            </a:pPr>
            <a:r>
              <a:rPr lang="en-US" sz="4100" dirty="0"/>
              <a:t>CSDC-446 Parallel and Distributed Computing</a:t>
            </a:r>
            <a:endParaRPr sz="4100" dirty="0"/>
          </a:p>
        </p:txBody>
      </p:sp>
      <p:sp>
        <p:nvSpPr>
          <p:cNvPr id="98" name="Google Shape;98;p1"/>
          <p:cNvSpPr txBox="1">
            <a:spLocks noGrp="1"/>
          </p:cNvSpPr>
          <p:nvPr>
            <p:ph type="subTitle" idx="1"/>
          </p:nvPr>
        </p:nvSpPr>
        <p:spPr>
          <a:xfrm>
            <a:off x="0" y="-12211"/>
            <a:ext cx="5313452" cy="3935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6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Dr. </a:t>
            </a:r>
            <a:r>
              <a:rPr lang="en-US" sz="3600" b="1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Sehrish</a:t>
            </a:r>
            <a:r>
              <a:rPr lang="en-US" sz="36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Amjad</a:t>
            </a:r>
            <a:endParaRPr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2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Topics Covered</a:t>
            </a:r>
            <a:endParaRPr dirty="0"/>
          </a:p>
        </p:txBody>
      </p:sp>
      <p:sp>
        <p:nvSpPr>
          <p:cNvPr id="4" name="Google Shape;141;p4">
            <a:extLst>
              <a:ext uri="{FF2B5EF4-FFF2-40B4-BE49-F238E27FC236}">
                <a16:creationId xmlns:a16="http://schemas.microsoft.com/office/drawing/2014/main" id="{51427039-8E57-7CCE-9DFD-2CDF3DEDB0BE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-4572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Designing Parallel Programs</a:t>
            </a:r>
          </a:p>
          <a:p>
            <a:pPr indent="-4572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Inter-process Communication, Message Passing System</a:t>
            </a:r>
          </a:p>
          <a:p>
            <a:pPr lvl="1" indent="-457200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F5578DA7-AB35-EAB3-A76B-CE689A52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6397F5A9-A2D6-5EF2-EF2F-D9C72A2180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C91E3AD9-340A-602A-E5D8-C8C296EE282F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4EE5F0DD-C160-A59B-8DE8-E2B4507093D3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E5C2798F-DA94-2D2B-7375-21A053B9A0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043B02BC-F65A-BD2B-95BB-C1C385ED7479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Dependencies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dependence exists between program statements when the order of statements execution affects the results of the program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data dependence results from multiple use of the same location(s) in storage by different tasks.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Dependencies are important to parallel programming because they are one of the primary inhibitors to parallelism</a:t>
            </a:r>
          </a:p>
          <a:p>
            <a:pPr marL="342900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483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047FD811-5538-8685-C9AD-939C102A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1B3D6D6C-7600-7F25-86CB-26EB0504BDB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508D3A27-D963-629F-DCB4-5820F3707668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272F5876-5E88-8949-76D7-7FB85A14F689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69691F3B-E58B-CFF3-6AE1-C65A28BA0D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6681E41A-A367-1FC4-D367-4EAB7B3D967C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Dependencies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Loop carried data dependence (most important)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DO  J = MYSTART,MYEND 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A(J) = A(J-1) * 2.0 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CONTINUE 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value of A(J-1) must be computed before the value of A(J), therefore A(J) exhibits a data dependency on A(J-1). Parallelism is inhibited. 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Task 2 has A(J) and task 1 has A(J-1), computing the correct value of A(J) necessitates: 1 Calculate, 2 get value</a:t>
            </a:r>
          </a:p>
          <a:p>
            <a:pPr marL="342900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259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AA9A0356-4944-0F2F-6688-E85FD530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787BF946-A93A-521C-5B3E-B6A081E5580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BBB10864-CD1A-89AE-F709-8E5577563F10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C1E65260-7DE3-4CBC-3DE1-E44A1F40DBF6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2A02EFA1-3E1C-6137-2241-D55CB8BC9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E23AFC85-0D60-DC3E-4279-C1A36510E008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Dependencies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Loop independent data dependence 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1		 task 2  </a:t>
            </a:r>
          </a:p>
          <a:p>
            <a:pPr marL="800100" lvl="1">
              <a:buSzPts val="2800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X = 2 		X = 4  </a:t>
            </a:r>
          </a:p>
          <a:p>
            <a:pPr marL="800100" lvl="1">
              <a:buSzPts val="2800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Y = X**2 		Y = X**3 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with the previous example, parallelism is inhibited. The value of Y is dependent on: </a:t>
            </a:r>
          </a:p>
        </p:txBody>
      </p:sp>
    </p:spTree>
    <p:extLst>
      <p:ext uri="{BB962C8B-B14F-4D97-AF65-F5344CB8AC3E}">
        <p14:creationId xmlns:p14="http://schemas.microsoft.com/office/powerpoint/2010/main" val="352486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031A4C75-9F05-0A9A-6528-832AF7EB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1A92405A-0D3A-0E66-D5A2-655B1170164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59A09BBF-12B5-B134-32A8-9EF720141709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AB64B1D9-3E81-6529-4D50-F52B80FBECC8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7EAEDC04-CD2A-6D47-FA12-834E5B40B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7E4F1820-E902-4E38-A379-E5BA5B51E379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Dependencies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handle data dependencies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Distributed memory architectures - communicate required data at synchronization points. 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memory architectures -synchronize read/write operations between tasks. </a:t>
            </a:r>
          </a:p>
        </p:txBody>
      </p:sp>
    </p:spTree>
    <p:extLst>
      <p:ext uri="{BB962C8B-B14F-4D97-AF65-F5344CB8AC3E}">
        <p14:creationId xmlns:p14="http://schemas.microsoft.com/office/powerpoint/2010/main" val="18764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F96DC612-6170-8661-715D-CE81A078E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4C4F1784-0D2F-D92C-073D-160C0D1B152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3132EC43-3DA9-2AA0-B0F5-2A9BA38D1B4A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348836C7-1DEA-1500-F635-24C2938A637F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F916F3E6-E0C5-846D-58F7-7A0B51281B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30CCF07F-4307-C305-A448-16BEB64B0C84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Balancing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Refers to the practice of distributing work among tasks so that all task are kept busy all of the time. 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can be considered a Minimization of task idle time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 for performance reasons</a:t>
            </a:r>
          </a:p>
        </p:txBody>
      </p:sp>
    </p:spTree>
    <p:extLst>
      <p:ext uri="{BB962C8B-B14F-4D97-AF65-F5344CB8AC3E}">
        <p14:creationId xmlns:p14="http://schemas.microsoft.com/office/powerpoint/2010/main" val="3806730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91FBE145-DA48-AD2E-5B02-D10EA204B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8CE841B4-BB20-DC7A-57B8-24C3B8342DC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D8B983FC-FAE7-BC04-0871-D1325BE77B20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0D297456-7583-232B-FD06-7030E9D151D2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7F67F578-E06F-A432-B6A8-46A516BA90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979C0529-FF18-CAC0-4452-EA60AA9E9B70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Balancing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achieve?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Equally partition the work each task receives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dynamic work assignment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3871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B2B9D68A-52F2-3655-AC4B-5A6321E2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21D7E0D8-96A0-70DB-58FF-6D02E872128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B3FA25D1-41D1-1BCF-87C9-3FD6CA44DADD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6051281D-8A23-850F-025B-D737364E5655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B02977B5-EA84-141F-F03D-FB33EC35FC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AC3A88CD-84DB-7D22-EF4F-3CB663CC1D8B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Balancing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Equally partition the work each task receives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array/matrix operations where each task performs similar work, evenly distribute the data set among the tasks. 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loop iterations where the work done in each iteration is similar, evenly distribute the iterations across the tasks. 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3997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7C12C186-16BB-07F6-D2EE-9908D458E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BD2EB876-C541-D546-1483-8E65DDCD049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19800CEC-11AB-F8E8-9BCC-9B29C43106A3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7D9CA659-C850-212B-6507-0F2706D02AD4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8C493B6C-2B83-D410-67C7-E54EC72E46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C85B31A9-25B2-74D8-7E16-BAB034C390A7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Balancing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dynamic work assignment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amount of work each task will perform is intentionally variable, or is unable to be predicted, it may be helpful to use a scheduler - task pool approach. As each task finishes its work, it queues to get a new piece of work. 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may become necessary to design an algorithm which detects and handles load imbalances as they occur dynamically within the code.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Sparse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arrays:some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task with zeros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Adaptive grid methods: some task need to refine their mesh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7825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213BBE71-6B3C-CB67-E98A-7587CC09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4A9C7597-0AED-C485-3F29-EA2AE7AD51D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0EBE0E3B-6D18-8300-5DA4-5A45466A1652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114FAB02-0CB8-8781-1781-0FF9D3D832D2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EE3420EF-A72C-8098-B7E5-3FAA78DF35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E90D0079-5E16-B14B-AB15-16F76963AAC9}"/>
              </a:ext>
            </a:extLst>
          </p:cNvPr>
          <p:cNvSpPr txBox="1">
            <a:spLocks/>
          </p:cNvSpPr>
          <p:nvPr/>
        </p:nvSpPr>
        <p:spPr>
          <a:xfrm>
            <a:off x="0" y="2183038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Balancing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73D032-6C86-74C5-130E-0FAF9C311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269" y="3243487"/>
            <a:ext cx="6675461" cy="3113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76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010A5C4-E5E3-0CD7-A29E-6D1128A35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210C7EF8-9168-8CC4-BDD6-5BFDFD1D6B8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DD5492AB-0D39-713E-6E1B-56177672953D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F7497A72-8CE6-F387-1F2E-E81AAF1B9AFF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B50A0D0C-2A11-1DB1-42CA-B28DD2EFE8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984CBB6A-91FA-D05D-0469-AD9A0B23C9F7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Granularity (Computation / Communication Ratio)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Granularity is a qualitative measure of the ratio of computation to communication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Periods of computation are typically separated from periods of communication by synchronization events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types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Fine-grain Parallelism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Coarse-grain Parallelism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1360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6551287C-95ED-F01E-B391-BD3425A7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B2D5B046-8E6C-9C02-46C0-A28F6AC7BF9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C34D55BD-6691-2CF8-0947-ACE0096498E4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3F984993-68FA-27D2-95A5-32DF634B8899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ABEDD366-CD34-FDBB-7227-10616EF0D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32E64014-80ED-4AEB-2A08-6F295353420C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Granularity (Fine-grain Parallelism)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Relatively small amounts of computational work are done between communication events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computation to communication ratio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Implies high communication overhead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granularity is too fine it is possible that the overhead </a:t>
            </a:r>
          </a:p>
          <a:p>
            <a:pPr marL="457200" lvl="1" indent="0">
              <a:buSzPts val="2800"/>
              <a:buNone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for communications and synchronization </a:t>
            </a:r>
          </a:p>
          <a:p>
            <a:pPr marL="457200" lvl="1" indent="0">
              <a:buSzPts val="2800"/>
              <a:buNone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tasks takes longer than the computation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6AF1D-D70F-182E-26C5-65743617E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728" y="3706851"/>
            <a:ext cx="3322435" cy="250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26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FD4F6E6-67D0-7485-F952-E02CBD71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CC3866AF-289B-99F6-5B25-27DC6B3EAAB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ECE3B5BA-D782-8FA2-FA61-5DEBE7DAC6FC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20281D71-4C69-8C5B-7AB7-EEE0C266FBF7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9D684009-85A5-C901-F22A-731E8726B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3AAF8D2A-9B41-9D35-734E-47215A5C78ED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Granularity (Coarse-grain Parallelism)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Relatively large amounts of computational work are done between communication/synchronization events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computation to communication rate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Implies more opportunity for performance increase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Harder to load balance efficiently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19FB1-F63B-9914-4EC9-F5A4694BE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691" y="3749674"/>
            <a:ext cx="3217273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95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7469E70E-09D4-911B-4CF6-A295A919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276FDFCA-61F5-D939-FBF2-2488C84354B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D4AAB19C-2931-2B5D-012A-3DD0A6037D13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84D7531B-84E7-7997-97FD-EC0EFC510DE2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75884195-A23E-0E07-5D0D-D3F54DAF0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D94E615B-4A12-21A3-9A24-0A3DD87B8BED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Granularity (Which is best?)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most efficient granularity depend on the algorithm and the hardware environment in which it runs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most cases the overhead associated with communication and synchronization is high relative to execution speed so it is advantageous to have coarse granularity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Fine-grain parallelism can help reduce overheads due to load imbalance. Facilitates load balancing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5263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A0A8D554-F02E-2FF0-DA4B-0865AE60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BB4B12CA-A78C-5C27-095C-A5570A78F6F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A2A103C2-939F-FB4C-99A1-BADE3CDD1662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E33FC598-BA96-905D-56FF-5657BDC0237A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7CA01073-B07E-7A02-E982-299AAF8DE0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BC42A901-FD05-979D-8253-D1A94578E2C0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I/O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I/O operations are inhibitors to parallelism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 I/O systems may be immature or not available for all platforms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all of the tasks see the same file space, WRITE operations can result in file overwriting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operations can be affected by the file server’s ability to handle multiple read requests at the same time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I/O over networks can cause bottlenecks/crash file servers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5497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28F9DDEE-0E33-6337-2518-F238174C3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C5330259-64A3-E60B-4234-6BF1E0D15D9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69C6EC98-6BD1-1C6D-895E-B34F8EFA273D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39DD0C27-6CB1-F0FE-84DE-0FECA740488D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EE4D15F5-068A-27AA-5CC3-C17B0FC9F2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27823393-95C3-88EC-8E9E-57E1537E6A69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 applications are much more complex than corresponding serial applications.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of complexity is measured in programmer time in every aspect of the software development cycle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Design, Coding, Debugging, Tuning, Maintenance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1759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7593C99E-81E9-F57D-F788-AF314EA6B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53F31B46-7197-1010-9B88-CF09950118D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C316DF0C-112A-F627-A2EA-D6778A143420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B414058C-0DE2-DB26-D69A-848D47C1ED13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EB06B0A2-6F9F-DD87-8747-956281E45F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1DD67867-3167-FB47-8C36-41CFC4F43AE6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Portability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standardization in some API’s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s.t.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MPI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Implementations will differ in a number of details, requiring code modifications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HW architectures can affect portability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systems can play a key role in code portability issues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of the portability issues associated with serial programs apply to parallel programs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3136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7E0BE226-F5C5-11DC-0D4C-5874B724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6FAF94A5-FC3E-A1A1-655D-7E3516BEBD6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4053E0BC-0557-F3A9-57F6-5D048E5BCC3D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57CF8C2A-90C5-B961-2A02-7D8297ACCA3F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A7A00F34-8DDB-1340-DBAA-F8C9DE09C2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C1F8CC0B-1A11-02B4-919A-82999FF63D43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Resource Requirements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 of Parallel programming is to decrease execution wall clock time, more CPU time is required. e.g. 1 parallel code that runs 1 hour on 8 processors actually use 8 hours of CPU time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 of memory can be greater in parallel 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 parallel code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possibly 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 decrease in performance. (setting up the parallel environment, task creation/termination, communication)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9723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C860642A-BBDE-F205-CC89-A5C06967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2434C3A7-7636-8242-1DD5-EEC569A31A7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36171BFB-5600-CF29-F643-ED7D1672EC92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D29D62DA-5BE4-9201-7C9E-6566821545B9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6B06F622-4FF3-70AC-92C9-C839A0EBD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Roadmap to Designing Parallel Programs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6936CDE2-818E-CB27-CDA1-1107072F1C55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342900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of a number of interrelated factors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more machines is rarely the answer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some point, adding more resources causes performance to decrease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factors play a significant role in scalability.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Communications network bandwidth</a:t>
            </a:r>
          </a:p>
          <a:p>
            <a:pPr marL="1257300" lvl="2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 of memory available on any machine</a:t>
            </a:r>
          </a:p>
          <a:p>
            <a:pPr marL="800100" lvl="1">
              <a:buSzPts val="2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 support libraries and subsystems (limit) </a:t>
            </a:r>
          </a:p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4766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>
          <a:extLst>
            <a:ext uri="{FF2B5EF4-FFF2-40B4-BE49-F238E27FC236}">
              <a16:creationId xmlns:a16="http://schemas.microsoft.com/office/drawing/2014/main" id="{EE103C5B-2777-A757-C630-7EAE22E8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74E714F4-CE03-375F-11CB-6F3AE49935D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461B47BA-CB7B-B2CF-344D-BF94F36C929B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1BDB23E5-1280-C926-654D-DD793E1E3EF4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0023B423-BB41-F898-67C5-9E21FB02A9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3462" y="280416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>
                <a:solidFill>
                  <a:schemeClr val="tx1"/>
                </a:solidFill>
              </a:rPr>
              <a:t>Inter-Process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238156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0BC7A0B-6D73-90B2-4AC8-E66F97014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A5B6B732-F0C7-2AAC-F083-3FE73F3595F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00AB870F-3A9F-B9ED-6BE5-1494465DE006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00A75598-9C77-1CD5-1A1D-EA14DD57C184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6E981079-2348-AE5A-4F1B-92970E763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Inter-Process Communication (IPC)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97642D7A-C23F-CC2D-846E-197765EE8729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36C19-92BA-DEFF-FED0-F7ED07164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58" y="2225674"/>
            <a:ext cx="10786441" cy="452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57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0274A03D-A75F-55F2-37D1-1AD38F43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95A760B7-0DF1-F64E-957B-30B549903D3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BEE2388A-0B25-FEDE-3D57-6177BADEE6EC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A679B3CB-8CC3-B0C2-CAEA-B5FCEB011FB9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6E1D9097-5BE5-5676-BE39-65170CD92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3462" y="280416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>
                <a:solidFill>
                  <a:schemeClr val="tx1"/>
                </a:solidFill>
              </a:rPr>
              <a:t>Approaches of Inter-Process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485811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34692C70-0CE5-93AE-8956-07083B53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4353A9DC-5981-B5AC-8542-480CE55B760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B09D20AF-9E00-F3C1-BA95-9E588C2C7719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1B694E14-BA21-CA38-EC39-2C41A4000954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8A188094-AA5B-FF5E-595C-4FDF25A46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Approaches of IPC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D4E5A5CA-1267-3108-B6E1-ABE23CD4606B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9F7C8-8FA0-A07A-C0EB-404ACA9BF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033" y="2228845"/>
            <a:ext cx="4717568" cy="466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57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F29DA458-65BA-E14D-6BFE-B48D42499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6E2B3874-7B7D-012B-DB03-C012C0B7D81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4E91C6E1-AF0B-889D-9B41-BB1D11E2C0E5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8BA13E67-435F-7924-A0F2-D2078956FB3D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02074CB8-B0BC-4073-7E6B-4FC15F2B86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Approaches of IPC: PIPES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C668C475-EEF7-F617-F019-DDF71943D0E8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2D2D6D-DABD-5D28-4850-4287C9237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05" y="2223460"/>
            <a:ext cx="11124342" cy="434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35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6D536082-AF30-22E1-D7E3-81B8E08CA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F554A1B5-1B20-95DA-5A67-5F3878746C75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1C6C1332-C033-1520-D14C-9207EAE3AB4D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03564AD4-1064-EDC5-1D1D-C7F1AB11EE1C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7FFF796F-3756-9BF6-01AA-22B0A3530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Approaches of IPC : MESSAGE QUEUES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8DFD24B2-7AA3-A76F-7ECF-170512477666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CBF16-3A74-C296-8C3E-F31A5D64F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95" y="2282612"/>
            <a:ext cx="10757039" cy="440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35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BDE1DFE8-0163-B726-47BF-D8E2C014F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761AAEE7-BA6E-C94E-4A0C-ABB008454D22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8EB5D4E1-73E4-BF71-45F1-15E709F2521A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45F9D0CF-28E1-BE16-4DCE-143D05DC13BF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3051577D-CDA7-9056-75D0-8AAFF7907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Approaches of IPC : Shared Memory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E3B4518F-8D10-C870-B84E-BCF11D1351A3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00B46-67D9-94C8-CB6C-C537EE5C2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94" y="2239885"/>
            <a:ext cx="11804409" cy="461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95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F6AB9019-1C93-4502-9E43-BC135E47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A695E199-6368-B1D4-9FFE-1B2ABFCB571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9E096556-D582-1F81-CDE5-662298CF0353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FE08EBD8-4EFE-602D-A5EF-5D2A90B045F6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4998A4FC-8BCC-8552-B64E-3D3DC7B205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Approaches of IPC : Message Passing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8BC0CD82-D1C4-199A-D4EB-0CBD39FBFAB3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E7D84-3010-1152-B9AB-93C0E3843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50" y="2221458"/>
            <a:ext cx="11021678" cy="437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06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AA026E3-B245-1577-5901-1215D664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E701CE06-89D1-32F9-04DB-E67721321AF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57300309-C700-91CA-5D05-BCCE43292054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04334809-5CC6-F794-9929-83E53BF3718F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93A62FE9-5652-C27B-4726-78ABAF681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Approaches of IPC : Message Passing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7F43BD5A-2F4E-D6E0-A7CF-0A3E82CFF7BE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4D388-CD41-4F5E-1CBD-7826C4981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30" y="2225673"/>
            <a:ext cx="11327048" cy="334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86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AB3E3016-AB19-E4CD-698F-8A2B49996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F6ED97EE-A214-4AA6-DAAC-89B6CFD018F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AA4D9DB9-25D5-CDB1-72D8-3DD3EA160B52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C0F358F4-09FF-9873-0883-EADDAA540937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77BB0331-8959-3224-2AD2-A9E43418D1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Approaches of IPC: DIRECT COMMUNICATION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E679A64B-FA2E-9F97-967A-47DF14EA681F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9ED11-169C-890E-43FB-0A764E42A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00" y="2225674"/>
            <a:ext cx="98774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70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73DDDF7C-F563-B9D9-E221-01F6FC531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B6BED543-B7E5-ADEC-667A-24B49223519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F6CF8397-F9BA-8326-2717-5B89BA67DD1B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6C079544-696C-2470-2EFA-39E6A758499C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3CC5AA74-1846-7A9A-5502-69A2262701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Approaches of IPC : INDIRECT COMMUNICATION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84F1924D-5752-27A8-3614-895A0F6AD1E4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71FDA8-27A2-F5AB-612F-0391C6FB7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33" y="2225674"/>
            <a:ext cx="11785202" cy="391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91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85CFB5A1-3277-F8B4-0AC7-30B46812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6BC524D6-4E78-9099-0FBB-095156E7259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DB3D0A1F-B4A4-BF02-F39C-3BBF20E66DF7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23E107AC-5E26-9311-9652-F2E234CAAE47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DD0D1245-92E4-BE7B-03A0-7BE1A97F05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Approaches of IPC: FIFO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EC835AF9-EB03-E18F-B293-0B71E3E58AAA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1A6FF6-8FC7-82EA-AC72-B119EBD64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05" y="2225674"/>
            <a:ext cx="11809077" cy="44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16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1C030699-38ED-1FFD-7CEE-FD1C3F5C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84044BD8-B804-7D11-03E1-F2F25522282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9FB4B290-EB86-FB1B-FAE7-4173AF70FE29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6DD42F74-B87F-CCD6-5921-7354D5F7F911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4941FBC3-6059-CE67-3A5C-70FD5DB6D4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Communication Models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43EB1464-5037-3270-0F22-F60C1569183B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D5DEA-3790-A609-0D10-0348BF8E3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238" y="2260508"/>
            <a:ext cx="5595805" cy="459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98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8D851E73-4A60-05A8-EC5D-5504C571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6D2B209C-3C87-68EC-315F-A78DDFAB16A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7F5FCE7E-6235-7AAA-638D-2B35C8D755E7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3813EE75-5736-88FF-2EF7-E2A4016EC652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0E31EC1B-F401-1A5A-EA2B-99AF13193C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Shared Memory Model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AC653DA4-047A-5C8E-C5B5-E00E94FF8F08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1D4828-E86A-B780-FBFB-2F9F13590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03" y="2225673"/>
            <a:ext cx="11425694" cy="397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812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DB7094F-0290-8825-F9EE-0A4E7956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FA6D6595-D031-68FF-0633-92C1CE49F60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24889240-D391-669D-C923-F9DDE60CDF48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BFBB3755-9331-2376-CCFF-AD2125A15ADB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3FF5E0E5-8982-4B52-A3EA-59DC7560B5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Methods to Provide Synchronization in Shared Memory Model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21DC00D1-4550-6AFC-077E-732D93C1736F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F4F12-6EFF-9484-7CF7-6D32C3B95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21" y="2330350"/>
            <a:ext cx="11022428" cy="42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80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C38C5FFA-FEDE-CA50-75DD-0016DC0A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AB07254B-5C30-3532-5674-6F6B2C341D7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FDA11457-CC60-BF81-CBA3-B8FF4835AF02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AFD0D905-0F66-C8E7-4637-65C4EBF2283E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ABEF8D38-9378-E853-0FEA-CDCF14B08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Message Passing Model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E87C1DC9-22E3-2325-9247-B447F7F86FE4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A97DB-F214-742D-434A-B1F4EEF70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44" y="2274885"/>
            <a:ext cx="7770329" cy="453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787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C08B9414-6FEB-84A9-4024-EA7CD128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5ED0DDDB-5D62-C774-124D-88F64219527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77024FB4-CB80-5D16-CECB-4EB57B40997D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CC787EAC-D1F8-C6D7-EF98-B734B30C5FAC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AEF1B2E3-ECE5-440D-1593-973C4C4A17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Message Passing Implementation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88676CF4-E1D2-D3B9-05AA-F3286E3EDF72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CEA65-D4E0-DC79-CFEF-35ED5E8D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74" y="2228158"/>
            <a:ext cx="850582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986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0D82DC76-681D-E2B1-D994-3101A92C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FAB2AFC4-F154-523E-0E9C-2165FBFC303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88A67935-1E1A-B668-CDF2-77FE1D9C3D24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3C5DA145-AD81-5BB6-E445-9714BBF0037B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DE0667C9-5EFD-1A24-FAFB-F456A52B5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Communication Links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AF9E0E4D-1820-566D-F242-B47CACA2DF97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EB2ABA-826B-DE7A-FD56-4187B9102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60" y="2302280"/>
            <a:ext cx="11352892" cy="439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02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B8881308-7D00-923D-C181-7F1DCF9E9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7BA9FA89-B468-2FAB-E8CD-6FA12757D63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60D8C8B8-B5CD-AF0A-467F-E5D9FEB62D5F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05793C5F-0C30-0E28-A831-418CB4713AFD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47BA4AE4-85A7-1127-147D-A712C35644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Message Passing Communication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6CF673F0-2821-3810-F9B8-4C92E8FC5C8B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E94699-4BB6-68FB-9CFC-EC109AAA9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5" y="2225674"/>
            <a:ext cx="11577490" cy="345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56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361AAA8A-58D3-4CB6-17EA-89861D82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8964D77F-40FC-8924-6BE0-A979113B2E8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EE6860AA-BD8C-5438-C5CF-0E4E3BF9E1A9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80C79549-0282-A88C-D8FB-3CD787D77736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D34C757F-5993-CD3E-08C2-540A1EFE1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Direct Communication in Message passing System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BA71B887-1267-D553-EEEA-43FE1C74ADE6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22430-E42E-4D10-BE9B-DEBF0F688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67" y="2274885"/>
            <a:ext cx="8524875" cy="4238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A2327A-2897-FCE4-C9C4-08B068304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276" y="2526817"/>
            <a:ext cx="4920637" cy="210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67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21DA472B-C307-B225-79B2-365D1F6B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93B68448-ADE1-55B3-96BA-F1C90B24C8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364AFF22-E26D-59C8-DDD1-7D8290FAA6A9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A581C8B4-49E5-469A-8A8B-FF9A2A9762A9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F8F77171-E9F8-4131-3F7B-608670BF0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Direct Communication in Message Passing System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6CDAE698-6AC1-417E-CCBC-7C05C5282334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67BB7-346B-7E19-64F3-31C0BDB35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96" y="2263698"/>
            <a:ext cx="967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5884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42F6D35E-54D4-ED55-E68F-3992ED57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D99167E9-B58B-A84C-2838-2D274E4F7DE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97C50C3E-8EA0-9AF6-222E-AF54F3904276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88574376-225A-60CB-8365-45AE5CAF3FF1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EFCD9B1A-074E-97EC-B8E5-90442B5479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Direct Communication in Message Passing System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9C196A03-4481-875E-A810-6171A5F0F16D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406EF8-D8E2-BDBD-5CA8-9DD0F271F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12" y="2251073"/>
            <a:ext cx="96583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0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C6C75A81-D2A0-776F-73E0-BD8B94A4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8324DD1F-57EE-23BC-532B-2C321D194B9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49905859-637F-17CC-A0CC-4EB6C3AEC86A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34BE6FEA-C20F-DDF9-D3E0-6567B787BCE8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6D0D8882-C775-8E3F-DBE1-1DC2769D73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Indirect Communication in Message Passing System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8DF5CA8B-E0AC-D8C8-FC13-C875E5D3C916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960C06-ED15-68AD-9AEF-4324A1C8A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86" y="2168524"/>
            <a:ext cx="8663402" cy="4715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9BA056-4836-179D-D72E-84A83A138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466" y="2794073"/>
            <a:ext cx="4940247" cy="193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578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FBD74FF8-1265-F30E-99C8-0283423A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7CC6B9C3-ADE0-5D9F-6857-3AABEA76D5F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8B76F90F-6398-1DAD-7695-6AB43B199E1E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2243E96B-B466-4114-AD6C-7ED5B9E9155B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1ACF3FD6-C446-9448-52DB-ACF4DD8462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Message Synchronization in Indirect Communication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524C2235-1D53-8E10-4FC9-05272D90FF20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C05A8C-A2E1-8BB9-6821-FE37B4E52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" y="2225674"/>
            <a:ext cx="8943975" cy="1790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63DDB-E16D-673D-3168-1C19A2DAA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091" y="2843421"/>
            <a:ext cx="3874170" cy="17875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A02C4E-B017-D36F-98B3-4B8E2BF13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103" y="5011945"/>
            <a:ext cx="3879000" cy="178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073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C7F42219-1EE1-1BE0-8B68-17D8A64C2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>
            <a:extLst>
              <a:ext uri="{FF2B5EF4-FFF2-40B4-BE49-F238E27FC236}">
                <a16:creationId xmlns:a16="http://schemas.microsoft.com/office/drawing/2014/main" id="{27CD05DF-4982-F774-69F0-97CF9DD67332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DD347F1F-1D0B-EB28-8E2A-F2BD5A82A181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8" name="Google Shape;138;p4">
            <a:extLst>
              <a:ext uri="{FF2B5EF4-FFF2-40B4-BE49-F238E27FC236}">
                <a16:creationId xmlns:a16="http://schemas.microsoft.com/office/drawing/2014/main" id="{B170EF1C-E421-7479-3C53-2D26E292B1A3}"/>
              </a:ext>
            </a:extLst>
          </p:cNvPr>
          <p:cNvSpPr/>
          <p:nvPr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rgbClr val="2F55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p4">
            <a:extLst>
              <a:ext uri="{FF2B5EF4-FFF2-40B4-BE49-F238E27FC236}">
                <a16:creationId xmlns:a16="http://schemas.microsoft.com/office/drawing/2014/main" id="{1E50246B-B82B-3BF6-89A1-1CE10414DF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dirty="0"/>
              <a:t>Message Synchronization in Indirect Communication</a:t>
            </a:r>
          </a:p>
        </p:txBody>
      </p:sp>
      <p:sp>
        <p:nvSpPr>
          <p:cNvPr id="2" name="Google Shape;141;p4">
            <a:extLst>
              <a:ext uri="{FF2B5EF4-FFF2-40B4-BE49-F238E27FC236}">
                <a16:creationId xmlns:a16="http://schemas.microsoft.com/office/drawing/2014/main" id="{2037D193-F250-3ABE-29FF-A87A7AFE0596}"/>
              </a:ext>
            </a:extLst>
          </p:cNvPr>
          <p:cNvSpPr txBox="1">
            <a:spLocks/>
          </p:cNvSpPr>
          <p:nvPr/>
        </p:nvSpPr>
        <p:spPr>
          <a:xfrm>
            <a:off x="0" y="2168524"/>
            <a:ext cx="12188952" cy="4746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800100" lvl="1">
              <a:buSzPts val="28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FEDBD-29C5-20B8-CA61-F364D569D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24" y="2225674"/>
            <a:ext cx="9001125" cy="1733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2EB2B3-86F9-2A22-8C11-9D0914BD0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435" y="2721459"/>
            <a:ext cx="3831549" cy="19586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F9A8B9-4282-ADFA-D61D-0E7CD2D6E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9460" y="4902301"/>
            <a:ext cx="3684218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15071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DarkSeedLeftStep">
      <a:dk1>
        <a:srgbClr val="000000"/>
      </a:dk1>
      <a:lt1>
        <a:srgbClr val="FFFFFF"/>
      </a:lt1>
      <a:dk2>
        <a:srgbClr val="213B31"/>
      </a:dk2>
      <a:lt2>
        <a:srgbClr val="E8E2E3"/>
      </a:lt2>
      <a:accent1>
        <a:srgbClr val="45B0A7"/>
      </a:accent1>
      <a:accent2>
        <a:srgbClr val="3BB176"/>
      </a:accent2>
      <a:accent3>
        <a:srgbClr val="47B550"/>
      </a:accent3>
      <a:accent4>
        <a:srgbClr val="63B13B"/>
      </a:accent4>
      <a:accent5>
        <a:srgbClr val="91AB43"/>
      </a:accent5>
      <a:accent6>
        <a:srgbClr val="B19D3B"/>
      </a:accent6>
      <a:hlink>
        <a:srgbClr val="658B2E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12291</TotalTime>
  <Words>1484</Words>
  <Application>Microsoft Office PowerPoint</Application>
  <PresentationFormat>Widescreen</PresentationFormat>
  <Paragraphs>205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Avenir</vt:lpstr>
      <vt:lpstr>Calibri</vt:lpstr>
      <vt:lpstr>BlockprintVTI</vt:lpstr>
      <vt:lpstr>CSDC-446 Parallel and Distributed Computing</vt:lpstr>
      <vt:lpstr>Topics Covered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Roadmap to Designing Parallel Programs</vt:lpstr>
      <vt:lpstr>Inter-Process Communication</vt:lpstr>
      <vt:lpstr>Inter-Process Communication (IPC)</vt:lpstr>
      <vt:lpstr>Approaches of Inter-Process Communication</vt:lpstr>
      <vt:lpstr>Approaches of IPC</vt:lpstr>
      <vt:lpstr>Approaches of IPC: PIPES</vt:lpstr>
      <vt:lpstr>Approaches of IPC : MESSAGE QUEUES</vt:lpstr>
      <vt:lpstr>Approaches of IPC : Shared Memory</vt:lpstr>
      <vt:lpstr>Approaches of IPC : Message Passing</vt:lpstr>
      <vt:lpstr>Approaches of IPC : Message Passing</vt:lpstr>
      <vt:lpstr>Approaches of IPC: DIRECT COMMUNICATION</vt:lpstr>
      <vt:lpstr>Approaches of IPC : INDIRECT COMMUNICATION</vt:lpstr>
      <vt:lpstr>Approaches of IPC: FIFO</vt:lpstr>
      <vt:lpstr>Communication Models</vt:lpstr>
      <vt:lpstr>Shared Memory Model</vt:lpstr>
      <vt:lpstr>Methods to Provide Synchronization in Shared Memory Model</vt:lpstr>
      <vt:lpstr>Message Passing Model</vt:lpstr>
      <vt:lpstr>Message Passing Implementation</vt:lpstr>
      <vt:lpstr>Communication Links</vt:lpstr>
      <vt:lpstr>Message Passing Communication</vt:lpstr>
      <vt:lpstr>Direct Communication in Message passing System</vt:lpstr>
      <vt:lpstr>Direct Communication in Message Passing System</vt:lpstr>
      <vt:lpstr>Direct Communication in Message Passing System</vt:lpstr>
      <vt:lpstr>Indirect Communication in Message Passing System</vt:lpstr>
      <vt:lpstr>Message Synchronization in Indirect Communication</vt:lpstr>
      <vt:lpstr>Message Synchronization in Indirect Communication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CS621 Parallel and Distributed Computing</dc:title>
  <dc:creator>Academics 1</dc:creator>
  <cp:lastModifiedBy>Sehrish Amjad</cp:lastModifiedBy>
  <cp:revision>793</cp:revision>
  <dcterms:created xsi:type="dcterms:W3CDTF">2022-12-26T05:14:17Z</dcterms:created>
  <dcterms:modified xsi:type="dcterms:W3CDTF">2025-10-14T04:41:51Z</dcterms:modified>
</cp:coreProperties>
</file>