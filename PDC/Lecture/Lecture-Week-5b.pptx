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5"/>
  </p:notesMasterIdLst>
  <p:sldIdLst>
    <p:sldId id="256" r:id="rId2"/>
    <p:sldId id="259" r:id="rId3"/>
    <p:sldId id="473" r:id="rId4"/>
    <p:sldId id="474" r:id="rId5"/>
    <p:sldId id="475" r:id="rId6"/>
    <p:sldId id="476" r:id="rId7"/>
    <p:sldId id="482" r:id="rId8"/>
    <p:sldId id="484" r:id="rId9"/>
    <p:sldId id="485" r:id="rId10"/>
    <p:sldId id="486" r:id="rId11"/>
    <p:sldId id="492" r:id="rId12"/>
    <p:sldId id="496" r:id="rId13"/>
    <p:sldId id="497" r:id="rId14"/>
    <p:sldId id="498" r:id="rId15"/>
    <p:sldId id="499" r:id="rId16"/>
    <p:sldId id="495" r:id="rId17"/>
    <p:sldId id="500" r:id="rId18"/>
    <p:sldId id="501" r:id="rId19"/>
    <p:sldId id="502" r:id="rId20"/>
    <p:sldId id="503" r:id="rId21"/>
    <p:sldId id="504" r:id="rId22"/>
    <p:sldId id="505" r:id="rId23"/>
    <p:sldId id="506" r:id="rId24"/>
    <p:sldId id="507" r:id="rId25"/>
    <p:sldId id="508" r:id="rId26"/>
    <p:sldId id="509" r:id="rId27"/>
    <p:sldId id="510" r:id="rId28"/>
    <p:sldId id="511" r:id="rId29"/>
    <p:sldId id="512" r:id="rId30"/>
    <p:sldId id="513" r:id="rId31"/>
    <p:sldId id="514" r:id="rId32"/>
    <p:sldId id="515" r:id="rId33"/>
    <p:sldId id="516" r:id="rId3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3" roundtripDataSignature="AMtx7mjLOmqfjBRYjHjL0yn0qA3zyNo6m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45157" autoAdjust="0"/>
  </p:normalViewPr>
  <p:slideViewPr>
    <p:cSldViewPr snapToGrid="0">
      <p:cViewPr varScale="1">
        <p:scale>
          <a:sx n="28" d="100"/>
          <a:sy n="28" d="100"/>
        </p:scale>
        <p:origin x="211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8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83"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8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86"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85" Type="http://schemas.openxmlformats.org/officeDocument/2006/relationships/viewProps" Target="viewProps.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AE89A19-538C-6BC5-0B5E-320923F4BA0E}"/>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9A5CEDFB-70D0-78EE-3FA5-6A63A7AB51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F8B2FFB-48CE-39FC-B17B-E1742250BFC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C4E5A4A8-8E58-788D-0314-AECE445006E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39201418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D914DAB-5E10-DD62-8252-C1B3219223A6}"/>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FC9B6C0F-A516-78D7-89C3-25E1C70477A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F49958FA-E261-609D-55CB-7346941DED2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CF3DF828-1AE5-87D4-A33F-1BE4F7511424}"/>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extLst>
      <p:ext uri="{BB962C8B-B14F-4D97-AF65-F5344CB8AC3E}">
        <p14:creationId xmlns:p14="http://schemas.microsoft.com/office/powerpoint/2010/main" val="42642971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A891FE4-ED57-2236-B0CE-0343B8DD7EA1}"/>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F432DB74-7151-14F6-6B21-1ED1C347800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34FE32D2-236B-B96E-2F2F-3222FAD6891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9AEBAB11-F71C-DF07-67D3-0035E61279C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2467208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1BA7DE63-5304-FFAE-EDCC-D9A99D237592}"/>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879A918E-0103-4163-3AE3-C11449166F81}"/>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023D550E-06DA-A15C-9512-08C1D94B81C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239F8AA4-5D52-49E9-596D-E1A2A82ED23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extLst>
      <p:ext uri="{BB962C8B-B14F-4D97-AF65-F5344CB8AC3E}">
        <p14:creationId xmlns:p14="http://schemas.microsoft.com/office/powerpoint/2010/main" val="348718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38D2041-BDA0-ECEC-E1D6-760E01838B2A}"/>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52D3D42A-2587-4CCE-83B3-29B444D9552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21081947-A50B-F828-210D-EA7F1AFF990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For I=1 to 10</a:t>
            </a:r>
          </a:p>
          <a:p>
            <a:pPr marL="0" lvl="0" indent="0" algn="l" rtl="0">
              <a:spcBef>
                <a:spcPts val="0"/>
              </a:spcBef>
              <a:spcAft>
                <a:spcPts val="0"/>
              </a:spcAft>
              <a:buNone/>
            </a:pPr>
            <a:r>
              <a:rPr lang="en-US" dirty="0"/>
              <a:t>For J = 1 to 10</a:t>
            </a:r>
          </a:p>
          <a:p>
            <a:pPr marL="0" lvl="0" indent="0" algn="l" rtl="0">
              <a:spcBef>
                <a:spcPts val="0"/>
              </a:spcBef>
              <a:spcAft>
                <a:spcPts val="0"/>
              </a:spcAft>
              <a:buNone/>
            </a:pPr>
            <a:r>
              <a:rPr lang="en-US" dirty="0"/>
              <a:t>For k = 1 o 10</a:t>
            </a:r>
          </a:p>
          <a:p>
            <a:pPr marL="0" lvl="0" indent="0" algn="l" rtl="0">
              <a:spcBef>
                <a:spcPts val="0"/>
              </a:spcBef>
              <a:spcAft>
                <a:spcPts val="0"/>
              </a:spcAft>
              <a:buNone/>
            </a:pPr>
            <a:r>
              <a:rPr lang="en-US" dirty="0"/>
              <a:t>For </a:t>
            </a:r>
            <a:r>
              <a:rPr lang="en-US"/>
              <a:t>I=1, j=1 </a:t>
            </a:r>
            <a:r>
              <a:rPr lang="en-US" dirty="0"/>
              <a:t>and K=1</a:t>
            </a:r>
          </a:p>
          <a:p>
            <a:pPr marL="0" lvl="0" indent="0" algn="l" rtl="0">
              <a:spcBef>
                <a:spcPts val="0"/>
              </a:spcBef>
              <a:spcAft>
                <a:spcPts val="0"/>
              </a:spcAft>
              <a:buNone/>
            </a:pPr>
            <a:r>
              <a:rPr lang="en-US" dirty="0"/>
              <a:t>A(2,3,4) = A(1,1,1) + B</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I=1, J=1 and K=2</a:t>
            </a:r>
          </a:p>
          <a:p>
            <a:pPr marL="0" lvl="0" indent="0" algn="l" rtl="0">
              <a:spcBef>
                <a:spcPts val="0"/>
              </a:spcBef>
              <a:spcAft>
                <a:spcPts val="0"/>
              </a:spcAft>
              <a:buNone/>
            </a:pPr>
            <a:r>
              <a:rPr lang="en-US" dirty="0"/>
              <a:t>A(2,3,5) = A(1,1,2) + B</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For I=1, J=1, and K=10</a:t>
            </a:r>
          </a:p>
          <a:p>
            <a:pPr marL="0" lvl="0" indent="0" algn="l" rtl="0">
              <a:spcBef>
                <a:spcPts val="0"/>
              </a:spcBef>
              <a:spcAft>
                <a:spcPts val="0"/>
              </a:spcAft>
              <a:buNone/>
            </a:pPr>
            <a:r>
              <a:rPr lang="en-US" dirty="0"/>
              <a:t>A(2,3,13) = A(1,1,10) + B</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I=1 to 10</a:t>
            </a:r>
          </a:p>
          <a:p>
            <a:pPr marL="0" lvl="0" indent="0" algn="l" rtl="0">
              <a:spcBef>
                <a:spcPts val="0"/>
              </a:spcBef>
              <a:spcAft>
                <a:spcPts val="0"/>
              </a:spcAft>
              <a:buNone/>
            </a:pPr>
            <a:r>
              <a:rPr lang="en-US" dirty="0"/>
              <a:t>K = 10 to 1</a:t>
            </a:r>
          </a:p>
          <a:p>
            <a:pPr marL="0" lvl="0" indent="0" algn="l" rtl="0">
              <a:spcBef>
                <a:spcPts val="0"/>
              </a:spcBef>
              <a:spcAft>
                <a:spcPts val="0"/>
              </a:spcAft>
              <a:buNone/>
            </a:pPr>
            <a:r>
              <a:rPr lang="en-US" dirty="0"/>
              <a:t>J = 1 to 10</a:t>
            </a:r>
          </a:p>
          <a:p>
            <a:pPr marL="0" lvl="0" indent="0" algn="l" rtl="0">
              <a:spcBef>
                <a:spcPts val="0"/>
              </a:spcBef>
              <a:spcAft>
                <a:spcPts val="0"/>
              </a:spcAft>
              <a:buNone/>
            </a:pPr>
            <a:r>
              <a:rPr lang="en-US" dirty="0"/>
              <a:t>A(2, 3, 13) = A(1,1, 10) + B</a:t>
            </a:r>
          </a:p>
          <a:p>
            <a:pPr marL="0" lvl="0" indent="0" algn="l" rtl="0">
              <a:spcBef>
                <a:spcPts val="0"/>
              </a:spcBef>
              <a:spcAft>
                <a:spcPts val="0"/>
              </a:spcAft>
              <a:buNone/>
            </a:pPr>
            <a:endParaRPr lang="en-US" dirty="0"/>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A(2,4,13) = A(1,2,10) + B</a:t>
            </a:r>
          </a:p>
          <a:p>
            <a:pPr marL="0" lvl="0" indent="0" algn="l" rtl="0">
              <a:spcBef>
                <a:spcPts val="0"/>
              </a:spcBef>
              <a:spcAft>
                <a:spcPts val="0"/>
              </a:spcAft>
              <a:buNone/>
            </a:pPr>
            <a:endParaRPr lang="en-US" dirty="0"/>
          </a:p>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D0920234-2628-9A62-1C49-CA025EFCD31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7670528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F7FD145-80CD-C235-AC70-FBAA17807A2D}"/>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703DFE89-D850-B4A3-93D7-24C2E901F9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3AB94E06-4187-48CB-DAB8-B6113B43CD9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55499D3F-AD66-D630-E7BC-BF797FAC9F8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19867124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64D17D6-2192-45BA-C4FF-754CE7E795FC}"/>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73C203DE-584B-C40B-857E-7BCC0007D07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8143CD4-CDDD-F564-6AA7-A6CD5D6C945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5AF78483-A71E-85B6-DEAA-BF279EB16C3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8266961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5EACD487-4CFC-6F9E-733B-9DB3561BAC1A}"/>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4FF46793-4688-E028-8408-BEA915CC12F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09A3ABD2-5886-5C1E-C108-AB1723434FF9}"/>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4" name="Google Shape;134;p4:notes">
            <a:extLst>
              <a:ext uri="{FF2B5EF4-FFF2-40B4-BE49-F238E27FC236}">
                <a16:creationId xmlns:a16="http://schemas.microsoft.com/office/drawing/2014/main" id="{4DE7871A-FEAE-B1AC-B8BF-DDEFB668519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5841743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CFCE29E-A763-0539-D915-F327486F2793}"/>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A890A33E-DBA5-31A5-A07B-C11D5011CC9E}"/>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17BF7EEE-4D86-C89E-E305-4D9722E1588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ADB6BD12-A43B-9124-7CAE-1D2527A1272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48861426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A22A68B-AA7E-2D32-E738-96C13F23D6E1}"/>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8B80F2D2-3DB4-D4C4-EAD1-0328144EF37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B14507C3-1F9A-F8C8-5207-D7F21031DDFA}"/>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430E0CF3-B85C-338E-9338-DD601227B9A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4934000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0F47865-F01D-8009-22CD-FBBBA760C203}"/>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8A55A264-4284-54E4-A7C3-49D2F41DC35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B2408B27-D3A0-761C-1EE1-537021119AE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2BAD6240-9C70-16CC-DC9D-8A640DFE6112}"/>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13</a:t>
            </a:fld>
            <a:endParaRPr/>
          </a:p>
        </p:txBody>
      </p:sp>
    </p:spTree>
    <p:extLst>
      <p:ext uri="{BB962C8B-B14F-4D97-AF65-F5344CB8AC3E}">
        <p14:creationId xmlns:p14="http://schemas.microsoft.com/office/powerpoint/2010/main" val="3074967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BABBC763-1D31-FDDB-4A80-A0C95C9D1DB6}"/>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FD2AD8A4-0D7C-B02F-D67F-3F71192AB26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FCFD6309-A81F-3AB9-D082-7318E56F923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DF278C6C-DF95-15BE-4141-750BB0196BF1}"/>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26546457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5154A26-A6D1-2E80-B710-00F957AE1B54}"/>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9FFEFA6B-A138-D788-9F1C-CAE946E1765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99B8F72F-DACA-DCEC-62F3-D2C69EA7A97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250FB7B1-E35F-BCD9-DD8F-C7A3261F047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1436467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2B6CEFE7-421A-E18F-3FC3-654DA9A12E1D}"/>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CE043144-E9CE-76FA-EF0A-9DFB64D538E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84B39B8-4F24-F86E-FAC0-7158DC12569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8ED92CB1-48A6-6698-A0E5-9A02D400380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6380143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4D848FA6-704D-01AD-1F28-BCCB93E8E26E}"/>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CBA2838F-348B-CFC0-C80E-4C2E0AF9BD4D}"/>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93201EC-FAAB-F417-B6FD-F07ADD0E6D5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4B9463AA-3D7F-4284-AF88-054294F5EE0C}"/>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9579802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4D1AB63-A184-FF9E-7487-4B97284384BF}"/>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B0D047F7-B306-B52F-853C-522DF2F7DDB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098DF183-4C70-88AD-DB80-CA89AB46181B}"/>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35FA91A9-95CC-C224-6DA6-3F96014CC34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1690280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19E50E54-05A9-1A32-4BFC-C43B9CD7C6BC}"/>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97349F96-80CA-39D6-A5AE-552CEE00F92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8C5FFCB3-C98F-DC3B-87BF-BBFF1AF63CE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BD776A26-AE85-9F0F-1B8C-F8B7544F3328}"/>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36252371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06971220-99E0-B454-49C4-B7DC4CEE5F4A}"/>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AF6EA258-6D4E-D31E-F04C-B15D6C19E81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3702D54-A330-AB72-D61E-EB2FEEC831F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F9FF40D6-441A-F9F8-D23C-BFCD5CD49EE9}"/>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332683997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B52D8F9-54A4-D7B6-4974-D1462A350119}"/>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B8AC4AA0-4EB5-2394-7761-ADBB8355F3D4}"/>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9C0B727D-4F9E-2945-DE56-14E66C93FCC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1BBF884B-5255-F235-723E-86F3A1441FC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1928926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1DE2D965-E943-EB71-DDAC-25BD04BBE040}"/>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B22A0333-E480-E75E-FAF2-C5B571FE33B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A2150785-9049-53D8-3ACA-7873C8847170}"/>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88BC1CD9-AF33-8F7D-DB94-EF797259AE5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21006382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84BC89DC-156F-224A-2EDA-D80BCD0AFAE5}"/>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6835774-EA16-51E8-00F6-3591034E21B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254C056-E089-B890-3EED-BA8A309326D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7A4A1F18-01EB-2BB0-65DF-A81B9DFD5A6D}"/>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5146803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D62147D-F945-8C9C-E8CA-4BA76AA48336}"/>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5EF170EA-7105-3D7F-B1C5-2A1E3010CFB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7DA73F6E-D780-05F3-3880-0460AD5D3C8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0B18CA9D-A9F5-FFC5-AAC0-8F8B19B5660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10749966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308936D1-5199-797A-CD23-3D12121EB550}"/>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B9A3BBC1-3709-C4AD-DA28-CE27048D804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27FE3BE7-4D4D-D287-28D6-66D74EA79D04}"/>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77B5430A-D9DA-97B1-34DC-A711E6F66A86}"/>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14835395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942D8854-7C1B-4691-B649-016CF7273DC9}"/>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09588823-7806-AB12-7660-9DB777CDF3B7}"/>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B2B2CCC1-4FD5-7C75-F4D9-F0CA0CDAB37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FB6D81EB-05A6-C130-1294-98B2F3037ED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26</a:t>
            </a:fld>
            <a:endParaRPr/>
          </a:p>
        </p:txBody>
      </p:sp>
    </p:spTree>
    <p:extLst>
      <p:ext uri="{BB962C8B-B14F-4D97-AF65-F5344CB8AC3E}">
        <p14:creationId xmlns:p14="http://schemas.microsoft.com/office/powerpoint/2010/main" val="22747987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326214D-18AD-DF52-7793-47B3F8069007}"/>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F69CD3F6-923E-AAD1-5434-9F28828F6608}"/>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3067E097-349D-DFF3-D6B8-3332DE0407F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116682AF-6D38-9D49-C328-06120B6CC7E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371858376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627A6D2E-75F1-DC3F-506F-E183A12A7B8C}"/>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17F56267-C6AB-8136-BD85-2628CF0323BC}"/>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4DBA5712-9A1F-5A86-0C76-775022E2983E}"/>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2E8DA8EA-41AF-5DB0-48AA-11428E308F8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28</a:t>
            </a:fld>
            <a:endParaRPr/>
          </a:p>
        </p:txBody>
      </p:sp>
    </p:spTree>
    <p:extLst>
      <p:ext uri="{BB962C8B-B14F-4D97-AF65-F5344CB8AC3E}">
        <p14:creationId xmlns:p14="http://schemas.microsoft.com/office/powerpoint/2010/main" val="32066802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7D1119AF-C4FD-C817-762A-4FCD1029A70F}"/>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A55C0D31-49FB-7418-402C-7F4E5DB6B34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17626707-43FC-9D11-C821-EE484C45EC7F}"/>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7D5CEF6D-B0B3-A628-E8A3-146CB13B31B0}"/>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29</a:t>
            </a:fld>
            <a:endParaRPr/>
          </a:p>
        </p:txBody>
      </p:sp>
    </p:spTree>
    <p:extLst>
      <p:ext uri="{BB962C8B-B14F-4D97-AF65-F5344CB8AC3E}">
        <p14:creationId xmlns:p14="http://schemas.microsoft.com/office/powerpoint/2010/main" val="108227032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57010A7E-BCF6-1C9C-169B-0EB7F07D5E6D}"/>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AC43C046-1098-5B73-FA98-7DBFD78D7D92}"/>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8CC1879C-658C-A407-D2C4-C1E1A7E7E712}"/>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18568704-B6C0-EFDD-BE0F-8F47808C4177}"/>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72089931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E7CA7859-B14D-1B48-792E-33A935D61744}"/>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CE3AFECD-2CF6-FE4A-8010-316D1999D8E6}"/>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9348BCF8-7A3C-0FB1-280E-E465DA8E01B3}"/>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9987BE75-0E08-6C13-779B-193F9DDD42AF}"/>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1573514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D7FB7E6D-7A52-1D00-28F2-32736C70FD97}"/>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C7711C71-ED44-6A98-BB95-B5BB5A9289A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F8D7676A-FFBD-990C-967E-B2F224263207}"/>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CA902C34-FA75-93F6-F359-2AD72A63B99A}"/>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a:p>
        </p:txBody>
      </p:sp>
    </p:spTree>
    <p:extLst>
      <p:ext uri="{BB962C8B-B14F-4D97-AF65-F5344CB8AC3E}">
        <p14:creationId xmlns:p14="http://schemas.microsoft.com/office/powerpoint/2010/main" val="37410770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a:extLst>
            <a:ext uri="{FF2B5EF4-FFF2-40B4-BE49-F238E27FC236}">
              <a16:creationId xmlns:a16="http://schemas.microsoft.com/office/drawing/2014/main" id="{FECE55C7-7FDF-30DD-F93D-4B6F36FA8210}"/>
            </a:ext>
          </a:extLst>
        </p:cNvPr>
        <p:cNvGrpSpPr/>
        <p:nvPr/>
      </p:nvGrpSpPr>
      <p:grpSpPr>
        <a:xfrm>
          <a:off x="0" y="0"/>
          <a:ext cx="0" cy="0"/>
          <a:chOff x="0" y="0"/>
          <a:chExt cx="0" cy="0"/>
        </a:xfrm>
      </p:grpSpPr>
      <p:sp>
        <p:nvSpPr>
          <p:cNvPr id="132" name="Google Shape;132;p4:notes">
            <a:extLst>
              <a:ext uri="{FF2B5EF4-FFF2-40B4-BE49-F238E27FC236}">
                <a16:creationId xmlns:a16="http://schemas.microsoft.com/office/drawing/2014/main" id="{E03149F1-F6F8-1EAB-9888-5EE45B1D39F9}"/>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3" name="Google Shape;133;p4:notes">
            <a:extLst>
              <a:ext uri="{FF2B5EF4-FFF2-40B4-BE49-F238E27FC236}">
                <a16:creationId xmlns:a16="http://schemas.microsoft.com/office/drawing/2014/main" id="{2FD4F50A-7E87-EBE1-D341-872A585940F8}"/>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dirty="0"/>
              <a:t>https://hpc.llnl.gov/documentation/tutorials/introduction-parallel-computing-tutorial##Designing</a:t>
            </a:r>
            <a:endParaRPr dirty="0"/>
          </a:p>
        </p:txBody>
      </p:sp>
      <p:sp>
        <p:nvSpPr>
          <p:cNvPr id="134" name="Google Shape;134;p4:notes">
            <a:extLst>
              <a:ext uri="{FF2B5EF4-FFF2-40B4-BE49-F238E27FC236}">
                <a16:creationId xmlns:a16="http://schemas.microsoft.com/office/drawing/2014/main" id="{7F7BBEB0-2841-8C45-A53B-6A576DABF073}"/>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33</a:t>
            </a:fld>
            <a:endParaRPr/>
          </a:p>
        </p:txBody>
      </p:sp>
    </p:spTree>
    <p:extLst>
      <p:ext uri="{BB962C8B-B14F-4D97-AF65-F5344CB8AC3E}">
        <p14:creationId xmlns:p14="http://schemas.microsoft.com/office/powerpoint/2010/main" val="1853586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63"/>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3"/>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110000"/>
              </a:lnSpc>
              <a:spcBef>
                <a:spcPts val="1000"/>
              </a:spcBef>
              <a:spcAft>
                <a:spcPts val="0"/>
              </a:spcAft>
              <a:buSzPts val="2000"/>
              <a:buNone/>
              <a:defRPr sz="2000">
                <a:latin typeface="Avenir"/>
                <a:ea typeface="Avenir"/>
                <a:cs typeface="Avenir"/>
                <a:sym typeface="Avenir"/>
              </a:defRPr>
            </a:lvl1pPr>
            <a:lvl2pPr lvl="1" algn="ctr">
              <a:lnSpc>
                <a:spcPct val="110000"/>
              </a:lnSpc>
              <a:spcBef>
                <a:spcPts val="500"/>
              </a:spcBef>
              <a:spcAft>
                <a:spcPts val="0"/>
              </a:spcAft>
              <a:buSzPts val="2000"/>
              <a:buNone/>
              <a:defRPr sz="2000"/>
            </a:lvl2pPr>
            <a:lvl3pPr lvl="2" algn="ctr">
              <a:lnSpc>
                <a:spcPct val="110000"/>
              </a:lnSpc>
              <a:spcBef>
                <a:spcPts val="500"/>
              </a:spcBef>
              <a:spcAft>
                <a:spcPts val="0"/>
              </a:spcAft>
              <a:buSzPts val="1800"/>
              <a:buNone/>
              <a:defRPr sz="1800"/>
            </a:lvl3pPr>
            <a:lvl4pPr lvl="3" algn="ctr">
              <a:lnSpc>
                <a:spcPct val="110000"/>
              </a:lnSpc>
              <a:spcBef>
                <a:spcPts val="500"/>
              </a:spcBef>
              <a:spcAft>
                <a:spcPts val="0"/>
              </a:spcAft>
              <a:buSzPts val="1600"/>
              <a:buNone/>
              <a:defRPr sz="1600"/>
            </a:lvl4pPr>
            <a:lvl5pPr lvl="4" algn="ctr">
              <a:lnSpc>
                <a:spcPct val="110000"/>
              </a:lnSpc>
              <a:spcBef>
                <a:spcPts val="500"/>
              </a:spcBef>
              <a:spcAft>
                <a:spcPts val="0"/>
              </a:spcAft>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0" name="Google Shape;20;p6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6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atin typeface="Avenir"/>
                <a:ea typeface="Avenir"/>
                <a:cs typeface="Avenir"/>
                <a:sym typeface="Avenir"/>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6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900" b="0" i="0" u="none" strike="noStrike" cap="none">
                <a:solidFill>
                  <a:schemeClr val="lt1"/>
                </a:solidFill>
                <a:latin typeface="Avenir"/>
                <a:ea typeface="Avenir"/>
                <a:cs typeface="Avenir"/>
                <a:sym typeface="Avenir"/>
              </a:defRPr>
            </a:lvl1pPr>
            <a:lvl2pPr marL="0" lvl="1" indent="0" algn="r">
              <a:spcBef>
                <a:spcPts val="0"/>
              </a:spcBef>
              <a:buNone/>
              <a:defRPr sz="900" b="0" i="0" u="none" strike="noStrike" cap="none">
                <a:solidFill>
                  <a:schemeClr val="lt1"/>
                </a:solidFill>
                <a:latin typeface="Avenir"/>
                <a:ea typeface="Avenir"/>
                <a:cs typeface="Avenir"/>
                <a:sym typeface="Avenir"/>
              </a:defRPr>
            </a:lvl2pPr>
            <a:lvl3pPr marL="0" lvl="2" indent="0" algn="r">
              <a:spcBef>
                <a:spcPts val="0"/>
              </a:spcBef>
              <a:buNone/>
              <a:defRPr sz="900" b="0" i="0" u="none" strike="noStrike" cap="none">
                <a:solidFill>
                  <a:schemeClr val="lt1"/>
                </a:solidFill>
                <a:latin typeface="Avenir"/>
                <a:ea typeface="Avenir"/>
                <a:cs typeface="Avenir"/>
                <a:sym typeface="Avenir"/>
              </a:defRPr>
            </a:lvl3pPr>
            <a:lvl4pPr marL="0" lvl="3" indent="0" algn="r">
              <a:spcBef>
                <a:spcPts val="0"/>
              </a:spcBef>
              <a:buNone/>
              <a:defRPr sz="900" b="0" i="0" u="none" strike="noStrike" cap="none">
                <a:solidFill>
                  <a:schemeClr val="lt1"/>
                </a:solidFill>
                <a:latin typeface="Avenir"/>
                <a:ea typeface="Avenir"/>
                <a:cs typeface="Avenir"/>
                <a:sym typeface="Avenir"/>
              </a:defRPr>
            </a:lvl4pPr>
            <a:lvl5pPr marL="0" lvl="4" indent="0" algn="r">
              <a:spcBef>
                <a:spcPts val="0"/>
              </a:spcBef>
              <a:buNone/>
              <a:defRPr sz="900" b="0" i="0" u="none" strike="noStrike" cap="none">
                <a:solidFill>
                  <a:schemeClr val="lt1"/>
                </a:solidFill>
                <a:latin typeface="Avenir"/>
                <a:ea typeface="Avenir"/>
                <a:cs typeface="Avenir"/>
                <a:sym typeface="Avenir"/>
              </a:defRPr>
            </a:lvl5pPr>
            <a:lvl6pPr marL="0" lvl="5" indent="0" algn="r">
              <a:spcBef>
                <a:spcPts val="0"/>
              </a:spcBef>
              <a:buNone/>
              <a:defRPr sz="900" b="0" i="0" u="none" strike="noStrike" cap="none">
                <a:solidFill>
                  <a:schemeClr val="lt1"/>
                </a:solidFill>
                <a:latin typeface="Avenir"/>
                <a:ea typeface="Avenir"/>
                <a:cs typeface="Avenir"/>
                <a:sym typeface="Avenir"/>
              </a:defRPr>
            </a:lvl6pPr>
            <a:lvl7pPr marL="0" lvl="6" indent="0" algn="r">
              <a:spcBef>
                <a:spcPts val="0"/>
              </a:spcBef>
              <a:buNone/>
              <a:defRPr sz="900" b="0" i="0" u="none" strike="noStrike" cap="none">
                <a:solidFill>
                  <a:schemeClr val="lt1"/>
                </a:solidFill>
                <a:latin typeface="Avenir"/>
                <a:ea typeface="Avenir"/>
                <a:cs typeface="Avenir"/>
                <a:sym typeface="Avenir"/>
              </a:defRPr>
            </a:lvl7pPr>
            <a:lvl8pPr marL="0" lvl="7" indent="0" algn="r">
              <a:spcBef>
                <a:spcPts val="0"/>
              </a:spcBef>
              <a:buNone/>
              <a:defRPr sz="900" b="0" i="0" u="none" strike="noStrike" cap="none">
                <a:solidFill>
                  <a:schemeClr val="lt1"/>
                </a:solidFill>
                <a:latin typeface="Avenir"/>
                <a:ea typeface="Avenir"/>
                <a:cs typeface="Avenir"/>
                <a:sym typeface="Avenir"/>
              </a:defRPr>
            </a:lvl8pPr>
            <a:lvl9pPr marL="0" lvl="8" indent="0" algn="r">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64"/>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64"/>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6" name="Google Shape;26;p64"/>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64"/>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64"/>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65"/>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4400"/>
              <a:buFont typeface="Avenir"/>
              <a:buNone/>
              <a:defRPr sz="4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65"/>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2400"/>
              <a:buNone/>
              <a:defRPr sz="2400">
                <a:solidFill>
                  <a:schemeClr val="lt1"/>
                </a:solidFill>
              </a:defRPr>
            </a:lvl1pPr>
            <a:lvl2pPr marL="914400" lvl="1" indent="-228600" algn="l">
              <a:lnSpc>
                <a:spcPct val="110000"/>
              </a:lnSpc>
              <a:spcBef>
                <a:spcPts val="500"/>
              </a:spcBef>
              <a:spcAft>
                <a:spcPts val="0"/>
              </a:spcAft>
              <a:buSzPts val="2000"/>
              <a:buNone/>
              <a:defRPr sz="2000">
                <a:solidFill>
                  <a:srgbClr val="888888"/>
                </a:solidFill>
              </a:defRPr>
            </a:lvl2pPr>
            <a:lvl3pPr marL="1371600" lvl="2" indent="-228600" algn="l">
              <a:lnSpc>
                <a:spcPct val="110000"/>
              </a:lnSpc>
              <a:spcBef>
                <a:spcPts val="500"/>
              </a:spcBef>
              <a:spcAft>
                <a:spcPts val="0"/>
              </a:spcAft>
              <a:buSzPts val="1800"/>
              <a:buNone/>
              <a:defRPr sz="1800">
                <a:solidFill>
                  <a:srgbClr val="888888"/>
                </a:solidFill>
              </a:defRPr>
            </a:lvl3pPr>
            <a:lvl4pPr marL="1828800" lvl="3" indent="-228600" algn="l">
              <a:lnSpc>
                <a:spcPct val="110000"/>
              </a:lnSpc>
              <a:spcBef>
                <a:spcPts val="500"/>
              </a:spcBef>
              <a:spcAft>
                <a:spcPts val="0"/>
              </a:spcAft>
              <a:buSzPts val="1600"/>
              <a:buNone/>
              <a:defRPr sz="1600">
                <a:solidFill>
                  <a:srgbClr val="888888"/>
                </a:solidFill>
              </a:defRPr>
            </a:lvl4pPr>
            <a:lvl5pPr marL="2286000" lvl="4" indent="-228600" algn="l">
              <a:lnSpc>
                <a:spcPct val="110000"/>
              </a:lnSpc>
              <a:spcBef>
                <a:spcPts val="500"/>
              </a:spcBef>
              <a:spcAft>
                <a:spcPts val="0"/>
              </a:spcAft>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2" name="Google Shape;32;p65"/>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5"/>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65"/>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66"/>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66"/>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66"/>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66"/>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66"/>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66"/>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67"/>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67"/>
          <p:cNvSpPr txBox="1">
            <a:spLocks noGrp="1"/>
          </p:cNvSpPr>
          <p:nvPr>
            <p:ph type="body" idx="1"/>
          </p:nvPr>
        </p:nvSpPr>
        <p:spPr>
          <a:xfrm>
            <a:off x="839788" y="1752600"/>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67"/>
          <p:cNvSpPr txBox="1">
            <a:spLocks noGrp="1"/>
          </p:cNvSpPr>
          <p:nvPr>
            <p:ph type="body" idx="2"/>
          </p:nvPr>
        </p:nvSpPr>
        <p:spPr>
          <a:xfrm>
            <a:off x="839788" y="2666999"/>
            <a:ext cx="5157787"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67"/>
          <p:cNvSpPr txBox="1">
            <a:spLocks noGrp="1"/>
          </p:cNvSpPr>
          <p:nvPr>
            <p:ph type="body" idx="3"/>
          </p:nvPr>
        </p:nvSpPr>
        <p:spPr>
          <a:xfrm>
            <a:off x="6172200" y="1752600"/>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110000"/>
              </a:lnSpc>
              <a:spcBef>
                <a:spcPts val="1000"/>
              </a:spcBef>
              <a:spcAft>
                <a:spcPts val="0"/>
              </a:spcAft>
              <a:buSzPts val="2400"/>
              <a:buNone/>
              <a:defRPr sz="2400" b="1"/>
            </a:lvl1pPr>
            <a:lvl2pPr marL="914400" lvl="1" indent="-228600" algn="l">
              <a:lnSpc>
                <a:spcPct val="110000"/>
              </a:lnSpc>
              <a:spcBef>
                <a:spcPts val="500"/>
              </a:spcBef>
              <a:spcAft>
                <a:spcPts val="0"/>
              </a:spcAft>
              <a:buSzPts val="2000"/>
              <a:buNone/>
              <a:defRPr sz="2000" b="1"/>
            </a:lvl2pPr>
            <a:lvl3pPr marL="1371600" lvl="2" indent="-228600" algn="l">
              <a:lnSpc>
                <a:spcPct val="110000"/>
              </a:lnSpc>
              <a:spcBef>
                <a:spcPts val="500"/>
              </a:spcBef>
              <a:spcAft>
                <a:spcPts val="0"/>
              </a:spcAft>
              <a:buSzPts val="1800"/>
              <a:buNone/>
              <a:defRPr sz="1800" b="1"/>
            </a:lvl3pPr>
            <a:lvl4pPr marL="1828800" lvl="3" indent="-228600" algn="l">
              <a:lnSpc>
                <a:spcPct val="110000"/>
              </a:lnSpc>
              <a:spcBef>
                <a:spcPts val="500"/>
              </a:spcBef>
              <a:spcAft>
                <a:spcPts val="0"/>
              </a:spcAft>
              <a:buSzPts val="1600"/>
              <a:buNone/>
              <a:defRPr sz="1600" b="1"/>
            </a:lvl4pPr>
            <a:lvl5pPr marL="2286000" lvl="4" indent="-228600" algn="l">
              <a:lnSpc>
                <a:spcPct val="110000"/>
              </a:lnSpc>
              <a:spcBef>
                <a:spcPts val="500"/>
              </a:spcBef>
              <a:spcAft>
                <a:spcPts val="0"/>
              </a:spcAft>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7" name="Google Shape;47;p67"/>
          <p:cNvSpPr txBox="1">
            <a:spLocks noGrp="1"/>
          </p:cNvSpPr>
          <p:nvPr>
            <p:ph type="body" idx="4"/>
          </p:nvPr>
        </p:nvSpPr>
        <p:spPr>
          <a:xfrm>
            <a:off x="6172200" y="2666999"/>
            <a:ext cx="5183188" cy="3522663"/>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8" name="Google Shape;48;p67"/>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67"/>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0" name="Google Shape;50;p67"/>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68"/>
          <p:cNvSpPr txBox="1">
            <a:spLocks noGrp="1"/>
          </p:cNvSpPr>
          <p:nvPr>
            <p:ph type="title"/>
          </p:nvPr>
        </p:nvSpPr>
        <p:spPr>
          <a:xfrm>
            <a:off x="838200" y="36576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8"/>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68"/>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5" name="Google Shape;55;p68"/>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69"/>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9"/>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69"/>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7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2" name="Google Shape;62;p7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110000"/>
              </a:lnSpc>
              <a:spcBef>
                <a:spcPts val="1000"/>
              </a:spcBef>
              <a:spcAft>
                <a:spcPts val="0"/>
              </a:spcAft>
              <a:buSzPts val="3200"/>
              <a:buChar char="•"/>
              <a:defRPr sz="3200"/>
            </a:lvl1pPr>
            <a:lvl2pPr marL="914400" lvl="1" indent="-406400" algn="l">
              <a:lnSpc>
                <a:spcPct val="110000"/>
              </a:lnSpc>
              <a:spcBef>
                <a:spcPts val="500"/>
              </a:spcBef>
              <a:spcAft>
                <a:spcPts val="0"/>
              </a:spcAft>
              <a:buSzPts val="2800"/>
              <a:buChar char="•"/>
              <a:defRPr sz="2800"/>
            </a:lvl2pPr>
            <a:lvl3pPr marL="1371600" lvl="2" indent="-381000" algn="l">
              <a:lnSpc>
                <a:spcPct val="110000"/>
              </a:lnSpc>
              <a:spcBef>
                <a:spcPts val="500"/>
              </a:spcBef>
              <a:spcAft>
                <a:spcPts val="0"/>
              </a:spcAft>
              <a:buSzPts val="2400"/>
              <a:buChar char="•"/>
              <a:defRPr sz="2400"/>
            </a:lvl3pPr>
            <a:lvl4pPr marL="1828800" lvl="3" indent="-355600" algn="l">
              <a:lnSpc>
                <a:spcPct val="110000"/>
              </a:lnSpc>
              <a:spcBef>
                <a:spcPts val="500"/>
              </a:spcBef>
              <a:spcAft>
                <a:spcPts val="0"/>
              </a:spcAft>
              <a:buSzPts val="2000"/>
              <a:buChar char="•"/>
              <a:defRPr sz="2000"/>
            </a:lvl4pPr>
            <a:lvl5pPr marL="2286000" lvl="4" indent="-355600" algn="l">
              <a:lnSpc>
                <a:spcPct val="110000"/>
              </a:lnSpc>
              <a:spcBef>
                <a:spcPts val="500"/>
              </a:spcBef>
              <a:spcAft>
                <a:spcPts val="0"/>
              </a:spcAft>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3" name="Google Shape;63;p7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4" name="Google Shape;64;p70"/>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70"/>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70"/>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7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3200"/>
              <a:buFont typeface="Avenir"/>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71"/>
          <p:cNvSpPr>
            <a:spLocks noGrp="1"/>
          </p:cNvSpPr>
          <p:nvPr>
            <p:ph type="pic" idx="2"/>
          </p:nvPr>
        </p:nvSpPr>
        <p:spPr>
          <a:xfrm>
            <a:off x="5183188" y="987425"/>
            <a:ext cx="6172200" cy="4873625"/>
          </a:xfrm>
          <a:prstGeom prst="rect">
            <a:avLst/>
          </a:prstGeom>
          <a:noFill/>
          <a:ln>
            <a:noFill/>
          </a:ln>
        </p:spPr>
      </p:sp>
      <p:sp>
        <p:nvSpPr>
          <p:cNvPr id="70" name="Google Shape;70;p7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110000"/>
              </a:lnSpc>
              <a:spcBef>
                <a:spcPts val="1000"/>
              </a:spcBef>
              <a:spcAft>
                <a:spcPts val="0"/>
              </a:spcAft>
              <a:buSzPts val="1600"/>
              <a:buNone/>
              <a:defRPr sz="1600"/>
            </a:lvl1pPr>
            <a:lvl2pPr marL="914400" lvl="1" indent="-228600" algn="l">
              <a:lnSpc>
                <a:spcPct val="110000"/>
              </a:lnSpc>
              <a:spcBef>
                <a:spcPts val="500"/>
              </a:spcBef>
              <a:spcAft>
                <a:spcPts val="0"/>
              </a:spcAft>
              <a:buSzPts val="1400"/>
              <a:buNone/>
              <a:defRPr sz="1400"/>
            </a:lvl2pPr>
            <a:lvl3pPr marL="1371600" lvl="2" indent="-228600" algn="l">
              <a:lnSpc>
                <a:spcPct val="110000"/>
              </a:lnSpc>
              <a:spcBef>
                <a:spcPts val="500"/>
              </a:spcBef>
              <a:spcAft>
                <a:spcPts val="0"/>
              </a:spcAft>
              <a:buSzPts val="1200"/>
              <a:buNone/>
              <a:defRPr sz="1200"/>
            </a:lvl3pPr>
            <a:lvl4pPr marL="1828800" lvl="3" indent="-228600" algn="l">
              <a:lnSpc>
                <a:spcPct val="110000"/>
              </a:lnSpc>
              <a:spcBef>
                <a:spcPts val="500"/>
              </a:spcBef>
              <a:spcAft>
                <a:spcPts val="0"/>
              </a:spcAft>
              <a:buSzPts val="1000"/>
              <a:buNone/>
              <a:defRPr sz="1000"/>
            </a:lvl4pPr>
            <a:lvl5pPr marL="2286000" lvl="4" indent="-228600" algn="l">
              <a:lnSpc>
                <a:spcPct val="110000"/>
              </a:lnSpc>
              <a:spcBef>
                <a:spcPts val="500"/>
              </a:spcBef>
              <a:spcAft>
                <a:spcPts val="0"/>
              </a:spcAft>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1" name="Google Shape;71;p71"/>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71"/>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71"/>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7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72"/>
          <p:cNvSpPr txBox="1">
            <a:spLocks noGrp="1"/>
          </p:cNvSpPr>
          <p:nvPr>
            <p:ph type="body" idx="1"/>
          </p:nvPr>
        </p:nvSpPr>
        <p:spPr>
          <a:xfrm rot="5400000">
            <a:off x="3998119" y="-1210468"/>
            <a:ext cx="4195763"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7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7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7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7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7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110000"/>
              </a:lnSpc>
              <a:spcBef>
                <a:spcPts val="1000"/>
              </a:spcBef>
              <a:spcAft>
                <a:spcPts val="0"/>
              </a:spcAft>
              <a:buSzPts val="1800"/>
              <a:buChar char="•"/>
              <a:defRPr/>
            </a:lvl1pPr>
            <a:lvl2pPr marL="914400" lvl="1" indent="-342900" algn="l">
              <a:lnSpc>
                <a:spcPct val="110000"/>
              </a:lnSpc>
              <a:spcBef>
                <a:spcPts val="500"/>
              </a:spcBef>
              <a:spcAft>
                <a:spcPts val="0"/>
              </a:spcAft>
              <a:buSzPts val="1800"/>
              <a:buChar char="•"/>
              <a:defRPr/>
            </a:lvl2pPr>
            <a:lvl3pPr marL="1371600" lvl="2" indent="-342900" algn="l">
              <a:lnSpc>
                <a:spcPct val="110000"/>
              </a:lnSpc>
              <a:spcBef>
                <a:spcPts val="500"/>
              </a:spcBef>
              <a:spcAft>
                <a:spcPts val="0"/>
              </a:spcAft>
              <a:buSzPts val="1800"/>
              <a:buChar char="•"/>
              <a:defRPr/>
            </a:lvl3pPr>
            <a:lvl4pPr marL="1828800" lvl="3" indent="-342900" algn="l">
              <a:lnSpc>
                <a:spcPct val="110000"/>
              </a:lnSpc>
              <a:spcBef>
                <a:spcPts val="500"/>
              </a:spcBef>
              <a:spcAft>
                <a:spcPts val="0"/>
              </a:spcAft>
              <a:buSzPts val="1800"/>
              <a:buChar char="•"/>
              <a:defRPr/>
            </a:lvl4pPr>
            <a:lvl5pPr marL="2286000" lvl="4" indent="-342900" algn="l">
              <a:lnSpc>
                <a:spcPct val="110000"/>
              </a:lnSpc>
              <a:spcBef>
                <a:spcPts val="50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73"/>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73"/>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73"/>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2"/>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pic>
        <p:nvPicPr>
          <p:cNvPr id="11" name="Google Shape;11;p62"/>
          <p:cNvPicPr preferRelativeResize="0"/>
          <p:nvPr/>
        </p:nvPicPr>
        <p:blipFill rotWithShape="1">
          <a:blip r:embed="rId13">
            <a:alphaModFix amt="35000"/>
          </a:blip>
          <a:srcRect/>
          <a:stretch/>
        </p:blipFill>
        <p:spPr>
          <a:xfrm>
            <a:off x="0" y="1"/>
            <a:ext cx="12192000" cy="1392401"/>
          </a:xfrm>
          <a:prstGeom prst="rect">
            <a:avLst/>
          </a:prstGeom>
          <a:noFill/>
          <a:ln>
            <a:noFill/>
          </a:ln>
        </p:spPr>
      </p:pic>
      <p:sp>
        <p:nvSpPr>
          <p:cNvPr id="12" name="Google Shape;12;p62"/>
          <p:cNvSpPr txBox="1">
            <a:spLocks noGrp="1"/>
          </p:cNvSpPr>
          <p:nvPr>
            <p:ph type="title"/>
          </p:nvPr>
        </p:nvSpPr>
        <p:spPr>
          <a:xfrm>
            <a:off x="838200" y="425450"/>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100000"/>
              </a:lnSpc>
              <a:spcBef>
                <a:spcPts val="0"/>
              </a:spcBef>
              <a:spcAft>
                <a:spcPts val="0"/>
              </a:spcAft>
              <a:buClr>
                <a:schemeClr val="lt1"/>
              </a:buClr>
              <a:buSzPts val="4400"/>
              <a:buFont typeface="Avenir"/>
              <a:buNone/>
              <a:defRPr sz="4400" b="1" i="0" u="none" strike="noStrike" cap="none">
                <a:solidFill>
                  <a:schemeClr val="lt1"/>
                </a:solidFill>
                <a:latin typeface="Avenir"/>
                <a:ea typeface="Avenir"/>
                <a:cs typeface="Avenir"/>
                <a:sym typeface="Aveni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62"/>
          <p:cNvSpPr txBox="1">
            <a:spLocks noGrp="1"/>
          </p:cNvSpPr>
          <p:nvPr>
            <p:ph type="body" idx="1"/>
          </p:nvPr>
        </p:nvSpPr>
        <p:spPr>
          <a:xfrm>
            <a:off x="838200" y="1949450"/>
            <a:ext cx="10515600" cy="4195763"/>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110000"/>
              </a:lnSpc>
              <a:spcBef>
                <a:spcPts val="1000"/>
              </a:spcBef>
              <a:spcAft>
                <a:spcPts val="0"/>
              </a:spcAft>
              <a:buClr>
                <a:schemeClr val="accent1"/>
              </a:buClr>
              <a:buSzPts val="2800"/>
              <a:buFont typeface="Arial"/>
              <a:buChar char="•"/>
              <a:defRPr sz="2800" b="0" i="0" u="none" strike="noStrike" cap="none">
                <a:solidFill>
                  <a:schemeClr val="lt1"/>
                </a:solidFill>
                <a:latin typeface="Avenir"/>
                <a:ea typeface="Avenir"/>
                <a:cs typeface="Avenir"/>
                <a:sym typeface="Avenir"/>
              </a:defRPr>
            </a:lvl1pPr>
            <a:lvl2pPr marL="914400" marR="0" lvl="1" indent="-381000" algn="l" rtl="0">
              <a:lnSpc>
                <a:spcPct val="110000"/>
              </a:lnSpc>
              <a:spcBef>
                <a:spcPts val="500"/>
              </a:spcBef>
              <a:spcAft>
                <a:spcPts val="0"/>
              </a:spcAft>
              <a:buClr>
                <a:schemeClr val="accent1"/>
              </a:buClr>
              <a:buSzPts val="2400"/>
              <a:buFont typeface="Arial"/>
              <a:buChar char="•"/>
              <a:defRPr sz="2400" b="0" i="0" u="none" strike="noStrike" cap="none">
                <a:solidFill>
                  <a:schemeClr val="lt1"/>
                </a:solidFill>
                <a:latin typeface="Avenir"/>
                <a:ea typeface="Avenir"/>
                <a:cs typeface="Avenir"/>
                <a:sym typeface="Avenir"/>
              </a:defRPr>
            </a:lvl2pPr>
            <a:lvl3pPr marL="1371600" marR="0" lvl="2" indent="-355600" algn="l" rtl="0">
              <a:lnSpc>
                <a:spcPct val="110000"/>
              </a:lnSpc>
              <a:spcBef>
                <a:spcPts val="500"/>
              </a:spcBef>
              <a:spcAft>
                <a:spcPts val="0"/>
              </a:spcAft>
              <a:buClr>
                <a:schemeClr val="accent1"/>
              </a:buClr>
              <a:buSzPts val="20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endParaRPr/>
          </a:p>
        </p:txBody>
      </p:sp>
      <p:sp>
        <p:nvSpPr>
          <p:cNvPr id="14" name="Google Shape;14;p62"/>
          <p:cNvSpPr txBox="1">
            <a:spLocks noGrp="1"/>
          </p:cNvSpPr>
          <p:nvPr>
            <p:ph type="dt" idx="10"/>
          </p:nvPr>
        </p:nvSpPr>
        <p:spPr>
          <a:xfrm>
            <a:off x="838200" y="632460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5" name="Google Shape;15;p62"/>
          <p:cNvSpPr txBox="1">
            <a:spLocks noGrp="1"/>
          </p:cNvSpPr>
          <p:nvPr>
            <p:ph type="ftr" idx="11"/>
          </p:nvPr>
        </p:nvSpPr>
        <p:spPr>
          <a:xfrm>
            <a:off x="4038600" y="632460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chemeClr val="lt1"/>
                </a:solidFill>
                <a:latin typeface="Avenir"/>
                <a:ea typeface="Avenir"/>
                <a:cs typeface="Avenir"/>
                <a:sym typeface="Avenir"/>
              </a:defRPr>
            </a:lvl1pPr>
            <a:lvl2pPr marR="0" lvl="1" algn="l" rtl="0">
              <a:spcBef>
                <a:spcPts val="0"/>
              </a:spcBef>
              <a:spcAft>
                <a:spcPts val="0"/>
              </a:spcAft>
              <a:buSzPts val="1400"/>
              <a:buNone/>
              <a:defRPr sz="1800" b="0" i="0" u="none" strike="noStrike" cap="none">
                <a:solidFill>
                  <a:schemeClr val="dk1"/>
                </a:solidFill>
                <a:latin typeface="Avenir"/>
                <a:ea typeface="Avenir"/>
                <a:cs typeface="Avenir"/>
                <a:sym typeface="Avenir"/>
              </a:defRPr>
            </a:lvl2pPr>
            <a:lvl3pPr marR="0" lvl="2" algn="l" rtl="0">
              <a:spcBef>
                <a:spcPts val="0"/>
              </a:spcBef>
              <a:spcAft>
                <a:spcPts val="0"/>
              </a:spcAft>
              <a:buSzPts val="1400"/>
              <a:buNone/>
              <a:defRPr sz="1800" b="0" i="0" u="none" strike="noStrike" cap="none">
                <a:solidFill>
                  <a:schemeClr val="dk1"/>
                </a:solidFill>
                <a:latin typeface="Avenir"/>
                <a:ea typeface="Avenir"/>
                <a:cs typeface="Avenir"/>
                <a:sym typeface="Avenir"/>
              </a:defRPr>
            </a:lvl3pPr>
            <a:lvl4pPr marR="0" lvl="3" algn="l" rtl="0">
              <a:spcBef>
                <a:spcPts val="0"/>
              </a:spcBef>
              <a:spcAft>
                <a:spcPts val="0"/>
              </a:spcAft>
              <a:buSzPts val="1400"/>
              <a:buNone/>
              <a:defRPr sz="1800" b="0" i="0" u="none" strike="noStrike" cap="none">
                <a:solidFill>
                  <a:schemeClr val="dk1"/>
                </a:solidFill>
                <a:latin typeface="Avenir"/>
                <a:ea typeface="Avenir"/>
                <a:cs typeface="Avenir"/>
                <a:sym typeface="Avenir"/>
              </a:defRPr>
            </a:lvl4pPr>
            <a:lvl5pPr marR="0" lvl="4" algn="l" rtl="0">
              <a:spcBef>
                <a:spcPts val="0"/>
              </a:spcBef>
              <a:spcAft>
                <a:spcPts val="0"/>
              </a:spcAft>
              <a:buSzPts val="1400"/>
              <a:buNone/>
              <a:defRPr sz="1800" b="0" i="0" u="none" strike="noStrike" cap="none">
                <a:solidFill>
                  <a:schemeClr val="dk1"/>
                </a:solidFill>
                <a:latin typeface="Avenir"/>
                <a:ea typeface="Avenir"/>
                <a:cs typeface="Avenir"/>
                <a:sym typeface="Avenir"/>
              </a:defRPr>
            </a:lvl5pPr>
            <a:lvl6pPr marR="0" lvl="5" algn="l" rtl="0">
              <a:spcBef>
                <a:spcPts val="0"/>
              </a:spcBef>
              <a:spcAft>
                <a:spcPts val="0"/>
              </a:spcAft>
              <a:buSzPts val="1400"/>
              <a:buNone/>
              <a:defRPr sz="1800" b="0" i="0" u="none" strike="noStrike" cap="none">
                <a:solidFill>
                  <a:schemeClr val="dk1"/>
                </a:solidFill>
                <a:latin typeface="Avenir"/>
                <a:ea typeface="Avenir"/>
                <a:cs typeface="Avenir"/>
                <a:sym typeface="Avenir"/>
              </a:defRPr>
            </a:lvl6pPr>
            <a:lvl7pPr marR="0" lvl="6" algn="l" rtl="0">
              <a:spcBef>
                <a:spcPts val="0"/>
              </a:spcBef>
              <a:spcAft>
                <a:spcPts val="0"/>
              </a:spcAft>
              <a:buSzPts val="1400"/>
              <a:buNone/>
              <a:defRPr sz="1800" b="0" i="0" u="none" strike="noStrike" cap="none">
                <a:solidFill>
                  <a:schemeClr val="dk1"/>
                </a:solidFill>
                <a:latin typeface="Avenir"/>
                <a:ea typeface="Avenir"/>
                <a:cs typeface="Avenir"/>
                <a:sym typeface="Avenir"/>
              </a:defRPr>
            </a:lvl7pPr>
            <a:lvl8pPr marR="0" lvl="7" algn="l" rtl="0">
              <a:spcBef>
                <a:spcPts val="0"/>
              </a:spcBef>
              <a:spcAft>
                <a:spcPts val="0"/>
              </a:spcAft>
              <a:buSzPts val="1400"/>
              <a:buNone/>
              <a:defRPr sz="1800" b="0" i="0" u="none" strike="noStrike" cap="none">
                <a:solidFill>
                  <a:schemeClr val="dk1"/>
                </a:solidFill>
                <a:latin typeface="Avenir"/>
                <a:ea typeface="Avenir"/>
                <a:cs typeface="Avenir"/>
                <a:sym typeface="Avenir"/>
              </a:defRPr>
            </a:lvl8pPr>
            <a:lvl9pPr marR="0" lvl="8" algn="l" rtl="0">
              <a:spcBef>
                <a:spcPts val="0"/>
              </a:spcBef>
              <a:spcAft>
                <a:spcPts val="0"/>
              </a:spcAft>
              <a:buSzPts val="1400"/>
              <a:buNone/>
              <a:defRPr sz="1800" b="0" i="0" u="none" strike="noStrike" cap="none">
                <a:solidFill>
                  <a:schemeClr val="dk1"/>
                </a:solidFill>
                <a:latin typeface="Avenir"/>
                <a:ea typeface="Avenir"/>
                <a:cs typeface="Avenir"/>
                <a:sym typeface="Avenir"/>
              </a:defRPr>
            </a:lvl9pPr>
          </a:lstStyle>
          <a:p>
            <a:endParaRPr/>
          </a:p>
        </p:txBody>
      </p:sp>
      <p:sp>
        <p:nvSpPr>
          <p:cNvPr id="16" name="Google Shape;16;p62"/>
          <p:cNvSpPr txBox="1">
            <a:spLocks noGrp="1"/>
          </p:cNvSpPr>
          <p:nvPr>
            <p:ph type="sldNum" idx="12"/>
          </p:nvPr>
        </p:nvSpPr>
        <p:spPr>
          <a:xfrm>
            <a:off x="8610600" y="63246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chemeClr val="lt1"/>
                </a:solidFill>
                <a:latin typeface="Avenir"/>
                <a:ea typeface="Avenir"/>
                <a:cs typeface="Avenir"/>
                <a:sym typeface="Avenir"/>
              </a:defRPr>
            </a:lvl1pPr>
            <a:lvl2pPr marL="0" marR="0" lvl="1" indent="0" algn="r" rtl="0">
              <a:spcBef>
                <a:spcPts val="0"/>
              </a:spcBef>
              <a:buNone/>
              <a:defRPr sz="900" b="0" i="0" u="none" strike="noStrike" cap="none">
                <a:solidFill>
                  <a:schemeClr val="lt1"/>
                </a:solidFill>
                <a:latin typeface="Avenir"/>
                <a:ea typeface="Avenir"/>
                <a:cs typeface="Avenir"/>
                <a:sym typeface="Avenir"/>
              </a:defRPr>
            </a:lvl2pPr>
            <a:lvl3pPr marL="0" marR="0" lvl="2" indent="0" algn="r" rtl="0">
              <a:spcBef>
                <a:spcPts val="0"/>
              </a:spcBef>
              <a:buNone/>
              <a:defRPr sz="900" b="0" i="0" u="none" strike="noStrike" cap="none">
                <a:solidFill>
                  <a:schemeClr val="lt1"/>
                </a:solidFill>
                <a:latin typeface="Avenir"/>
                <a:ea typeface="Avenir"/>
                <a:cs typeface="Avenir"/>
                <a:sym typeface="Avenir"/>
              </a:defRPr>
            </a:lvl3pPr>
            <a:lvl4pPr marL="0" marR="0" lvl="3" indent="0" algn="r" rtl="0">
              <a:spcBef>
                <a:spcPts val="0"/>
              </a:spcBef>
              <a:buNone/>
              <a:defRPr sz="900" b="0" i="0" u="none" strike="noStrike" cap="none">
                <a:solidFill>
                  <a:schemeClr val="lt1"/>
                </a:solidFill>
                <a:latin typeface="Avenir"/>
                <a:ea typeface="Avenir"/>
                <a:cs typeface="Avenir"/>
                <a:sym typeface="Avenir"/>
              </a:defRPr>
            </a:lvl4pPr>
            <a:lvl5pPr marL="0" marR="0" lvl="4" indent="0" algn="r" rtl="0">
              <a:spcBef>
                <a:spcPts val="0"/>
              </a:spcBef>
              <a:buNone/>
              <a:defRPr sz="900" b="0" i="0" u="none" strike="noStrike" cap="none">
                <a:solidFill>
                  <a:schemeClr val="lt1"/>
                </a:solidFill>
                <a:latin typeface="Avenir"/>
                <a:ea typeface="Avenir"/>
                <a:cs typeface="Avenir"/>
                <a:sym typeface="Avenir"/>
              </a:defRPr>
            </a:lvl5pPr>
            <a:lvl6pPr marL="0" marR="0" lvl="5" indent="0" algn="r" rtl="0">
              <a:spcBef>
                <a:spcPts val="0"/>
              </a:spcBef>
              <a:buNone/>
              <a:defRPr sz="900" b="0" i="0" u="none" strike="noStrike" cap="none">
                <a:solidFill>
                  <a:schemeClr val="lt1"/>
                </a:solidFill>
                <a:latin typeface="Avenir"/>
                <a:ea typeface="Avenir"/>
                <a:cs typeface="Avenir"/>
                <a:sym typeface="Avenir"/>
              </a:defRPr>
            </a:lvl6pPr>
            <a:lvl7pPr marL="0" marR="0" lvl="6" indent="0" algn="r" rtl="0">
              <a:spcBef>
                <a:spcPts val="0"/>
              </a:spcBef>
              <a:buNone/>
              <a:defRPr sz="900" b="0" i="0" u="none" strike="noStrike" cap="none">
                <a:solidFill>
                  <a:schemeClr val="lt1"/>
                </a:solidFill>
                <a:latin typeface="Avenir"/>
                <a:ea typeface="Avenir"/>
                <a:cs typeface="Avenir"/>
                <a:sym typeface="Avenir"/>
              </a:defRPr>
            </a:lvl7pPr>
            <a:lvl8pPr marL="0" marR="0" lvl="7" indent="0" algn="r" rtl="0">
              <a:spcBef>
                <a:spcPts val="0"/>
              </a:spcBef>
              <a:buNone/>
              <a:defRPr sz="900" b="0" i="0" u="none" strike="noStrike" cap="none">
                <a:solidFill>
                  <a:schemeClr val="lt1"/>
                </a:solidFill>
                <a:latin typeface="Avenir"/>
                <a:ea typeface="Avenir"/>
                <a:cs typeface="Avenir"/>
                <a:sym typeface="Avenir"/>
              </a:defRPr>
            </a:lvl8pPr>
            <a:lvl9pPr marL="0" marR="0" lvl="8" indent="0" algn="r" rtl="0">
              <a:spcBef>
                <a:spcPts val="0"/>
              </a:spcBef>
              <a:buNone/>
              <a:defRPr sz="900" b="0" i="0" u="none" strike="noStrike" cap="none">
                <a:solidFill>
                  <a:schemeClr val="lt1"/>
                </a:solidFill>
                <a:latin typeface="Avenir"/>
                <a:ea typeface="Avenir"/>
                <a:cs typeface="Avenir"/>
                <a:sym typeface="Aveni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9"/>
        <p:cNvGrpSpPr/>
        <p:nvPr/>
      </p:nvGrpSpPr>
      <p:grpSpPr>
        <a:xfrm>
          <a:off x="0" y="0"/>
          <a:ext cx="0" cy="0"/>
          <a:chOff x="0" y="0"/>
          <a:chExt cx="0" cy="0"/>
        </a:xfrm>
      </p:grpSpPr>
      <p:sp>
        <p:nvSpPr>
          <p:cNvPr id="90" name="Google Shape;90;p1"/>
          <p:cNvSpPr/>
          <p:nvPr/>
        </p:nvSpPr>
        <p:spPr>
          <a:xfrm>
            <a:off x="0" y="1"/>
            <a:ext cx="12192000" cy="685800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1" name="Google Shape;91;p1"/>
          <p:cNvPicPr preferRelativeResize="0"/>
          <p:nvPr/>
        </p:nvPicPr>
        <p:blipFill rotWithShape="1">
          <a:blip r:embed="rId3">
            <a:alphaModFix amt="35000"/>
          </a:blip>
          <a:srcRect/>
          <a:stretch/>
        </p:blipFill>
        <p:spPr>
          <a:xfrm>
            <a:off x="0" y="1"/>
            <a:ext cx="12192000" cy="1392401"/>
          </a:xfrm>
          <a:prstGeom prst="rect">
            <a:avLst/>
          </a:prstGeom>
          <a:noFill/>
          <a:ln>
            <a:noFill/>
          </a:ln>
        </p:spPr>
      </p:pic>
      <p:sp>
        <p:nvSpPr>
          <p:cNvPr id="92" name="Google Shape;92;p1"/>
          <p:cNvSpPr/>
          <p:nvPr/>
        </p:nvSpPr>
        <p:spPr>
          <a:xfrm>
            <a:off x="3048"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3" name="Google Shape;93;p1"/>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pic>
        <p:nvPicPr>
          <p:cNvPr id="94" name="Google Shape;94;p1"/>
          <p:cNvPicPr preferRelativeResize="0"/>
          <p:nvPr/>
        </p:nvPicPr>
        <p:blipFill rotWithShape="1">
          <a:blip r:embed="rId4">
            <a:alphaModFix/>
          </a:blip>
          <a:srcRect l="9052" r="15486" b="-2"/>
          <a:stretch/>
        </p:blipFill>
        <p:spPr>
          <a:xfrm>
            <a:off x="5996628" y="-1308"/>
            <a:ext cx="6195372" cy="4618233"/>
          </a:xfrm>
          <a:prstGeom prst="rect">
            <a:avLst/>
          </a:prstGeom>
          <a:noFill/>
          <a:ln>
            <a:noFill/>
          </a:ln>
        </p:spPr>
      </p:pic>
      <p:sp>
        <p:nvSpPr>
          <p:cNvPr id="95" name="Google Shape;95;p1"/>
          <p:cNvSpPr/>
          <p:nvPr/>
        </p:nvSpPr>
        <p:spPr>
          <a:xfrm>
            <a:off x="0" y="4602877"/>
            <a:ext cx="12192000" cy="2267339"/>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595959"/>
              </a:solidFill>
              <a:latin typeface="Avenir"/>
              <a:ea typeface="Avenir"/>
              <a:cs typeface="Avenir"/>
              <a:sym typeface="Avenir"/>
            </a:endParaRPr>
          </a:p>
        </p:txBody>
      </p:sp>
      <p:sp>
        <p:nvSpPr>
          <p:cNvPr id="96" name="Google Shape;96;p1"/>
          <p:cNvSpPr/>
          <p:nvPr/>
        </p:nvSpPr>
        <p:spPr>
          <a:xfrm rot="10800000">
            <a:off x="-3055" y="4596020"/>
            <a:ext cx="12191999" cy="2274195"/>
          </a:xfrm>
          <a:prstGeom prst="rect">
            <a:avLst/>
          </a:prstGeom>
          <a:blipFill rotWithShape="1">
            <a:blip r:embed="rId5">
              <a:alphaModFix amt="20000"/>
            </a:blip>
            <a:tile tx="889000" ty="0" sx="100000" sy="100000" flip="none" algn="tl"/>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lt1"/>
              </a:buClr>
              <a:buSzPts val="1800"/>
              <a:buFont typeface="Avenir"/>
              <a:buNone/>
            </a:pPr>
            <a:endParaRPr sz="1800" b="0" i="0" u="none" strike="noStrike" cap="none">
              <a:solidFill>
                <a:srgbClr val="FFFFFF"/>
              </a:solidFill>
              <a:latin typeface="Avenir"/>
              <a:ea typeface="Avenir"/>
              <a:cs typeface="Avenir"/>
              <a:sym typeface="Avenir"/>
            </a:endParaRPr>
          </a:p>
        </p:txBody>
      </p:sp>
      <p:sp>
        <p:nvSpPr>
          <p:cNvPr id="97" name="Google Shape;97;p1"/>
          <p:cNvSpPr txBox="1">
            <a:spLocks noGrp="1"/>
          </p:cNvSpPr>
          <p:nvPr>
            <p:ph type="ctrTitle"/>
          </p:nvPr>
        </p:nvSpPr>
        <p:spPr>
          <a:xfrm>
            <a:off x="838200" y="4876800"/>
            <a:ext cx="10003218" cy="12192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lt1"/>
              </a:buClr>
              <a:buSzPts val="4100"/>
              <a:buFont typeface="Avenir"/>
              <a:buNone/>
            </a:pPr>
            <a:r>
              <a:rPr lang="en-US" sz="4100" dirty="0"/>
              <a:t>CSDC-446 Parallel and Distributed Computing</a:t>
            </a:r>
            <a:endParaRPr sz="4100" dirty="0"/>
          </a:p>
        </p:txBody>
      </p:sp>
      <p:sp>
        <p:nvSpPr>
          <p:cNvPr id="98" name="Google Shape;98;p1"/>
          <p:cNvSpPr txBox="1">
            <a:spLocks noGrp="1"/>
          </p:cNvSpPr>
          <p:nvPr>
            <p:ph type="subTitle" idx="1"/>
          </p:nvPr>
        </p:nvSpPr>
        <p:spPr>
          <a:xfrm>
            <a:off x="0" y="-12211"/>
            <a:ext cx="5313452" cy="3935986"/>
          </a:xfrm>
          <a:prstGeom prst="rect">
            <a:avLst/>
          </a:prstGeom>
          <a:noFill/>
          <a:ln>
            <a:noFill/>
          </a:ln>
        </p:spPr>
        <p:txBody>
          <a:bodyPr spcFirstLastPara="1" wrap="square" lIns="91425" tIns="45700" rIns="91425" bIns="45700" anchor="b" anchorCtr="0">
            <a:normAutofit/>
          </a:bodyPr>
          <a:lstStyle/>
          <a:p>
            <a:pPr marL="0" lvl="0" indent="0" algn="just" rtl="0">
              <a:lnSpc>
                <a:spcPct val="110000"/>
              </a:lnSpc>
              <a:spcBef>
                <a:spcPts val="0"/>
              </a:spcBef>
              <a:spcAft>
                <a:spcPts val="0"/>
              </a:spcAft>
              <a:buSzPts val="2800"/>
              <a:buNone/>
            </a:pPr>
            <a:r>
              <a:rPr lang="en-US" sz="3600" b="1" dirty="0">
                <a:solidFill>
                  <a:schemeClr val="dk2"/>
                </a:solidFill>
                <a:latin typeface="Arial"/>
                <a:ea typeface="Arial"/>
                <a:cs typeface="Arial"/>
                <a:sym typeface="Arial"/>
              </a:rPr>
              <a:t>Dr. </a:t>
            </a:r>
            <a:r>
              <a:rPr lang="en-US" sz="3600" b="1" dirty="0" err="1">
                <a:solidFill>
                  <a:schemeClr val="dk2"/>
                </a:solidFill>
                <a:latin typeface="Arial"/>
                <a:ea typeface="Arial"/>
                <a:cs typeface="Arial"/>
                <a:sym typeface="Arial"/>
              </a:rPr>
              <a:t>Sehrish</a:t>
            </a:r>
            <a:r>
              <a:rPr lang="en-US" sz="3600" b="1" dirty="0">
                <a:solidFill>
                  <a:schemeClr val="dk2"/>
                </a:solidFill>
                <a:latin typeface="Arial"/>
                <a:ea typeface="Arial"/>
                <a:cs typeface="Arial"/>
                <a:sym typeface="Arial"/>
              </a:rPr>
              <a:t> Amjad</a:t>
            </a:r>
            <a:endParaRPr sz="3600"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p:cNvGrpSpPr/>
        <p:nvPr/>
      </p:nvGrpSpPr>
      <p:grpSpPr>
        <a:xfrm>
          <a:off x="0" y="0"/>
          <a:ext cx="0" cy="0"/>
          <a:chOff x="0" y="0"/>
          <a:chExt cx="0" cy="0"/>
        </a:xfrm>
      </p:grpSpPr>
      <p:sp>
        <p:nvSpPr>
          <p:cNvPr id="136" name="Google Shape;136;p4"/>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p:cNvSpPr/>
          <p:nvPr/>
        </p:nvSpPr>
        <p:spPr>
          <a:xfrm>
            <a:off x="3048" y="0"/>
            <a:ext cx="12188952" cy="6858000"/>
          </a:xfrm>
          <a:prstGeom prst="rect">
            <a:avLst/>
          </a:prstGeom>
          <a:solidFill>
            <a:schemeClr val="lt2">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8" name="Google Shape;138;p4"/>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Topics Covered</a:t>
            </a:r>
            <a:endParaRPr dirty="0"/>
          </a:p>
        </p:txBody>
      </p:sp>
      <p:sp>
        <p:nvSpPr>
          <p:cNvPr id="4" name="Google Shape;141;p4">
            <a:extLst>
              <a:ext uri="{FF2B5EF4-FFF2-40B4-BE49-F238E27FC236}">
                <a16:creationId xmlns:a16="http://schemas.microsoft.com/office/drawing/2014/main" id="{51427039-8E57-7CCE-9DFD-2CDF3DEDB0BE}"/>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Dependency Analysis</a:t>
            </a:r>
          </a:p>
          <a:p>
            <a:pPr indent="-457200">
              <a:buSzPts val="2800"/>
            </a:pPr>
            <a:r>
              <a:rPr lang="en-US" dirty="0">
                <a:solidFill>
                  <a:schemeClr val="dk1"/>
                </a:solidFill>
                <a:latin typeface="Arial"/>
                <a:ea typeface="Arial"/>
                <a:cs typeface="Arial"/>
                <a:sym typeface="Arial"/>
              </a:rPr>
              <a:t>Designing Parallel Programs</a:t>
            </a:r>
          </a:p>
          <a:p>
            <a:pPr lvl="1" indent="-457200">
              <a:buSzPts val="2800"/>
            </a:pPr>
            <a:endParaRPr lang="en-US" dirty="0">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35">
          <a:extLst>
            <a:ext uri="{FF2B5EF4-FFF2-40B4-BE49-F238E27FC236}">
              <a16:creationId xmlns:a16="http://schemas.microsoft.com/office/drawing/2014/main" id="{EE103C5B-2777-A757-C630-7EAE22E8D72A}"/>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74E714F4-CE03-375F-11CB-6F3AE49935D9}"/>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461B47BA-CB7B-B2CF-344D-BF94F36C929B}"/>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1BDB23E5-1280-C926-654D-DD793E1E3EF4}"/>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0023B423-BB41-F898-67C5-9E21FB02A96F}"/>
              </a:ext>
            </a:extLst>
          </p:cNvPr>
          <p:cNvSpPr txBox="1">
            <a:spLocks noGrp="1"/>
          </p:cNvSpPr>
          <p:nvPr>
            <p:ph type="title"/>
          </p:nvPr>
        </p:nvSpPr>
        <p:spPr>
          <a:xfrm>
            <a:off x="1533462" y="280416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solidFill>
                  <a:schemeClr val="tx1"/>
                </a:solidFill>
              </a:rPr>
              <a:t>Program Transformations and Validity</a:t>
            </a:r>
          </a:p>
        </p:txBody>
      </p:sp>
    </p:spTree>
    <p:extLst>
      <p:ext uri="{BB962C8B-B14F-4D97-AF65-F5344CB8AC3E}">
        <p14:creationId xmlns:p14="http://schemas.microsoft.com/office/powerpoint/2010/main" val="12381560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09650DB9-A4CB-C0D4-E04E-8C5A39C2AA2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34F172DD-BEFC-7B1F-AFE8-24B84544949C}"/>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1AE46305-7638-932D-BDC9-51EC08C0E3C7}"/>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3FFD6CB7-E595-9C1B-FA9C-A28CDC6282B6}"/>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F9174E50-110D-42FD-ADBC-0C9D9486253F}"/>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Reordering Transformations</a:t>
            </a:r>
          </a:p>
        </p:txBody>
      </p:sp>
      <p:pic>
        <p:nvPicPr>
          <p:cNvPr id="4" name="Picture 3">
            <a:extLst>
              <a:ext uri="{FF2B5EF4-FFF2-40B4-BE49-F238E27FC236}">
                <a16:creationId xmlns:a16="http://schemas.microsoft.com/office/drawing/2014/main" id="{82D50B5E-B11E-63BD-778C-7345CA516B59}"/>
              </a:ext>
            </a:extLst>
          </p:cNvPr>
          <p:cNvPicPr>
            <a:picLocks noChangeAspect="1"/>
          </p:cNvPicPr>
          <p:nvPr/>
        </p:nvPicPr>
        <p:blipFill>
          <a:blip r:embed="rId3"/>
          <a:stretch>
            <a:fillRect/>
          </a:stretch>
        </p:blipFill>
        <p:spPr>
          <a:xfrm>
            <a:off x="885825" y="2362124"/>
            <a:ext cx="10315575" cy="2800350"/>
          </a:xfrm>
          <a:prstGeom prst="rect">
            <a:avLst/>
          </a:prstGeom>
        </p:spPr>
      </p:pic>
    </p:spTree>
    <p:extLst>
      <p:ext uri="{BB962C8B-B14F-4D97-AF65-F5344CB8AC3E}">
        <p14:creationId xmlns:p14="http://schemas.microsoft.com/office/powerpoint/2010/main" val="3798810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575196C7-4D70-65BF-C4FE-86A0AA542FAD}"/>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F2A7289C-9B57-B8C5-21A6-736FC10A35FE}"/>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9CC64F19-DABC-E29F-1956-06EAD325BB44}"/>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612ACF76-8747-FB2D-8431-76633F9DFAE5}"/>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39FF422B-70EB-EBC6-E213-306F30944DDD}"/>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Validity of Dependence-Based Transformations</a:t>
            </a:r>
          </a:p>
        </p:txBody>
      </p:sp>
      <p:pic>
        <p:nvPicPr>
          <p:cNvPr id="4" name="Picture 3">
            <a:extLst>
              <a:ext uri="{FF2B5EF4-FFF2-40B4-BE49-F238E27FC236}">
                <a16:creationId xmlns:a16="http://schemas.microsoft.com/office/drawing/2014/main" id="{ED94F6EC-2728-A7F9-2B59-8FEDC35F5EDC}"/>
              </a:ext>
            </a:extLst>
          </p:cNvPr>
          <p:cNvPicPr>
            <a:picLocks noChangeAspect="1"/>
          </p:cNvPicPr>
          <p:nvPr/>
        </p:nvPicPr>
        <p:blipFill>
          <a:blip r:embed="rId3"/>
          <a:stretch>
            <a:fillRect/>
          </a:stretch>
        </p:blipFill>
        <p:spPr>
          <a:xfrm>
            <a:off x="1045782" y="2424428"/>
            <a:ext cx="9639300" cy="790575"/>
          </a:xfrm>
          <a:prstGeom prst="rect">
            <a:avLst/>
          </a:prstGeom>
        </p:spPr>
      </p:pic>
    </p:spTree>
    <p:extLst>
      <p:ext uri="{BB962C8B-B14F-4D97-AF65-F5344CB8AC3E}">
        <p14:creationId xmlns:p14="http://schemas.microsoft.com/office/powerpoint/2010/main" val="5287021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14265FD6-63B9-85C5-CEBA-25D091D40E64}"/>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280B449E-1DFB-36A0-2503-6FA3139B5165}"/>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F28DB236-7389-CF6E-F3A7-69FF90B9A675}"/>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D7380D59-50A4-6BBC-7646-9163949C5D8B}"/>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5E24F992-62F6-7767-9D14-CF6158F0CDDD}"/>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Direction Vector Transformation</a:t>
            </a:r>
          </a:p>
        </p:txBody>
      </p:sp>
      <p:pic>
        <p:nvPicPr>
          <p:cNvPr id="3" name="Picture 2">
            <a:extLst>
              <a:ext uri="{FF2B5EF4-FFF2-40B4-BE49-F238E27FC236}">
                <a16:creationId xmlns:a16="http://schemas.microsoft.com/office/drawing/2014/main" id="{B2260DBA-283E-8C35-8636-45CB3DAA9A5C}"/>
              </a:ext>
            </a:extLst>
          </p:cNvPr>
          <p:cNvPicPr>
            <a:picLocks noChangeAspect="1"/>
          </p:cNvPicPr>
          <p:nvPr/>
        </p:nvPicPr>
        <p:blipFill>
          <a:blip r:embed="rId3"/>
          <a:stretch>
            <a:fillRect/>
          </a:stretch>
        </p:blipFill>
        <p:spPr>
          <a:xfrm>
            <a:off x="995362" y="2414587"/>
            <a:ext cx="10201275" cy="2028825"/>
          </a:xfrm>
          <a:prstGeom prst="rect">
            <a:avLst/>
          </a:prstGeom>
        </p:spPr>
      </p:pic>
    </p:spTree>
    <p:extLst>
      <p:ext uri="{BB962C8B-B14F-4D97-AF65-F5344CB8AC3E}">
        <p14:creationId xmlns:p14="http://schemas.microsoft.com/office/powerpoint/2010/main" val="20223030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48759847-8503-BE8D-F864-25EA65314B9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2CFE8DCD-FFCF-1BB7-7C3E-2264933901EA}"/>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E3464417-7814-8C12-726E-3777A10AA70C}"/>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B461EF9-C837-2644-C89E-C4D54EE061E3}"/>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89A4490C-E9EC-815F-690A-D2E7CE17D457}"/>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Is this transformation valid?</a:t>
            </a:r>
          </a:p>
        </p:txBody>
      </p:sp>
      <p:pic>
        <p:nvPicPr>
          <p:cNvPr id="3" name="Picture 2">
            <a:extLst>
              <a:ext uri="{FF2B5EF4-FFF2-40B4-BE49-F238E27FC236}">
                <a16:creationId xmlns:a16="http://schemas.microsoft.com/office/drawing/2014/main" id="{F2C60091-7BAE-E1AA-2F77-C1293BD1E438}"/>
              </a:ext>
            </a:extLst>
          </p:cNvPr>
          <p:cNvPicPr>
            <a:picLocks noChangeAspect="1"/>
          </p:cNvPicPr>
          <p:nvPr/>
        </p:nvPicPr>
        <p:blipFill>
          <a:blip r:embed="rId3"/>
          <a:stretch>
            <a:fillRect/>
          </a:stretch>
        </p:blipFill>
        <p:spPr>
          <a:xfrm>
            <a:off x="622363" y="2362124"/>
            <a:ext cx="10944225" cy="2600325"/>
          </a:xfrm>
          <a:prstGeom prst="rect">
            <a:avLst/>
          </a:prstGeom>
        </p:spPr>
      </p:pic>
    </p:spTree>
    <p:extLst>
      <p:ext uri="{BB962C8B-B14F-4D97-AF65-F5344CB8AC3E}">
        <p14:creationId xmlns:p14="http://schemas.microsoft.com/office/powerpoint/2010/main" val="40776095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FACBAEBF-C874-2651-1718-DAABC537287F}"/>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520A1EC9-0BB8-B8A0-E328-D1C8BFB931C4}"/>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944EC72C-6CDB-DBF7-915A-D4CA13659434}"/>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2E54C51A-2687-13A9-8D11-15400A56D595}"/>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7B5E75EA-9748-A3B1-6401-7F184F58E081}"/>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Validity of Transformations for Loop-Independent Dependences</a:t>
            </a:r>
          </a:p>
        </p:txBody>
      </p:sp>
      <p:pic>
        <p:nvPicPr>
          <p:cNvPr id="3" name="Picture 2">
            <a:extLst>
              <a:ext uri="{FF2B5EF4-FFF2-40B4-BE49-F238E27FC236}">
                <a16:creationId xmlns:a16="http://schemas.microsoft.com/office/drawing/2014/main" id="{7F380A70-646A-103B-A58A-D06B42897546}"/>
              </a:ext>
            </a:extLst>
          </p:cNvPr>
          <p:cNvPicPr>
            <a:picLocks noChangeAspect="1"/>
          </p:cNvPicPr>
          <p:nvPr/>
        </p:nvPicPr>
        <p:blipFill>
          <a:blip r:embed="rId3"/>
          <a:stretch>
            <a:fillRect/>
          </a:stretch>
        </p:blipFill>
        <p:spPr>
          <a:xfrm>
            <a:off x="855345" y="2362124"/>
            <a:ext cx="9963150" cy="1562100"/>
          </a:xfrm>
          <a:prstGeom prst="rect">
            <a:avLst/>
          </a:prstGeom>
        </p:spPr>
      </p:pic>
    </p:spTree>
    <p:extLst>
      <p:ext uri="{BB962C8B-B14F-4D97-AF65-F5344CB8AC3E}">
        <p14:creationId xmlns:p14="http://schemas.microsoft.com/office/powerpoint/2010/main" val="42167585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19D8A554-5662-8099-BDD6-BC2D58C2F517}"/>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88896B88-8580-30EA-6457-862490268AE6}"/>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A70C2D5C-B021-32AF-E9A1-1E2A2B514A76}"/>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D54EF4BA-7DD4-A4DB-001E-FF57CCD35978}"/>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C52183BD-A5D1-71F7-0237-274329A9A6B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Is this transformation valid?</a:t>
            </a:r>
          </a:p>
        </p:txBody>
      </p:sp>
      <p:pic>
        <p:nvPicPr>
          <p:cNvPr id="4" name="Picture 3">
            <a:extLst>
              <a:ext uri="{FF2B5EF4-FFF2-40B4-BE49-F238E27FC236}">
                <a16:creationId xmlns:a16="http://schemas.microsoft.com/office/drawing/2014/main" id="{48D9CFD7-8A3C-7287-BE22-566A46F65772}"/>
              </a:ext>
            </a:extLst>
          </p:cNvPr>
          <p:cNvPicPr>
            <a:picLocks noChangeAspect="1"/>
          </p:cNvPicPr>
          <p:nvPr/>
        </p:nvPicPr>
        <p:blipFill>
          <a:blip r:embed="rId3"/>
          <a:stretch>
            <a:fillRect/>
          </a:stretch>
        </p:blipFill>
        <p:spPr>
          <a:xfrm>
            <a:off x="842010" y="2362124"/>
            <a:ext cx="9258300" cy="2409825"/>
          </a:xfrm>
          <a:prstGeom prst="rect">
            <a:avLst/>
          </a:prstGeom>
        </p:spPr>
      </p:pic>
    </p:spTree>
    <p:extLst>
      <p:ext uri="{BB962C8B-B14F-4D97-AF65-F5344CB8AC3E}">
        <p14:creationId xmlns:p14="http://schemas.microsoft.com/office/powerpoint/2010/main" val="23841277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AD81CE5C-0C43-C810-1F57-5B2AF1B4FAC1}"/>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BCE413CA-95AB-5411-8CFF-9B4A048266F7}"/>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C40ED987-F346-C8E8-1C7D-456F887A03E4}"/>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055199A7-567A-EEE8-0842-AF1BA1467E37}"/>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9B647508-1641-CE9D-F033-30AFBC97132C}"/>
              </a:ext>
            </a:extLst>
          </p:cNvPr>
          <p:cNvSpPr txBox="1">
            <a:spLocks noGrp="1"/>
          </p:cNvSpPr>
          <p:nvPr>
            <p:ph type="title"/>
          </p:nvPr>
        </p:nvSpPr>
        <p:spPr>
          <a:xfrm>
            <a:off x="1533462" y="280416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solidFill>
                  <a:schemeClr val="tx1"/>
                </a:solidFill>
              </a:rPr>
              <a:t>Designing Parallel Programs</a:t>
            </a:r>
          </a:p>
        </p:txBody>
      </p:sp>
    </p:spTree>
    <p:extLst>
      <p:ext uri="{BB962C8B-B14F-4D97-AF65-F5344CB8AC3E}">
        <p14:creationId xmlns:p14="http://schemas.microsoft.com/office/powerpoint/2010/main" val="12946773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0826301F-635B-E7EC-2D52-FBECF888EE3D}"/>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158DD102-F7DD-31CA-BEA6-9F3DE34E5CCE}"/>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4C31DC28-B54D-0FBF-EED9-BA8209BA8191}"/>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5A6B1223-2D27-2408-1A53-5D1218D08E25}"/>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AFF31D04-130E-3B21-0658-C44894537E1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Designing Parallel Programs</a:t>
            </a:r>
          </a:p>
        </p:txBody>
      </p:sp>
      <p:sp>
        <p:nvSpPr>
          <p:cNvPr id="2" name="Google Shape;141;p4">
            <a:extLst>
              <a:ext uri="{FF2B5EF4-FFF2-40B4-BE49-F238E27FC236}">
                <a16:creationId xmlns:a16="http://schemas.microsoft.com/office/drawing/2014/main" id="{B2AEFD52-45FD-39FE-DF78-D8BBE9A7BD89}"/>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Manual vs. Automatic  Parallelization</a:t>
            </a:r>
          </a:p>
          <a:p>
            <a:pPr lvl="1" indent="-457200">
              <a:buSzPts val="2800"/>
            </a:pPr>
            <a:r>
              <a:rPr lang="en-US" dirty="0">
                <a:solidFill>
                  <a:schemeClr val="dk1"/>
                </a:solidFill>
                <a:latin typeface="Arial"/>
                <a:ea typeface="Arial"/>
                <a:cs typeface="Arial"/>
                <a:sym typeface="Arial"/>
              </a:rPr>
              <a:t>Designing and developing parallel programs has been a very MANUAL process.</a:t>
            </a:r>
          </a:p>
          <a:p>
            <a:pPr lvl="1" indent="-457200">
              <a:buSzPts val="2800"/>
            </a:pPr>
            <a:r>
              <a:rPr lang="en-US" dirty="0">
                <a:solidFill>
                  <a:schemeClr val="dk1"/>
                </a:solidFill>
                <a:latin typeface="Arial"/>
                <a:ea typeface="Arial"/>
                <a:cs typeface="Arial"/>
                <a:sym typeface="Arial"/>
              </a:rPr>
              <a:t>The programmer is responsible for both:</a:t>
            </a:r>
          </a:p>
          <a:p>
            <a:pPr lvl="2" indent="-457200">
              <a:buSzPts val="2800"/>
            </a:pPr>
            <a:r>
              <a:rPr lang="en-US" dirty="0">
                <a:solidFill>
                  <a:schemeClr val="dk1"/>
                </a:solidFill>
                <a:latin typeface="Arial"/>
                <a:ea typeface="Arial"/>
                <a:cs typeface="Arial"/>
                <a:sym typeface="Arial"/>
              </a:rPr>
              <a:t>Identifying  &amp; Implementing parallelism</a:t>
            </a:r>
          </a:p>
          <a:p>
            <a:pPr lvl="1" indent="-457200">
              <a:buSzPts val="2800"/>
            </a:pPr>
            <a:r>
              <a:rPr lang="en-US" dirty="0">
                <a:solidFill>
                  <a:schemeClr val="dk1"/>
                </a:solidFill>
                <a:latin typeface="Arial"/>
                <a:ea typeface="Arial"/>
                <a:cs typeface="Arial"/>
                <a:sym typeface="Arial"/>
              </a:rPr>
              <a:t>Manually developing parallel codes is a </a:t>
            </a:r>
          </a:p>
          <a:p>
            <a:pPr lvl="2" indent="-457200">
              <a:buSzPts val="2800"/>
            </a:pPr>
            <a:r>
              <a:rPr lang="en-US" dirty="0">
                <a:solidFill>
                  <a:schemeClr val="dk1"/>
                </a:solidFill>
                <a:latin typeface="Arial"/>
                <a:ea typeface="Arial"/>
                <a:cs typeface="Arial"/>
                <a:sym typeface="Arial"/>
              </a:rPr>
              <a:t>Time consuming</a:t>
            </a:r>
          </a:p>
          <a:p>
            <a:pPr lvl="2" indent="-457200">
              <a:buSzPts val="2800"/>
            </a:pPr>
            <a:r>
              <a:rPr lang="en-US" dirty="0">
                <a:solidFill>
                  <a:schemeClr val="dk1"/>
                </a:solidFill>
                <a:latin typeface="Arial"/>
                <a:ea typeface="Arial"/>
                <a:cs typeface="Arial"/>
                <a:sym typeface="Arial"/>
              </a:rPr>
              <a:t>Complex</a:t>
            </a:r>
          </a:p>
          <a:p>
            <a:pPr lvl="2" indent="-457200">
              <a:buSzPts val="2800"/>
            </a:pPr>
            <a:r>
              <a:rPr lang="en-US" dirty="0">
                <a:solidFill>
                  <a:schemeClr val="dk1"/>
                </a:solidFill>
                <a:latin typeface="Arial"/>
                <a:ea typeface="Arial"/>
                <a:cs typeface="Arial"/>
                <a:sym typeface="Arial"/>
              </a:rPr>
              <a:t>Error-prone</a:t>
            </a:r>
          </a:p>
          <a:p>
            <a:pPr lvl="2" indent="-457200">
              <a:buSzPts val="2800"/>
            </a:pPr>
            <a:r>
              <a:rPr lang="en-US" dirty="0">
                <a:solidFill>
                  <a:schemeClr val="dk1"/>
                </a:solidFill>
                <a:latin typeface="Arial"/>
                <a:ea typeface="Arial"/>
                <a:cs typeface="Arial"/>
                <a:sym typeface="Arial"/>
              </a:rPr>
              <a:t>Iterative process</a:t>
            </a:r>
          </a:p>
        </p:txBody>
      </p:sp>
    </p:spTree>
    <p:extLst>
      <p:ext uri="{BB962C8B-B14F-4D97-AF65-F5344CB8AC3E}">
        <p14:creationId xmlns:p14="http://schemas.microsoft.com/office/powerpoint/2010/main" val="7384481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0CB642F9-6A4C-A102-FBA1-BF3C43DD95B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D913DE0C-5E00-2C3E-51B3-3E25AEE81354}"/>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C24A04FA-3C05-A533-CC01-40866EBE86FB}"/>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B2856467-B5A5-C62D-532C-BB7C26FE5BF8}"/>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40978A30-4F9F-7068-37C0-566FF7B6358A}"/>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Designing Parallel Programs</a:t>
            </a:r>
          </a:p>
        </p:txBody>
      </p:sp>
      <p:sp>
        <p:nvSpPr>
          <p:cNvPr id="2" name="Google Shape;141;p4">
            <a:extLst>
              <a:ext uri="{FF2B5EF4-FFF2-40B4-BE49-F238E27FC236}">
                <a16:creationId xmlns:a16="http://schemas.microsoft.com/office/drawing/2014/main" id="{BF2C2E14-5AD2-CA5B-41D5-44DA521C7395}"/>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Manual vs. Automatic  Parallelization</a:t>
            </a:r>
          </a:p>
          <a:p>
            <a:pPr lvl="1" indent="-457200">
              <a:buSzPts val="2800"/>
            </a:pPr>
            <a:r>
              <a:rPr lang="en-US" dirty="0">
                <a:solidFill>
                  <a:schemeClr val="dk1"/>
                </a:solidFill>
                <a:latin typeface="Arial"/>
                <a:ea typeface="Arial"/>
                <a:cs typeface="Arial"/>
                <a:sym typeface="Arial"/>
              </a:rPr>
              <a:t>Most common type of tool used to automatically parallelize a serial program into parallel programs</a:t>
            </a:r>
          </a:p>
          <a:p>
            <a:pPr lvl="1" indent="-457200">
              <a:buSzPts val="2800"/>
            </a:pPr>
            <a:r>
              <a:rPr lang="en-US" dirty="0">
                <a:solidFill>
                  <a:schemeClr val="dk1"/>
                </a:solidFill>
                <a:latin typeface="Arial"/>
                <a:ea typeface="Arial"/>
                <a:cs typeface="Arial"/>
                <a:sym typeface="Arial"/>
              </a:rPr>
              <a:t>Parallelizing Compiler works in 2 different ways:</a:t>
            </a:r>
          </a:p>
          <a:p>
            <a:pPr lvl="2" indent="-457200">
              <a:buSzPts val="2800"/>
            </a:pPr>
            <a:r>
              <a:rPr lang="en-US" dirty="0">
                <a:solidFill>
                  <a:schemeClr val="dk1"/>
                </a:solidFill>
                <a:latin typeface="Arial"/>
                <a:ea typeface="Arial"/>
                <a:cs typeface="Arial"/>
                <a:sym typeface="Arial"/>
              </a:rPr>
              <a:t>Fully Automatic</a:t>
            </a:r>
          </a:p>
          <a:p>
            <a:pPr lvl="2" indent="-457200">
              <a:buSzPts val="2800"/>
            </a:pPr>
            <a:r>
              <a:rPr lang="en-US" dirty="0">
                <a:solidFill>
                  <a:schemeClr val="dk1"/>
                </a:solidFill>
                <a:latin typeface="Arial"/>
                <a:ea typeface="Arial"/>
                <a:cs typeface="Arial"/>
                <a:sym typeface="Arial"/>
              </a:rPr>
              <a:t>Programmer Directed</a:t>
            </a:r>
          </a:p>
        </p:txBody>
      </p:sp>
    </p:spTree>
    <p:extLst>
      <p:ext uri="{BB962C8B-B14F-4D97-AF65-F5344CB8AC3E}">
        <p14:creationId xmlns:p14="http://schemas.microsoft.com/office/powerpoint/2010/main" val="17072048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6CD7DC2F-C33C-7348-E418-6DABBF3B5C25}"/>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F677D4A2-7D5F-300A-F299-062DAD30FCF8}"/>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550ED774-1ACB-8E63-C0C4-7D3B84D5B811}"/>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4E9C98E2-7EA2-2118-F61C-FBF9E64137B2}"/>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630A81A6-7D9A-1F55-185E-288EAA93F980}"/>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Designing Parallel Programs</a:t>
            </a:r>
          </a:p>
        </p:txBody>
      </p:sp>
      <p:sp>
        <p:nvSpPr>
          <p:cNvPr id="2" name="Google Shape;141;p4">
            <a:extLst>
              <a:ext uri="{FF2B5EF4-FFF2-40B4-BE49-F238E27FC236}">
                <a16:creationId xmlns:a16="http://schemas.microsoft.com/office/drawing/2014/main" id="{6EEABD21-6911-A05B-FEC5-9EAFEDECB7F3}"/>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Parallelizing Compiler (Fully Automatic)</a:t>
            </a:r>
          </a:p>
          <a:p>
            <a:pPr lvl="1" indent="-457200">
              <a:buSzPts val="2800"/>
            </a:pPr>
            <a:r>
              <a:rPr lang="en-US" dirty="0">
                <a:solidFill>
                  <a:schemeClr val="dk1"/>
                </a:solidFill>
                <a:latin typeface="Arial"/>
                <a:ea typeface="Arial"/>
                <a:cs typeface="Arial"/>
                <a:sym typeface="Arial"/>
              </a:rPr>
              <a:t>The compiler analyzes the source code and identifies opportunities for parallelism</a:t>
            </a:r>
          </a:p>
          <a:p>
            <a:pPr lvl="1" indent="-457200">
              <a:buSzPts val="2800"/>
            </a:pPr>
            <a:r>
              <a:rPr lang="en-US" dirty="0">
                <a:solidFill>
                  <a:schemeClr val="dk1"/>
                </a:solidFill>
                <a:latin typeface="Arial"/>
                <a:ea typeface="Arial"/>
                <a:cs typeface="Arial"/>
                <a:sym typeface="Arial"/>
              </a:rPr>
              <a:t>The analysis includes:</a:t>
            </a:r>
          </a:p>
          <a:p>
            <a:pPr lvl="2" indent="-457200">
              <a:buSzPts val="2800"/>
            </a:pPr>
            <a:r>
              <a:rPr lang="en-US" dirty="0">
                <a:solidFill>
                  <a:schemeClr val="dk1"/>
                </a:solidFill>
                <a:latin typeface="Arial"/>
                <a:ea typeface="Arial"/>
                <a:cs typeface="Arial"/>
                <a:sym typeface="Arial"/>
              </a:rPr>
              <a:t>Identifying inhibitors to parallelism</a:t>
            </a:r>
          </a:p>
          <a:p>
            <a:pPr lvl="2" indent="-457200">
              <a:buSzPts val="2800"/>
            </a:pPr>
            <a:r>
              <a:rPr lang="en-US" dirty="0">
                <a:solidFill>
                  <a:schemeClr val="dk1"/>
                </a:solidFill>
                <a:latin typeface="Arial"/>
                <a:ea typeface="Arial"/>
                <a:cs typeface="Arial"/>
                <a:sym typeface="Arial"/>
              </a:rPr>
              <a:t>Possibly a cost weighting on whether or not the parallelism would actually improve performance</a:t>
            </a:r>
          </a:p>
          <a:p>
            <a:pPr lvl="2" indent="-457200">
              <a:buSzPts val="2800"/>
            </a:pPr>
            <a:r>
              <a:rPr lang="en-US" dirty="0">
                <a:solidFill>
                  <a:schemeClr val="dk1"/>
                </a:solidFill>
                <a:latin typeface="Arial"/>
                <a:ea typeface="Arial"/>
                <a:cs typeface="Arial"/>
                <a:sym typeface="Arial"/>
              </a:rPr>
              <a:t>Loops (do, for) loops are the most frequent target for automatic parallelization </a:t>
            </a:r>
          </a:p>
          <a:p>
            <a:pPr lvl="2" indent="-4572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377877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CE4F5EED-800E-89FD-2F97-66823ECDA486}"/>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58595A87-C03C-20E2-FBF4-398CBF2BD3A3}"/>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5A6C702A-111E-AFFF-2C79-1D0C7A2FA4CE}"/>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36CAB49A-9124-D203-8647-5DA02F9B3C0E}"/>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8C1595FE-8DF6-FD87-0C75-64E05384E536}"/>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Designing Parallel Programs</a:t>
            </a:r>
          </a:p>
        </p:txBody>
      </p:sp>
      <p:sp>
        <p:nvSpPr>
          <p:cNvPr id="2" name="Google Shape;141;p4">
            <a:extLst>
              <a:ext uri="{FF2B5EF4-FFF2-40B4-BE49-F238E27FC236}">
                <a16:creationId xmlns:a16="http://schemas.microsoft.com/office/drawing/2014/main" id="{244854CF-AEC9-F8C0-9EEE-C71DA7D1CA45}"/>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Parallelizing Compiler (Programmer Directed)</a:t>
            </a:r>
          </a:p>
          <a:p>
            <a:pPr lvl="1" indent="-457200">
              <a:buSzPts val="2800"/>
            </a:pPr>
            <a:r>
              <a:rPr lang="en-US" dirty="0">
                <a:solidFill>
                  <a:schemeClr val="dk1"/>
                </a:solidFill>
                <a:latin typeface="Arial"/>
                <a:ea typeface="Arial"/>
                <a:cs typeface="Arial"/>
                <a:sym typeface="Arial"/>
              </a:rPr>
              <a:t>Using “compiler directives” or possibly compiler flags, the programmer explicitly tell the compiler how to parallelize the code</a:t>
            </a:r>
          </a:p>
          <a:p>
            <a:pPr lvl="1" indent="-457200">
              <a:buSzPts val="2800"/>
            </a:pPr>
            <a:r>
              <a:rPr lang="en-US" dirty="0">
                <a:solidFill>
                  <a:schemeClr val="dk1"/>
                </a:solidFill>
                <a:latin typeface="Arial"/>
                <a:ea typeface="Arial"/>
                <a:cs typeface="Arial"/>
                <a:sym typeface="Arial"/>
              </a:rPr>
              <a:t>May be able to be used in conjunction with some degree of automatic parallelization also</a:t>
            </a:r>
          </a:p>
          <a:p>
            <a:pPr lvl="2" indent="-4572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5493833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48471E83-EBA1-089A-C4C8-C09B7B21704B}"/>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2578FF1E-8D09-0605-86F0-884071414F33}"/>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2A0F6E44-F291-1616-F687-543252062B0A}"/>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E2A6D78B-DFEB-3DF4-4241-303891B14DA3}"/>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5484190C-9685-475B-D059-8EA5600EEC3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Designing Parallel Programs</a:t>
            </a:r>
          </a:p>
        </p:txBody>
      </p:sp>
      <p:sp>
        <p:nvSpPr>
          <p:cNvPr id="2" name="Google Shape;141;p4">
            <a:extLst>
              <a:ext uri="{FF2B5EF4-FFF2-40B4-BE49-F238E27FC236}">
                <a16:creationId xmlns:a16="http://schemas.microsoft.com/office/drawing/2014/main" id="{6A0D6DE8-43C1-5C05-CF81-4D70C264EC2C}"/>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b="1" dirty="0">
                <a:solidFill>
                  <a:schemeClr val="dk1"/>
                </a:solidFill>
                <a:latin typeface="Arial"/>
                <a:ea typeface="Arial"/>
                <a:cs typeface="Arial"/>
                <a:sym typeface="Arial"/>
              </a:rPr>
              <a:t>Automatic Parallelization(Caveats)</a:t>
            </a:r>
          </a:p>
          <a:p>
            <a:pPr lvl="1" indent="-457200">
              <a:buSzPts val="2800"/>
            </a:pPr>
            <a:r>
              <a:rPr lang="en-US" dirty="0">
                <a:solidFill>
                  <a:schemeClr val="dk1"/>
                </a:solidFill>
                <a:latin typeface="Arial"/>
                <a:ea typeface="Arial"/>
                <a:cs typeface="Arial"/>
                <a:sym typeface="Arial"/>
              </a:rPr>
              <a:t>Wrong results may be produced</a:t>
            </a:r>
          </a:p>
          <a:p>
            <a:pPr lvl="1" indent="-457200">
              <a:buSzPts val="2800"/>
            </a:pPr>
            <a:r>
              <a:rPr lang="en-US" dirty="0">
                <a:solidFill>
                  <a:schemeClr val="dk1"/>
                </a:solidFill>
                <a:latin typeface="Arial"/>
                <a:ea typeface="Arial"/>
                <a:cs typeface="Arial"/>
                <a:sym typeface="Arial"/>
              </a:rPr>
              <a:t>Performance may actually degrade</a:t>
            </a:r>
          </a:p>
          <a:p>
            <a:pPr lvl="1" indent="-457200">
              <a:buSzPts val="2800"/>
            </a:pPr>
            <a:r>
              <a:rPr lang="en-US" dirty="0">
                <a:solidFill>
                  <a:schemeClr val="dk1"/>
                </a:solidFill>
                <a:latin typeface="Arial"/>
                <a:ea typeface="Arial"/>
                <a:cs typeface="Arial"/>
                <a:sym typeface="Arial"/>
              </a:rPr>
              <a:t>Much less flexible than manual parallelization</a:t>
            </a:r>
          </a:p>
          <a:p>
            <a:pPr lvl="1" indent="-457200">
              <a:buSzPts val="2800"/>
            </a:pPr>
            <a:r>
              <a:rPr lang="en-US" dirty="0">
                <a:solidFill>
                  <a:schemeClr val="dk1"/>
                </a:solidFill>
                <a:latin typeface="Arial"/>
                <a:ea typeface="Arial"/>
                <a:cs typeface="Arial"/>
                <a:sym typeface="Arial"/>
              </a:rPr>
              <a:t>Limited to a subset (mostly loops) of code</a:t>
            </a:r>
          </a:p>
          <a:p>
            <a:pPr lvl="1" indent="-457200">
              <a:buSzPts val="2800"/>
            </a:pPr>
            <a:r>
              <a:rPr lang="en-US" dirty="0">
                <a:solidFill>
                  <a:schemeClr val="dk1"/>
                </a:solidFill>
                <a:latin typeface="Arial"/>
                <a:ea typeface="Arial"/>
                <a:cs typeface="Arial"/>
                <a:sym typeface="Arial"/>
              </a:rPr>
              <a:t>May actually not parallelize code if the analysis suggest there are inhibitors or the code is too complex</a:t>
            </a:r>
          </a:p>
          <a:p>
            <a:pPr lvl="2" indent="-4572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049581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1B3FE928-113A-A4FD-1977-03BD6F984A47}"/>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5B4F54F9-F27D-5C08-D23F-397ED37B3743}"/>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4531217A-C815-C2F0-C954-F5EC34894A99}"/>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FBF3360-2ACD-31C4-B905-663DAC8C0F6C}"/>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DE44D218-CA83-06F7-5A95-901B31FDC9B6}"/>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71540920-1228-A02D-D6E7-43C663B75664}"/>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Code Analysis</a:t>
            </a:r>
          </a:p>
          <a:p>
            <a:pPr indent="-457200">
              <a:buSzPts val="2800"/>
            </a:pPr>
            <a:r>
              <a:rPr lang="en-US" dirty="0">
                <a:solidFill>
                  <a:schemeClr val="dk1"/>
                </a:solidFill>
                <a:latin typeface="Arial"/>
                <a:ea typeface="Arial"/>
                <a:cs typeface="Arial"/>
                <a:sym typeface="Arial"/>
              </a:rPr>
              <a:t>Partitioning</a:t>
            </a:r>
          </a:p>
          <a:p>
            <a:pPr indent="-457200">
              <a:buSzPts val="2800"/>
            </a:pPr>
            <a:r>
              <a:rPr lang="en-US" dirty="0">
                <a:solidFill>
                  <a:schemeClr val="dk1"/>
                </a:solidFill>
                <a:latin typeface="Arial"/>
                <a:ea typeface="Arial"/>
                <a:cs typeface="Arial"/>
                <a:sym typeface="Arial"/>
              </a:rPr>
              <a:t>Communication</a:t>
            </a:r>
          </a:p>
          <a:p>
            <a:pPr indent="-457200">
              <a:buSzPts val="2800"/>
            </a:pPr>
            <a:r>
              <a:rPr lang="en-US" dirty="0">
                <a:solidFill>
                  <a:schemeClr val="dk1"/>
                </a:solidFill>
                <a:latin typeface="Arial"/>
                <a:ea typeface="Arial"/>
                <a:cs typeface="Arial"/>
                <a:sym typeface="Arial"/>
              </a:rPr>
              <a:t> Numerical Complexity</a:t>
            </a:r>
          </a:p>
          <a:p>
            <a:pPr indent="-457200">
              <a:buSzPts val="2800"/>
            </a:pPr>
            <a:r>
              <a:rPr lang="en-US" dirty="0">
                <a:solidFill>
                  <a:schemeClr val="dk1"/>
                </a:solidFill>
                <a:latin typeface="Arial"/>
                <a:ea typeface="Arial"/>
                <a:cs typeface="Arial"/>
                <a:sym typeface="Arial"/>
              </a:rPr>
              <a:t> Efficiency and Scalability</a:t>
            </a:r>
          </a:p>
          <a:p>
            <a:pPr marL="800100" lvl="1">
              <a:buSzPts val="2800"/>
            </a:pPr>
            <a:r>
              <a:rPr lang="en-US" dirty="0">
                <a:solidFill>
                  <a:schemeClr val="dk1"/>
                </a:solidFill>
                <a:latin typeface="Arial"/>
                <a:ea typeface="Arial"/>
                <a:cs typeface="Arial"/>
                <a:sym typeface="Arial"/>
              </a:rPr>
              <a:t>	Understand the Program and the Problem</a:t>
            </a:r>
          </a:p>
        </p:txBody>
      </p:sp>
    </p:spTree>
    <p:extLst>
      <p:ext uri="{BB962C8B-B14F-4D97-AF65-F5344CB8AC3E}">
        <p14:creationId xmlns:p14="http://schemas.microsoft.com/office/powerpoint/2010/main" val="34090446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5F63A96B-1DAA-EAE7-D230-4D2043C637C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DE98D064-EC36-4FA6-874B-B826BB4B9A0D}"/>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9D840A39-3DC3-7E3A-2DA3-515235A3AF7C}"/>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C00E9EDC-BB11-7C3A-2F30-7767B6C2ECB4}"/>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180EE6A5-DE8C-4983-C5C6-562D30F60E39}"/>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B3316E25-0832-3B7B-F280-B3CA85E062B2}"/>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Code Analysis</a:t>
            </a:r>
          </a:p>
          <a:p>
            <a:pPr marL="800100" lvl="1">
              <a:buSzPts val="2800"/>
            </a:pPr>
            <a:r>
              <a:rPr lang="en-US" dirty="0">
                <a:solidFill>
                  <a:schemeClr val="dk1"/>
                </a:solidFill>
                <a:latin typeface="Arial"/>
                <a:ea typeface="Arial"/>
                <a:cs typeface="Arial"/>
                <a:sym typeface="Arial"/>
              </a:rPr>
              <a:t>Understand the problem that you wish to solve in parallel (from serial program you need to understand the existing code)</a:t>
            </a:r>
          </a:p>
          <a:p>
            <a:pPr marL="800100" lvl="1">
              <a:buSzPts val="2800"/>
            </a:pPr>
            <a:r>
              <a:rPr lang="en-US" dirty="0">
                <a:solidFill>
                  <a:schemeClr val="dk1"/>
                </a:solidFill>
                <a:latin typeface="Arial"/>
                <a:ea typeface="Arial"/>
                <a:cs typeface="Arial"/>
                <a:sym typeface="Arial"/>
              </a:rPr>
              <a:t>Before spending time : determine whether or not the problem is one that can actually be parallelized</a:t>
            </a:r>
          </a:p>
          <a:p>
            <a:pPr marL="800100" lvl="1">
              <a:buSzPts val="2800"/>
            </a:pPr>
            <a:r>
              <a:rPr lang="en-US" dirty="0">
                <a:solidFill>
                  <a:schemeClr val="dk1"/>
                </a:solidFill>
                <a:latin typeface="Arial"/>
                <a:ea typeface="Arial"/>
                <a:cs typeface="Arial"/>
                <a:sym typeface="Arial"/>
              </a:rPr>
              <a:t>Identify the program’s hotspots (Know where of the real work is being done. Performance analysis tools can help here)</a:t>
            </a:r>
          </a:p>
          <a:p>
            <a:pPr marL="800100" lvl="1">
              <a:buSzPts val="2800"/>
            </a:pPr>
            <a:r>
              <a:rPr lang="en-US" dirty="0">
                <a:solidFill>
                  <a:schemeClr val="dk1"/>
                </a:solidFill>
                <a:latin typeface="Arial"/>
                <a:ea typeface="Arial"/>
                <a:cs typeface="Arial"/>
                <a:sym typeface="Arial"/>
              </a:rPr>
              <a:t>Identify bottlenecks ( I/O is usually something that slows a program down. Change algorithms to reduce or eliminate unnecessary slow areas)</a:t>
            </a:r>
          </a:p>
          <a:p>
            <a:pPr marL="800100" lvl="1">
              <a:buSzPts val="2800"/>
            </a:pPr>
            <a:r>
              <a:rPr lang="en-US" dirty="0">
                <a:solidFill>
                  <a:schemeClr val="dk1"/>
                </a:solidFill>
                <a:latin typeface="Arial"/>
                <a:ea typeface="Arial"/>
                <a:cs typeface="Arial"/>
                <a:sym typeface="Arial"/>
              </a:rPr>
              <a:t>Investigate other algorithms</a:t>
            </a:r>
          </a:p>
        </p:txBody>
      </p:sp>
    </p:spTree>
    <p:extLst>
      <p:ext uri="{BB962C8B-B14F-4D97-AF65-F5344CB8AC3E}">
        <p14:creationId xmlns:p14="http://schemas.microsoft.com/office/powerpoint/2010/main" val="30762682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20EC7499-EBA5-49D9-221A-C94176412C9E}"/>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0601B4E7-D1AE-5F2E-8637-1AB919C5E05B}"/>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5923B19E-EF13-B391-BB25-BED63DB43C30}"/>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481A684E-8EF4-5E43-7C2F-5ED3897D2519}"/>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3F34EA56-14E0-57A7-4090-6CA8AE3BA302}"/>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CF1547AF-4769-B964-8D4A-ABBCDC833991}"/>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indent="-457200">
              <a:buSzPts val="2800"/>
            </a:pPr>
            <a:r>
              <a:rPr lang="en-US" dirty="0">
                <a:solidFill>
                  <a:schemeClr val="dk1"/>
                </a:solidFill>
                <a:latin typeface="Arial"/>
                <a:ea typeface="Arial"/>
                <a:cs typeface="Arial"/>
                <a:sym typeface="Arial"/>
              </a:rPr>
              <a:t>Code Analysis</a:t>
            </a:r>
          </a:p>
          <a:p>
            <a:pPr marL="800100" lvl="1">
              <a:buSzPts val="2800"/>
            </a:pPr>
            <a:r>
              <a:rPr lang="en-US" dirty="0">
                <a:solidFill>
                  <a:schemeClr val="dk1"/>
                </a:solidFill>
                <a:latin typeface="Arial"/>
                <a:ea typeface="Arial"/>
                <a:cs typeface="Arial"/>
                <a:sym typeface="Arial"/>
              </a:rPr>
              <a:t>Investigate inhibitors to parallelism . One common class of inhibitor is data dependence</a:t>
            </a:r>
          </a:p>
          <a:p>
            <a:pPr marL="342900">
              <a:buSzPts val="2800"/>
            </a:pPr>
            <a:r>
              <a:rPr lang="en-US" dirty="0">
                <a:solidFill>
                  <a:schemeClr val="dk1"/>
                </a:solidFill>
                <a:latin typeface="Arial"/>
                <a:ea typeface="Arial"/>
                <a:cs typeface="Arial"/>
                <a:sym typeface="Arial"/>
              </a:rPr>
              <a:t>Example of Parallelizable Problem</a:t>
            </a:r>
          </a:p>
          <a:p>
            <a:pPr marL="800100" lvl="1">
              <a:buSzPts val="2800"/>
            </a:pPr>
            <a:r>
              <a:rPr lang="en-US" dirty="0">
                <a:solidFill>
                  <a:schemeClr val="dk1"/>
                </a:solidFill>
                <a:latin typeface="Arial"/>
                <a:ea typeface="Arial"/>
                <a:cs typeface="Arial"/>
                <a:sym typeface="Arial"/>
              </a:rPr>
              <a:t>Calculate the potential energy for each of several thousand independent conformations of a molecule. When done, find the minimum energy conformation</a:t>
            </a:r>
          </a:p>
          <a:p>
            <a:pPr lvl="1" indent="-457200">
              <a:buSzPts val="2800"/>
            </a:pPr>
            <a:r>
              <a:rPr lang="en-US" dirty="0">
                <a:solidFill>
                  <a:schemeClr val="dk1"/>
                </a:solidFill>
                <a:latin typeface="Arial"/>
                <a:ea typeface="Arial"/>
                <a:cs typeface="Arial"/>
                <a:sym typeface="Arial"/>
              </a:rPr>
              <a:t> Each of the molecular conformation is independently determinable.	The calculation of the minimum energy conformation is also a parallelizable problem</a:t>
            </a: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1242138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79510913-381C-39E6-4694-6E4815DD45DD}"/>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4282791D-A690-4352-A4D9-A06429304DB6}"/>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416244BF-FA42-7B42-25AF-1046B182F913}"/>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7444B365-980B-7F41-A91D-E3D7BEACF121}"/>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74C1E237-A6AB-5350-36B9-19155867999E}"/>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C424C467-9C47-9A57-B81A-14035AE97C68}"/>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Example of Non-Parallelizable Problem</a:t>
            </a:r>
          </a:p>
          <a:p>
            <a:pPr marL="800100" lvl="1">
              <a:buSzPts val="2800"/>
            </a:pPr>
            <a:r>
              <a:rPr lang="en-US" dirty="0">
                <a:solidFill>
                  <a:schemeClr val="dk1"/>
                </a:solidFill>
                <a:latin typeface="Arial"/>
                <a:ea typeface="Arial"/>
                <a:cs typeface="Arial"/>
                <a:sym typeface="Arial"/>
              </a:rPr>
              <a:t>Calculation of the Fibonacci series (1,1,2,3,5,8,13,21)</a:t>
            </a:r>
          </a:p>
          <a:p>
            <a:pPr marL="800100" lvl="1">
              <a:buSzPts val="2800"/>
            </a:pPr>
            <a:r>
              <a:rPr lang="en-US" dirty="0">
                <a:solidFill>
                  <a:schemeClr val="dk1"/>
                </a:solidFill>
                <a:latin typeface="Arial"/>
                <a:ea typeface="Arial"/>
                <a:cs typeface="Arial"/>
                <a:sym typeface="Arial"/>
              </a:rPr>
              <a:t>F(K + 2) = F(K + 1) + F(K)   </a:t>
            </a:r>
          </a:p>
          <a:p>
            <a:pPr marL="800100" lvl="1">
              <a:buSzPts val="2800"/>
            </a:pPr>
            <a:r>
              <a:rPr lang="en-US" dirty="0">
                <a:solidFill>
                  <a:schemeClr val="dk1"/>
                </a:solidFill>
                <a:latin typeface="Arial"/>
                <a:ea typeface="Arial"/>
                <a:cs typeface="Arial"/>
                <a:sym typeface="Arial"/>
              </a:rPr>
              <a:t>The calculation of the Fibonacci sequences as shown would entail dependent calculations rather than independents ones. The calculation of the k + 2 values uses those of both k + 1 and k. These three terms cannot be calculated independently and therefore, not in parallel</a:t>
            </a: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0919953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A0507F9C-16B4-7D2B-60AC-70D3DA6C13E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A34A4C39-976F-DF7E-5476-22957CDDFBA4}"/>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F1B23341-0789-F939-439A-AE47B4C122F4}"/>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8E8BF110-5962-2352-17CE-9A734BAF7F3A}"/>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D9C07CE3-68F9-75B8-A665-45090DD79E5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0CCC3862-D192-06FE-954A-B9169D7FBE29}"/>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Partitioning</a:t>
            </a:r>
          </a:p>
          <a:p>
            <a:pPr marL="800100" lvl="1">
              <a:buSzPts val="2800"/>
            </a:pPr>
            <a:r>
              <a:rPr lang="en-US" dirty="0">
                <a:solidFill>
                  <a:schemeClr val="dk1"/>
                </a:solidFill>
                <a:latin typeface="Arial"/>
                <a:ea typeface="Arial"/>
                <a:cs typeface="Arial"/>
                <a:sym typeface="Arial"/>
              </a:rPr>
              <a:t>Break the problem into discrete “chunks” of work that can be distributed to multiple tasks</a:t>
            </a:r>
          </a:p>
          <a:p>
            <a:pPr marL="800100" lvl="1">
              <a:buSzPts val="2800"/>
            </a:pPr>
            <a:r>
              <a:rPr lang="en-US" dirty="0">
                <a:solidFill>
                  <a:schemeClr val="dk1"/>
                </a:solidFill>
                <a:latin typeface="Arial"/>
                <a:ea typeface="Arial"/>
                <a:cs typeface="Arial"/>
                <a:sym typeface="Arial"/>
              </a:rPr>
              <a:t>Two basic ways to partition computational work among parallel tasks:</a:t>
            </a:r>
          </a:p>
          <a:p>
            <a:pPr marL="1257300" lvl="2">
              <a:buSzPts val="2800"/>
            </a:pPr>
            <a:r>
              <a:rPr lang="en-US" dirty="0">
                <a:solidFill>
                  <a:schemeClr val="dk1"/>
                </a:solidFill>
                <a:latin typeface="Arial"/>
                <a:ea typeface="Arial"/>
                <a:cs typeface="Arial"/>
                <a:sym typeface="Arial"/>
              </a:rPr>
              <a:t>Domain decomposition &amp; </a:t>
            </a:r>
          </a:p>
          <a:p>
            <a:pPr marL="1257300" lvl="2">
              <a:buSzPts val="2800"/>
            </a:pPr>
            <a:r>
              <a:rPr lang="en-US" dirty="0">
                <a:solidFill>
                  <a:schemeClr val="dk1"/>
                </a:solidFill>
                <a:latin typeface="Arial"/>
                <a:ea typeface="Arial"/>
                <a:cs typeface="Arial"/>
                <a:sym typeface="Arial"/>
              </a:rPr>
              <a:t>Functional decomposition</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495975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CA671DD5-385C-464D-9F80-7718EC68807B}"/>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4A9CCA77-36A1-752F-0C42-C6931021A39F}"/>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B8E7F50F-52AC-9875-3799-CC6F90F7BFF7}"/>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D2A0F352-228E-F0ED-8B58-803CCD55B01C}"/>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56B25E11-9565-72DE-733C-9B097238094B}"/>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F8E7301D-DEA5-D6D8-8DAC-9E4030844085}"/>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Domain Decomposition</a:t>
            </a:r>
          </a:p>
          <a:p>
            <a:pPr marL="800100" lvl="1">
              <a:buSzPts val="2800"/>
            </a:pPr>
            <a:r>
              <a:rPr lang="en-US" dirty="0">
                <a:solidFill>
                  <a:schemeClr val="dk1"/>
                </a:solidFill>
                <a:latin typeface="Arial"/>
                <a:ea typeface="Arial"/>
                <a:cs typeface="Arial"/>
                <a:sym typeface="Arial"/>
              </a:rPr>
              <a:t>The data associated with a problem is decomposed. Each parallel task then works on a portion of the data. Each parallel task then works on a portion of the data.</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pic>
        <p:nvPicPr>
          <p:cNvPr id="3" name="Picture 2" descr="https://computing.llnl.gov/tutorials/parallel_comp/images/domain_decomp.gif">
            <a:extLst>
              <a:ext uri="{FF2B5EF4-FFF2-40B4-BE49-F238E27FC236}">
                <a16:creationId xmlns:a16="http://schemas.microsoft.com/office/drawing/2014/main" id="{30F8F5EB-200E-42E5-2E86-8F1A29E23F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6572" y="4149648"/>
            <a:ext cx="4379913" cy="243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4" descr="https://computing.llnl.gov/tutorials/parallel_comp/images/distributions.gif">
            <a:extLst>
              <a:ext uri="{FF2B5EF4-FFF2-40B4-BE49-F238E27FC236}">
                <a16:creationId xmlns:a16="http://schemas.microsoft.com/office/drawing/2014/main" id="{A645FBA7-A53C-B5FC-6369-E9395FE528D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9472" y="3672769"/>
            <a:ext cx="3925956" cy="32138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13473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84C70C25-CB9C-B98E-3F6B-C80780C7571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D2EE252E-5AA8-1405-8D3D-2E9A3BEE8C56}"/>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72211454-6D6B-2216-979B-2C55752FC469}"/>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301A7AA-FC7C-2D66-F312-94D0617589F5}"/>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DB55408F-81EF-A8AD-0953-2FA64EB86F76}"/>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8CEC6DCE-3060-9EEA-6C6D-748826905B2F}"/>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Functional Decomposition</a:t>
            </a:r>
          </a:p>
          <a:p>
            <a:pPr marL="800100" lvl="1">
              <a:buSzPts val="2800"/>
            </a:pPr>
            <a:r>
              <a:rPr lang="en-US" dirty="0">
                <a:solidFill>
                  <a:schemeClr val="dk1"/>
                </a:solidFill>
                <a:latin typeface="Arial"/>
                <a:ea typeface="Arial"/>
                <a:cs typeface="Arial"/>
                <a:sym typeface="Arial"/>
              </a:rPr>
              <a:t>In this approach, the focus is on the computation that is to be performed rather than on the data manipulated by the computation. The problem is decomposed according to the work that must be done. Each task then performs a portion of the overall work. </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pic>
        <p:nvPicPr>
          <p:cNvPr id="5" name="Picture 2" descr="https://computing.llnl.gov/tutorials/parallel_comp/images/functional_decomp.gif">
            <a:extLst>
              <a:ext uri="{FF2B5EF4-FFF2-40B4-BE49-F238E27FC236}">
                <a16:creationId xmlns:a16="http://schemas.microsoft.com/office/drawing/2014/main" id="{24C326E5-046A-011B-D462-8C5A6C5D5A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0922" y="4100426"/>
            <a:ext cx="4633217" cy="27861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402072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1C950A15-26B1-B9C3-1555-CBFA1BE74269}"/>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84BD9204-6C71-B6DA-8DF0-97E4C8C40DA0}"/>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DB7F74A3-DE32-B7CF-1489-6310D170BAD6}"/>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824AD91E-EF8B-35AD-0B3C-23765AC2F8E6}"/>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EB4A9561-727E-6539-308E-FB7B3A9E5921}"/>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3355F751-317C-E429-AD14-65BA616A8BC6}"/>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Communication</a:t>
            </a:r>
          </a:p>
          <a:p>
            <a:pPr marL="800100" lvl="1">
              <a:buSzPts val="2800"/>
            </a:pPr>
            <a:r>
              <a:rPr lang="en-US" b="1" dirty="0">
                <a:solidFill>
                  <a:schemeClr val="dk1"/>
                </a:solidFill>
                <a:latin typeface="Arial"/>
                <a:ea typeface="Arial"/>
                <a:cs typeface="Arial"/>
                <a:sym typeface="Arial"/>
              </a:rPr>
              <a:t>Who needs Communications : </a:t>
            </a:r>
          </a:p>
          <a:p>
            <a:pPr marL="800100" lvl="1">
              <a:buSzPts val="2800"/>
            </a:pPr>
            <a:r>
              <a:rPr lang="en-US" b="1" dirty="0">
                <a:solidFill>
                  <a:schemeClr val="dk1"/>
                </a:solidFill>
                <a:latin typeface="Arial"/>
                <a:ea typeface="Arial"/>
                <a:cs typeface="Arial"/>
                <a:sym typeface="Arial"/>
              </a:rPr>
              <a:t>You don’t Need!</a:t>
            </a:r>
            <a:r>
              <a:rPr lang="en-US" dirty="0">
                <a:solidFill>
                  <a:schemeClr val="dk1"/>
                </a:solidFill>
                <a:latin typeface="Arial"/>
                <a:ea typeface="Arial"/>
                <a:cs typeface="Arial"/>
                <a:sym typeface="Arial"/>
              </a:rPr>
              <a:t> Some types of problems can be decomposed and execute in parallel virtually no need for task to share data. Embarrassingly parallel.</a:t>
            </a:r>
          </a:p>
          <a:p>
            <a:pPr marL="800100" lvl="1">
              <a:buSzPts val="2800"/>
            </a:pPr>
            <a:r>
              <a:rPr lang="en-US" dirty="0">
                <a:solidFill>
                  <a:schemeClr val="dk1"/>
                </a:solidFill>
                <a:latin typeface="Arial"/>
                <a:ea typeface="Arial"/>
                <a:cs typeface="Arial"/>
                <a:sym typeface="Arial"/>
              </a:rPr>
              <a:t>Very little inter-task communication is required</a:t>
            </a:r>
          </a:p>
          <a:p>
            <a:pPr marL="800100" lvl="1">
              <a:buSzPts val="2800"/>
            </a:pPr>
            <a:r>
              <a:rPr lang="en-US" dirty="0" err="1">
                <a:solidFill>
                  <a:schemeClr val="dk1"/>
                </a:solidFill>
                <a:latin typeface="Arial"/>
                <a:ea typeface="Arial"/>
                <a:cs typeface="Arial"/>
                <a:sym typeface="Arial"/>
              </a:rPr>
              <a:t>Eg.</a:t>
            </a:r>
            <a:r>
              <a:rPr lang="en-US" dirty="0">
                <a:solidFill>
                  <a:schemeClr val="dk1"/>
                </a:solidFill>
                <a:latin typeface="Arial"/>
                <a:ea typeface="Arial"/>
                <a:cs typeface="Arial"/>
                <a:sym typeface="Arial"/>
              </a:rPr>
              <a:t> Image processing operation, every pixel in a black and white image needs to have its color reversed</a:t>
            </a:r>
          </a:p>
          <a:p>
            <a:pPr marL="800100" lvl="1">
              <a:buSzPts val="2800"/>
            </a:pPr>
            <a:r>
              <a:rPr lang="en-US" b="1" dirty="0">
                <a:solidFill>
                  <a:schemeClr val="dk1"/>
                </a:solidFill>
                <a:latin typeface="Arial"/>
                <a:ea typeface="Arial"/>
                <a:cs typeface="Arial"/>
                <a:sym typeface="Arial"/>
              </a:rPr>
              <a:t>You do Need!</a:t>
            </a:r>
            <a:r>
              <a:rPr lang="en-US" dirty="0">
                <a:solidFill>
                  <a:schemeClr val="dk1"/>
                </a:solidFill>
                <a:latin typeface="Arial"/>
                <a:ea typeface="Arial"/>
                <a:cs typeface="Arial"/>
                <a:sym typeface="Arial"/>
              </a:rPr>
              <a:t> Most parallel applications do require to share data with each other.  (</a:t>
            </a:r>
            <a:r>
              <a:rPr lang="en-US" dirty="0" err="1">
                <a:solidFill>
                  <a:schemeClr val="dk1"/>
                </a:solidFill>
                <a:latin typeface="Arial"/>
                <a:ea typeface="Arial"/>
                <a:cs typeface="Arial"/>
                <a:sym typeface="Arial"/>
              </a:rPr>
              <a:t>Eg.</a:t>
            </a:r>
            <a:r>
              <a:rPr lang="en-US" dirty="0">
                <a:solidFill>
                  <a:schemeClr val="dk1"/>
                </a:solidFill>
                <a:latin typeface="Arial"/>
                <a:ea typeface="Arial"/>
                <a:cs typeface="Arial"/>
                <a:sym typeface="Arial"/>
              </a:rPr>
              <a:t> Ecosystem)</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734592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1A9B4FF5-9CF4-17FF-461E-81362A13876B}"/>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1788F1EB-D188-F70B-1DB2-1E0FA5A41999}"/>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936624D2-A9E4-5E22-64FC-282CAC8F455F}"/>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2FB9EE7E-60BB-F2F7-AD54-0AFD084D05E3}"/>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A07634FF-AE3C-5961-BFFC-2D9CDC33543B}"/>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97760BDE-E4BB-7372-E7EC-6FFBE5B90722}"/>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Communication (Factors to Consider)</a:t>
            </a:r>
          </a:p>
          <a:p>
            <a:pPr marL="800100" lvl="1">
              <a:buSzPts val="2800"/>
            </a:pPr>
            <a:r>
              <a:rPr lang="en-US" dirty="0">
                <a:solidFill>
                  <a:schemeClr val="dk1"/>
                </a:solidFill>
                <a:latin typeface="Arial"/>
                <a:ea typeface="Arial"/>
                <a:cs typeface="Arial"/>
                <a:sym typeface="Arial"/>
              </a:rPr>
              <a:t>There are a number of important factors to consider when designing program’s inter-task communications:</a:t>
            </a:r>
          </a:p>
          <a:p>
            <a:pPr marL="1257300" lvl="2">
              <a:buSzPts val="2800"/>
            </a:pPr>
            <a:r>
              <a:rPr lang="en-US" dirty="0">
                <a:solidFill>
                  <a:schemeClr val="dk1"/>
                </a:solidFill>
                <a:latin typeface="Arial"/>
                <a:ea typeface="Arial"/>
                <a:cs typeface="Arial"/>
                <a:sym typeface="Arial"/>
              </a:rPr>
              <a:t>Communication Overhead</a:t>
            </a:r>
          </a:p>
          <a:p>
            <a:pPr marL="1257300" lvl="2">
              <a:buSzPts val="2800"/>
            </a:pPr>
            <a:r>
              <a:rPr lang="en-US" dirty="0">
                <a:solidFill>
                  <a:schemeClr val="dk1"/>
                </a:solidFill>
                <a:latin typeface="Arial"/>
                <a:ea typeface="Arial"/>
                <a:cs typeface="Arial"/>
                <a:sym typeface="Arial"/>
              </a:rPr>
              <a:t>Latency vs. Bandwidth</a:t>
            </a:r>
          </a:p>
          <a:p>
            <a:pPr marL="1257300" lvl="2">
              <a:buSzPts val="2800"/>
            </a:pPr>
            <a:r>
              <a:rPr lang="en-US" dirty="0">
                <a:solidFill>
                  <a:schemeClr val="dk1"/>
                </a:solidFill>
                <a:latin typeface="Arial"/>
                <a:ea typeface="Arial"/>
                <a:cs typeface="Arial"/>
                <a:sym typeface="Arial"/>
              </a:rPr>
              <a:t>Visibility of Communications</a:t>
            </a:r>
          </a:p>
          <a:p>
            <a:pPr marL="1257300" lvl="2">
              <a:buSzPts val="2800"/>
            </a:pPr>
            <a:r>
              <a:rPr lang="en-US" dirty="0">
                <a:solidFill>
                  <a:schemeClr val="dk1"/>
                </a:solidFill>
                <a:latin typeface="Arial"/>
                <a:ea typeface="Arial"/>
                <a:cs typeface="Arial"/>
                <a:sym typeface="Arial"/>
              </a:rPr>
              <a:t>Synchronous vs. Asynchronous communication</a:t>
            </a:r>
          </a:p>
          <a:p>
            <a:pPr marL="1257300" lvl="2">
              <a:buSzPts val="2800"/>
            </a:pPr>
            <a:r>
              <a:rPr lang="en-US" dirty="0">
                <a:solidFill>
                  <a:schemeClr val="dk1"/>
                </a:solidFill>
                <a:latin typeface="Arial"/>
                <a:ea typeface="Arial"/>
                <a:cs typeface="Arial"/>
                <a:sym typeface="Arial"/>
              </a:rPr>
              <a:t>Scope of communications</a:t>
            </a:r>
          </a:p>
          <a:p>
            <a:pPr marL="1257300" lvl="2">
              <a:buSzPts val="2800"/>
            </a:pPr>
            <a:r>
              <a:rPr lang="en-US" dirty="0">
                <a:solidFill>
                  <a:schemeClr val="dk1"/>
                </a:solidFill>
                <a:latin typeface="Arial"/>
                <a:ea typeface="Arial"/>
                <a:cs typeface="Arial"/>
                <a:sym typeface="Arial"/>
              </a:rPr>
              <a:t>Efficiency of communications</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4880204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4EAC7252-237D-4C84-6B0E-9086C9AE81A0}"/>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12B2443B-7F85-8A65-B96F-A30DC13B7116}"/>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BC9B8E1A-4232-CCB1-4F81-407219028D30}"/>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3E07E634-5382-8D20-2A40-CFE982E1991A}"/>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0DAD58BC-7A27-C20A-62A8-25D33B2FD04C}"/>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BC551C52-11BD-AEC7-7223-B8FCF93CCC2C}"/>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Communication Overhead</a:t>
            </a:r>
          </a:p>
          <a:p>
            <a:pPr marL="800100" lvl="1">
              <a:buSzPts val="2800"/>
            </a:pPr>
            <a:r>
              <a:rPr lang="en-US" dirty="0">
                <a:solidFill>
                  <a:schemeClr val="dk1"/>
                </a:solidFill>
                <a:latin typeface="Arial"/>
                <a:ea typeface="Arial"/>
                <a:cs typeface="Arial"/>
                <a:sym typeface="Arial"/>
              </a:rPr>
              <a:t>Inter-task communication virtually always implies overhead</a:t>
            </a:r>
          </a:p>
          <a:p>
            <a:pPr marL="800100" lvl="1">
              <a:buSzPts val="2800"/>
            </a:pPr>
            <a:r>
              <a:rPr lang="en-US" dirty="0">
                <a:solidFill>
                  <a:schemeClr val="dk1"/>
                </a:solidFill>
                <a:latin typeface="Arial"/>
                <a:ea typeface="Arial"/>
                <a:cs typeface="Arial"/>
                <a:sym typeface="Arial"/>
              </a:rPr>
              <a:t>Machine cycles and resources that could be used for computation are instead used to package and transmit data. </a:t>
            </a:r>
          </a:p>
          <a:p>
            <a:pPr marL="800100" lvl="1">
              <a:buSzPts val="2800"/>
            </a:pPr>
            <a:r>
              <a:rPr lang="en-US" dirty="0">
                <a:solidFill>
                  <a:schemeClr val="dk1"/>
                </a:solidFill>
                <a:latin typeface="Arial"/>
                <a:ea typeface="Arial"/>
                <a:cs typeface="Arial"/>
                <a:sym typeface="Arial"/>
              </a:rPr>
              <a:t>Communications frequently require some type of synchronization between tasks, which can result in tasks spending time "waiting" instead of doing work. </a:t>
            </a:r>
          </a:p>
          <a:p>
            <a:pPr marL="800100" lvl="1">
              <a:buSzPts val="2800"/>
            </a:pPr>
            <a:r>
              <a:rPr lang="en-US" dirty="0">
                <a:solidFill>
                  <a:schemeClr val="dk1"/>
                </a:solidFill>
                <a:latin typeface="Arial"/>
                <a:ea typeface="Arial"/>
                <a:cs typeface="Arial"/>
                <a:sym typeface="Arial"/>
              </a:rPr>
              <a:t>Competing communication traffic can saturate the available network bandwidth, further aggravating performance problems</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1012779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74D35184-DC23-2B20-0947-1E61C01A9C45}"/>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79FE0B0D-1EC7-2FBD-CDEA-D1BA14AD78DA}"/>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48FCCE10-CD2D-F5B9-7316-8CEA8CC679AD}"/>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37E1094B-7706-7697-7B04-DDF6BC136DBC}"/>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81B8A184-3AEF-836C-A714-70EE32334424}"/>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15388A77-51CC-D372-3989-248C05D98691}"/>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Communications (Latency vs. Bandwidth)</a:t>
            </a:r>
          </a:p>
          <a:p>
            <a:pPr marL="800100" lvl="1">
              <a:buSzPts val="2800"/>
            </a:pPr>
            <a:r>
              <a:rPr lang="en-US" b="1" dirty="0">
                <a:solidFill>
                  <a:schemeClr val="dk1"/>
                </a:solidFill>
                <a:latin typeface="Arial"/>
                <a:ea typeface="Arial"/>
                <a:cs typeface="Arial"/>
                <a:sym typeface="Arial"/>
              </a:rPr>
              <a:t>Latency</a:t>
            </a:r>
            <a:r>
              <a:rPr lang="en-US" dirty="0">
                <a:solidFill>
                  <a:schemeClr val="dk1"/>
                </a:solidFill>
                <a:latin typeface="Arial"/>
                <a:ea typeface="Arial"/>
                <a:cs typeface="Arial"/>
                <a:sym typeface="Arial"/>
              </a:rPr>
              <a:t> is the time it takes to send a minimal (0 byte) message from point A to point B. Commonly expressed as microseconds. </a:t>
            </a:r>
          </a:p>
          <a:p>
            <a:pPr marL="800100" lvl="1">
              <a:buSzPts val="2800"/>
            </a:pPr>
            <a:r>
              <a:rPr lang="en-US" b="1" dirty="0">
                <a:solidFill>
                  <a:schemeClr val="dk1"/>
                </a:solidFill>
                <a:latin typeface="Arial"/>
                <a:ea typeface="Arial"/>
                <a:cs typeface="Arial"/>
                <a:sym typeface="Arial"/>
              </a:rPr>
              <a:t>Bandwidth</a:t>
            </a:r>
            <a:r>
              <a:rPr lang="en-US" dirty="0">
                <a:solidFill>
                  <a:schemeClr val="dk1"/>
                </a:solidFill>
                <a:latin typeface="Arial"/>
                <a:ea typeface="Arial"/>
                <a:cs typeface="Arial"/>
                <a:sym typeface="Arial"/>
              </a:rPr>
              <a:t> is the amount of data that can be communicated per unit of time. Commonly expressed as megabytes/sec or gigabytes/sec. </a:t>
            </a:r>
          </a:p>
          <a:p>
            <a:pPr marL="800100" lvl="1">
              <a:buSzPts val="2800"/>
            </a:pPr>
            <a:r>
              <a:rPr lang="en-US" dirty="0">
                <a:solidFill>
                  <a:schemeClr val="dk1"/>
                </a:solidFill>
                <a:latin typeface="Arial"/>
                <a:ea typeface="Arial"/>
                <a:cs typeface="Arial"/>
                <a:sym typeface="Arial"/>
              </a:rPr>
              <a:t>Sending many small messages can cause latency to dominate communication overheads. Often it is more efficient to package small messages into a larger message, thus increasing the effective communications bandwidth. </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246024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8D23D4F9-204E-5759-5E78-E8B10AD83757}"/>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1375FFC1-D213-5064-19E1-0A6EF3EDBA95}"/>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ACFA9D6F-B5F0-2BA0-6A41-0452FA5741D6}"/>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927A6BCF-0A95-D4F8-5CAE-0BBBFE9EC042}"/>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336B0A52-7799-3981-ADEA-068539E05D35}"/>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930B750E-DE2E-6099-C75E-CBA49FB268F3}"/>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Communications (Visibility)</a:t>
            </a:r>
          </a:p>
          <a:p>
            <a:pPr marL="800100" lvl="1">
              <a:buSzPts val="2800"/>
            </a:pPr>
            <a:r>
              <a:rPr lang="en-US" b="1" dirty="0">
                <a:solidFill>
                  <a:schemeClr val="dk1"/>
                </a:solidFill>
                <a:latin typeface="Arial"/>
                <a:ea typeface="Arial"/>
                <a:cs typeface="Arial"/>
                <a:sym typeface="Arial"/>
              </a:rPr>
              <a:t>Message passing Model: </a:t>
            </a:r>
            <a:r>
              <a:rPr lang="en-US" dirty="0">
                <a:solidFill>
                  <a:schemeClr val="dk1"/>
                </a:solidFill>
                <a:latin typeface="Arial"/>
                <a:ea typeface="Arial"/>
                <a:cs typeface="Arial"/>
                <a:sym typeface="Arial"/>
              </a:rPr>
              <a:t>Communications are explicit (under control of the programmer)</a:t>
            </a:r>
          </a:p>
          <a:p>
            <a:pPr marL="800100" lvl="1">
              <a:buSzPts val="2800"/>
            </a:pPr>
            <a:r>
              <a:rPr lang="en-US" b="1" dirty="0">
                <a:solidFill>
                  <a:schemeClr val="dk1"/>
                </a:solidFill>
                <a:latin typeface="Arial"/>
                <a:ea typeface="Arial"/>
                <a:cs typeface="Arial"/>
                <a:sym typeface="Arial"/>
              </a:rPr>
              <a:t>Data Parallel Model: </a:t>
            </a:r>
            <a:r>
              <a:rPr lang="en-US" dirty="0">
                <a:solidFill>
                  <a:schemeClr val="dk1"/>
                </a:solidFill>
                <a:latin typeface="Arial"/>
                <a:ea typeface="Arial"/>
                <a:cs typeface="Arial"/>
                <a:sym typeface="Arial"/>
              </a:rPr>
              <a:t>Communications occur transparently to the programmer, usually on distributed memory architectures.</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2180564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38992138-6A6A-2BA8-9EDD-0ACE62B4155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2B5F19F0-C011-7975-19BB-41E5E9325748}"/>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F890CBFF-22CA-366F-B5D1-810A4D2A6533}"/>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EBE90ACD-F6AB-04D0-78EA-1C1708F65A8E}"/>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AD298842-5F8C-CCA0-51E3-CEB5B1F573B4}"/>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204BD542-556F-5FD9-AA3C-677939397556}"/>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Communications (Synchronous vs. Asynchronous)</a:t>
            </a:r>
          </a:p>
          <a:p>
            <a:pPr marL="800100" lvl="1">
              <a:buSzPts val="2800"/>
            </a:pPr>
            <a:r>
              <a:rPr lang="en-US" dirty="0">
                <a:solidFill>
                  <a:schemeClr val="dk1"/>
                </a:solidFill>
                <a:latin typeface="Arial"/>
                <a:ea typeface="Arial"/>
                <a:cs typeface="Arial"/>
                <a:sym typeface="Arial"/>
              </a:rPr>
              <a:t>Synchronous requires some type of “handshaking” between task that are sharing data.</a:t>
            </a:r>
          </a:p>
          <a:p>
            <a:pPr marL="800100" lvl="1">
              <a:buSzPts val="2800"/>
            </a:pPr>
            <a:r>
              <a:rPr lang="en-US" dirty="0">
                <a:solidFill>
                  <a:schemeClr val="dk1"/>
                </a:solidFill>
                <a:latin typeface="Arial"/>
                <a:ea typeface="Arial"/>
                <a:cs typeface="Arial"/>
                <a:sym typeface="Arial"/>
              </a:rPr>
              <a:t>Synchronous : Blocking communications, as there is waiting time</a:t>
            </a:r>
          </a:p>
          <a:p>
            <a:pPr marL="800100" lvl="1">
              <a:buSzPts val="2800"/>
            </a:pPr>
            <a:r>
              <a:rPr lang="en-US" dirty="0">
                <a:solidFill>
                  <a:schemeClr val="dk1"/>
                </a:solidFill>
                <a:latin typeface="Arial"/>
                <a:ea typeface="Arial"/>
                <a:cs typeface="Arial"/>
                <a:sym typeface="Arial"/>
              </a:rPr>
              <a:t>Asynchronous allow tasks to transfer data independently from one another.</a:t>
            </a:r>
          </a:p>
          <a:p>
            <a:pPr marL="800100" lvl="1">
              <a:buSzPts val="2800"/>
            </a:pPr>
            <a:r>
              <a:rPr lang="en-US" dirty="0">
                <a:solidFill>
                  <a:schemeClr val="dk1"/>
                </a:solidFill>
                <a:latin typeface="Arial"/>
                <a:ea typeface="Arial"/>
                <a:cs typeface="Arial"/>
                <a:sym typeface="Arial"/>
              </a:rPr>
              <a:t>Asynchronous: Non-Blocking communications, no </a:t>
            </a:r>
            <a:r>
              <a:rPr lang="en-US" dirty="0" err="1">
                <a:solidFill>
                  <a:schemeClr val="dk1"/>
                </a:solidFill>
                <a:latin typeface="Arial"/>
                <a:ea typeface="Arial"/>
                <a:cs typeface="Arial"/>
                <a:sym typeface="Arial"/>
              </a:rPr>
              <a:t>waitting</a:t>
            </a:r>
            <a:r>
              <a:rPr lang="en-US" dirty="0">
                <a:solidFill>
                  <a:schemeClr val="dk1"/>
                </a:solidFill>
                <a:latin typeface="Arial"/>
                <a:ea typeface="Arial"/>
                <a:cs typeface="Arial"/>
                <a:sym typeface="Arial"/>
              </a:rPr>
              <a:t> time</a:t>
            </a:r>
          </a:p>
          <a:p>
            <a:pPr marL="800100" lvl="1">
              <a:buSzPts val="2800"/>
            </a:pPr>
            <a:r>
              <a:rPr lang="en-US" dirty="0">
                <a:solidFill>
                  <a:schemeClr val="dk1"/>
                </a:solidFill>
                <a:latin typeface="Arial"/>
                <a:ea typeface="Arial"/>
                <a:cs typeface="Arial"/>
                <a:sym typeface="Arial"/>
              </a:rPr>
              <a:t>Interleaving computation with communication is the greatest benefit.</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23328008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32B40E81-8421-969C-A29D-FEDCB4664452}"/>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B216B6C3-1C5A-FC0D-3237-95C0AFAFFB3B}"/>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14ADBA78-C7F1-1793-687D-DCC9EFB7E3A3}"/>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3CBE493B-DE0C-7054-CA34-4142257A6D28}"/>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9CEABEFC-12DC-B476-3E9E-758D715F50FA}"/>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038C58FB-0E6C-5D33-BD97-C9398E39CE11}"/>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Communications (Scope)</a:t>
            </a:r>
          </a:p>
          <a:p>
            <a:pPr marL="800100" lvl="1">
              <a:buSzPts val="2800"/>
            </a:pPr>
            <a:r>
              <a:rPr lang="en-US" dirty="0">
                <a:solidFill>
                  <a:schemeClr val="dk1"/>
                </a:solidFill>
                <a:latin typeface="Arial"/>
                <a:ea typeface="Arial"/>
                <a:cs typeface="Arial"/>
                <a:sym typeface="Arial"/>
              </a:rPr>
              <a:t>Knowing which tasks must communicate with each other is critical during design stage of a parallel code.</a:t>
            </a:r>
          </a:p>
          <a:p>
            <a:pPr marL="800100" lvl="1">
              <a:buSzPts val="2800"/>
            </a:pPr>
            <a:r>
              <a:rPr lang="en-US" dirty="0">
                <a:solidFill>
                  <a:schemeClr val="dk1"/>
                </a:solidFill>
                <a:latin typeface="Arial"/>
                <a:ea typeface="Arial"/>
                <a:cs typeface="Arial"/>
                <a:sym typeface="Arial"/>
              </a:rPr>
              <a:t>Two </a:t>
            </a:r>
            <a:r>
              <a:rPr lang="en-US">
                <a:solidFill>
                  <a:schemeClr val="dk1"/>
                </a:solidFill>
                <a:latin typeface="Arial"/>
                <a:ea typeface="Arial"/>
                <a:cs typeface="Arial"/>
                <a:sym typeface="Arial"/>
              </a:rPr>
              <a:t>types of scope </a:t>
            </a:r>
            <a:r>
              <a:rPr lang="en-US" dirty="0">
                <a:solidFill>
                  <a:schemeClr val="dk1"/>
                </a:solidFill>
                <a:latin typeface="Arial"/>
                <a:ea typeface="Arial"/>
                <a:cs typeface="Arial"/>
                <a:sym typeface="Arial"/>
              </a:rPr>
              <a:t>can be implementing sync. Or async.</a:t>
            </a:r>
          </a:p>
          <a:p>
            <a:pPr marL="1257300" lvl="2">
              <a:buSzPts val="2800"/>
            </a:pPr>
            <a:r>
              <a:rPr lang="en-US" dirty="0">
                <a:solidFill>
                  <a:schemeClr val="dk1"/>
                </a:solidFill>
                <a:latin typeface="Arial"/>
                <a:ea typeface="Arial"/>
                <a:cs typeface="Arial"/>
                <a:sym typeface="Arial"/>
              </a:rPr>
              <a:t>Point to Point: 2 task (sender/producer of data and receiver/consumer)</a:t>
            </a:r>
          </a:p>
          <a:p>
            <a:pPr marL="1257300" lvl="2">
              <a:buSzPts val="2800"/>
            </a:pPr>
            <a:r>
              <a:rPr lang="en-US" dirty="0">
                <a:solidFill>
                  <a:schemeClr val="dk1"/>
                </a:solidFill>
                <a:latin typeface="Arial"/>
                <a:ea typeface="Arial"/>
                <a:cs typeface="Arial"/>
                <a:sym typeface="Arial"/>
              </a:rPr>
              <a:t>Collective: data sharing between more than two tasks </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7839512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77508DEB-EBF4-27C5-7C6C-C39D5A1812DB}"/>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B9B2A0FC-BF11-034E-A09C-3CF4BE078A05}"/>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4D4019E3-81E8-8DA9-A33C-365F4EC514B7}"/>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DE0F1093-98E4-1049-A00E-0C01E94FBA50}"/>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07D86571-AB7C-F4F2-044A-AF860B1B46E4}"/>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845732F8-C322-6774-ACE8-5CFA91A98F56}"/>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Communications (Scope)</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pic>
        <p:nvPicPr>
          <p:cNvPr id="3" name="Picture 2" descr="Collective communications examples">
            <a:extLst>
              <a:ext uri="{FF2B5EF4-FFF2-40B4-BE49-F238E27FC236}">
                <a16:creationId xmlns:a16="http://schemas.microsoft.com/office/drawing/2014/main" id="{DB982324-AAEE-C8B8-AC46-31BBBC315B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780722" y="2213039"/>
            <a:ext cx="5867400" cy="4649788"/>
          </a:xfrm>
          <a:prstGeom prst="rect">
            <a:avLst/>
          </a:prstGeom>
          <a:noFill/>
          <a:ln>
            <a:noFill/>
          </a:ln>
        </p:spPr>
      </p:pic>
    </p:spTree>
    <p:extLst>
      <p:ext uri="{BB962C8B-B14F-4D97-AF65-F5344CB8AC3E}">
        <p14:creationId xmlns:p14="http://schemas.microsoft.com/office/powerpoint/2010/main" val="11745400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D9698E7D-7335-8C34-2ED7-C39AA4003BF5}"/>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7F025599-6F5E-84C2-A68F-E86C61D00B0C}"/>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50EF93BB-AE62-546C-CD6A-8D5B874988DB}"/>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AF349404-6889-EF4A-AFC7-406751DE881A}"/>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590CCC34-6596-3EEE-57AC-6139C803F0D9}"/>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12BD709A-7707-10C6-7471-25932AF5C14E}"/>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Efficiency of Communications</a:t>
            </a:r>
          </a:p>
          <a:p>
            <a:pPr marL="800100" lvl="1">
              <a:buSzPts val="2800"/>
            </a:pPr>
            <a:r>
              <a:rPr lang="en-US" dirty="0">
                <a:solidFill>
                  <a:schemeClr val="dk1"/>
                </a:solidFill>
                <a:latin typeface="Arial"/>
                <a:ea typeface="Arial"/>
                <a:cs typeface="Arial"/>
                <a:sym typeface="Arial"/>
              </a:rPr>
              <a:t>Very often, the programmer will have a choice with regard to factors that can affect communications performance. </a:t>
            </a:r>
          </a:p>
          <a:p>
            <a:pPr marL="800100" lvl="1">
              <a:buSzPts val="2800"/>
            </a:pPr>
            <a:r>
              <a:rPr lang="en-US" dirty="0">
                <a:solidFill>
                  <a:schemeClr val="dk1"/>
                </a:solidFill>
                <a:latin typeface="Arial"/>
                <a:ea typeface="Arial"/>
                <a:cs typeface="Arial"/>
                <a:sym typeface="Arial"/>
              </a:rPr>
              <a:t>Which implementation for a given model should be used? (e.g. MPI implementation may be faster on a given hardware platform than another) </a:t>
            </a:r>
          </a:p>
          <a:p>
            <a:pPr marL="800100" lvl="1">
              <a:buSzPts val="2800"/>
            </a:pPr>
            <a:r>
              <a:rPr lang="en-US" dirty="0">
                <a:solidFill>
                  <a:schemeClr val="dk1"/>
                </a:solidFill>
                <a:latin typeface="Arial"/>
                <a:ea typeface="Arial"/>
                <a:cs typeface="Arial"/>
                <a:sym typeface="Arial"/>
              </a:rPr>
              <a:t>What type of communication operations should be used? (e.g. asynchronous communication operations can improve overall program performance) </a:t>
            </a:r>
          </a:p>
          <a:p>
            <a:pPr marL="800100" lvl="1">
              <a:buSzPts val="2800"/>
            </a:pPr>
            <a:r>
              <a:rPr lang="en-US" dirty="0">
                <a:solidFill>
                  <a:schemeClr val="dk1"/>
                </a:solidFill>
                <a:latin typeface="Arial"/>
                <a:ea typeface="Arial"/>
                <a:cs typeface="Arial"/>
                <a:sym typeface="Arial"/>
              </a:rPr>
              <a:t>Network media - some platforms may offer more than one network for communications. Which one is best? </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9388850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5A8304D8-C1FA-D75E-5C76-3A78C19E680C}"/>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DD139AA6-4876-5F13-7316-C8C7F26D324C}"/>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74E2A6DE-4242-7B47-2584-8B50E1C6AD86}"/>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F460706F-C713-A18D-C0BE-F62B2CD7D309}"/>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881A5E73-5BD5-8689-D4BE-0389D38CB233}"/>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52A66360-8904-74AF-9BC3-AB3406F8FA54}"/>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Synchronization</a:t>
            </a:r>
          </a:p>
          <a:p>
            <a:pPr marL="800100" lvl="1">
              <a:buSzPts val="2800"/>
            </a:pPr>
            <a:r>
              <a:rPr lang="en-US" dirty="0">
                <a:solidFill>
                  <a:schemeClr val="dk1"/>
                </a:solidFill>
                <a:latin typeface="Arial"/>
                <a:ea typeface="Arial"/>
                <a:cs typeface="Arial"/>
                <a:sym typeface="Arial"/>
              </a:rPr>
              <a:t>Managing the sequence of work and the tasks performing it</a:t>
            </a:r>
          </a:p>
          <a:p>
            <a:pPr marL="342900">
              <a:buSzPts val="2800"/>
            </a:pPr>
            <a:r>
              <a:rPr lang="en-US" dirty="0">
                <a:solidFill>
                  <a:schemeClr val="dk1"/>
                </a:solidFill>
                <a:latin typeface="Arial"/>
                <a:ea typeface="Arial"/>
                <a:cs typeface="Arial"/>
                <a:sym typeface="Arial"/>
              </a:rPr>
              <a:t>Types</a:t>
            </a:r>
          </a:p>
          <a:p>
            <a:pPr marL="800100" lvl="1">
              <a:buSzPts val="2800"/>
            </a:pPr>
            <a:r>
              <a:rPr lang="en-US" dirty="0">
                <a:solidFill>
                  <a:schemeClr val="dk1"/>
                </a:solidFill>
                <a:latin typeface="Arial"/>
                <a:ea typeface="Arial"/>
                <a:cs typeface="Arial"/>
                <a:sym typeface="Arial"/>
              </a:rPr>
              <a:t>Barrier</a:t>
            </a:r>
          </a:p>
          <a:p>
            <a:pPr marL="1257300" lvl="2">
              <a:buSzPts val="2800"/>
            </a:pPr>
            <a:r>
              <a:rPr lang="en-US" dirty="0">
                <a:solidFill>
                  <a:schemeClr val="dk1"/>
                </a:solidFill>
                <a:latin typeface="Arial"/>
                <a:ea typeface="Arial"/>
                <a:cs typeface="Arial"/>
                <a:sym typeface="Arial"/>
              </a:rPr>
              <a:t>All tasks are involved</a:t>
            </a:r>
          </a:p>
          <a:p>
            <a:pPr marL="1257300" lvl="2">
              <a:buSzPts val="2800"/>
            </a:pPr>
            <a:r>
              <a:rPr lang="en-US" dirty="0">
                <a:solidFill>
                  <a:schemeClr val="dk1"/>
                </a:solidFill>
                <a:latin typeface="Arial"/>
                <a:ea typeface="Arial"/>
                <a:cs typeface="Arial"/>
                <a:sym typeface="Arial"/>
              </a:rPr>
              <a:t>Each task perform its work. When the last task reaches the barrier, all task are synchronized</a:t>
            </a:r>
          </a:p>
          <a:p>
            <a:pPr marL="800100" lvl="1">
              <a:buSzPts val="2800"/>
            </a:pPr>
            <a:r>
              <a:rPr lang="en-US" dirty="0">
                <a:solidFill>
                  <a:schemeClr val="dk1"/>
                </a:solidFill>
                <a:latin typeface="Arial"/>
                <a:ea typeface="Arial"/>
                <a:cs typeface="Arial"/>
                <a:sym typeface="Arial"/>
              </a:rPr>
              <a:t>Lock / semaphore</a:t>
            </a:r>
          </a:p>
          <a:p>
            <a:pPr marL="1257300" lvl="2">
              <a:buSzPts val="2800"/>
            </a:pPr>
            <a:r>
              <a:rPr lang="en-US" dirty="0">
                <a:solidFill>
                  <a:schemeClr val="dk1"/>
                </a:solidFill>
                <a:latin typeface="Arial"/>
                <a:ea typeface="Arial"/>
                <a:cs typeface="Arial"/>
                <a:sym typeface="Arial"/>
              </a:rPr>
              <a:t>Typically used to serialize access to global data or section of code. Task must wait to use the code</a:t>
            </a: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47310605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35">
          <a:extLst>
            <a:ext uri="{FF2B5EF4-FFF2-40B4-BE49-F238E27FC236}">
              <a16:creationId xmlns:a16="http://schemas.microsoft.com/office/drawing/2014/main" id="{0DE17E48-61C1-B502-9751-BBFB7831F293}"/>
            </a:ext>
          </a:extLst>
        </p:cNvPr>
        <p:cNvGrpSpPr/>
        <p:nvPr/>
      </p:nvGrpSpPr>
      <p:grpSpPr>
        <a:xfrm>
          <a:off x="0" y="0"/>
          <a:ext cx="0" cy="0"/>
          <a:chOff x="0" y="0"/>
          <a:chExt cx="0" cy="0"/>
        </a:xfrm>
      </p:grpSpPr>
      <p:sp>
        <p:nvSpPr>
          <p:cNvPr id="136" name="Google Shape;136;p4">
            <a:extLst>
              <a:ext uri="{FF2B5EF4-FFF2-40B4-BE49-F238E27FC236}">
                <a16:creationId xmlns:a16="http://schemas.microsoft.com/office/drawing/2014/main" id="{653B4A15-52E4-C947-56F2-D507A5ED99FB}"/>
              </a:ext>
            </a:extLst>
          </p:cNvPr>
          <p:cNvSpPr/>
          <p:nvPr/>
        </p:nvSpPr>
        <p:spPr>
          <a:xfrm>
            <a:off x="0" y="0"/>
            <a:ext cx="12188952"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rgbClr val="595959"/>
              </a:solidFill>
              <a:latin typeface="Avenir"/>
              <a:ea typeface="Avenir"/>
              <a:cs typeface="Avenir"/>
              <a:sym typeface="Avenir"/>
            </a:endParaRPr>
          </a:p>
        </p:txBody>
      </p:sp>
      <p:sp>
        <p:nvSpPr>
          <p:cNvPr id="137" name="Google Shape;137;p4">
            <a:extLst>
              <a:ext uri="{FF2B5EF4-FFF2-40B4-BE49-F238E27FC236}">
                <a16:creationId xmlns:a16="http://schemas.microsoft.com/office/drawing/2014/main" id="{0B379907-5F1F-B049-2DFC-758E131B93F5}"/>
              </a:ext>
            </a:extLst>
          </p:cNvPr>
          <p:cNvSpPr/>
          <p:nvPr/>
        </p:nvSpPr>
        <p:spPr>
          <a:xfrm>
            <a:off x="3048" y="0"/>
            <a:ext cx="12188952" cy="6858000"/>
          </a:xfrm>
          <a:prstGeom prst="rect">
            <a:avLst/>
          </a:prstGeom>
          <a:solidFill>
            <a:schemeClr val="bg1">
              <a:alpha val="6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rgbClr val="595959"/>
              </a:solidFill>
              <a:latin typeface="Avenir"/>
              <a:ea typeface="Avenir"/>
              <a:cs typeface="Avenir"/>
              <a:sym typeface="Avenir"/>
            </a:endParaRPr>
          </a:p>
        </p:txBody>
      </p:sp>
      <p:sp>
        <p:nvSpPr>
          <p:cNvPr id="138" name="Google Shape;138;p4">
            <a:extLst>
              <a:ext uri="{FF2B5EF4-FFF2-40B4-BE49-F238E27FC236}">
                <a16:creationId xmlns:a16="http://schemas.microsoft.com/office/drawing/2014/main" id="{08A2A2BE-E7EE-6F1C-41E8-055E1C5B15EE}"/>
              </a:ext>
            </a:extLst>
          </p:cNvPr>
          <p:cNvSpPr/>
          <p:nvPr/>
        </p:nvSpPr>
        <p:spPr>
          <a:xfrm>
            <a:off x="0" y="0"/>
            <a:ext cx="12192000" cy="2225674"/>
          </a:xfrm>
          <a:prstGeom prst="rect">
            <a:avLst/>
          </a:prstGeom>
          <a:solidFill>
            <a:srgbClr val="2F5547"/>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Avenir"/>
              <a:ea typeface="Avenir"/>
              <a:cs typeface="Avenir"/>
              <a:sym typeface="Avenir"/>
            </a:endParaRPr>
          </a:p>
        </p:txBody>
      </p:sp>
      <p:sp>
        <p:nvSpPr>
          <p:cNvPr id="140" name="Google Shape;140;p4">
            <a:extLst>
              <a:ext uri="{FF2B5EF4-FFF2-40B4-BE49-F238E27FC236}">
                <a16:creationId xmlns:a16="http://schemas.microsoft.com/office/drawing/2014/main" id="{D1B479C0-6DD0-B26E-3FA1-E7E1E1A0A0DB}"/>
              </a:ext>
            </a:extLst>
          </p:cNvPr>
          <p:cNvSpPr txBox="1">
            <a:spLocks noGrp="1"/>
          </p:cNvSpPr>
          <p:nvPr>
            <p:ph type="title"/>
          </p:nvPr>
        </p:nvSpPr>
        <p:spPr>
          <a:xfrm>
            <a:off x="1198182" y="381000"/>
            <a:ext cx="10003218" cy="1600124"/>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chemeClr val="lt1"/>
              </a:buClr>
              <a:buSzPts val="4400"/>
              <a:buFont typeface="Avenir"/>
              <a:buNone/>
            </a:pPr>
            <a:r>
              <a:rPr lang="en-US" dirty="0"/>
              <a:t>Roadmap to Designing Parallel Programs</a:t>
            </a:r>
          </a:p>
        </p:txBody>
      </p:sp>
      <p:sp>
        <p:nvSpPr>
          <p:cNvPr id="2" name="Google Shape;141;p4">
            <a:extLst>
              <a:ext uri="{FF2B5EF4-FFF2-40B4-BE49-F238E27FC236}">
                <a16:creationId xmlns:a16="http://schemas.microsoft.com/office/drawing/2014/main" id="{61AB5121-CB40-BE9A-4290-D4C94676AB70}"/>
              </a:ext>
            </a:extLst>
          </p:cNvPr>
          <p:cNvSpPr txBox="1">
            <a:spLocks/>
          </p:cNvSpPr>
          <p:nvPr/>
        </p:nvSpPr>
        <p:spPr>
          <a:xfrm>
            <a:off x="0" y="2168524"/>
            <a:ext cx="12188952" cy="4746626"/>
          </a:xfrm>
          <a:prstGeom prst="rect">
            <a:avLst/>
          </a:prstGeom>
          <a:solidFill>
            <a:schemeClr val="bg1"/>
          </a:solid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42900" algn="l" rtl="0">
              <a:lnSpc>
                <a:spcPct val="110000"/>
              </a:lnSpc>
              <a:spcBef>
                <a:spcPts val="1000"/>
              </a:spcBef>
              <a:spcAft>
                <a:spcPts val="0"/>
              </a:spcAft>
              <a:buClr>
                <a:schemeClr val="accent1"/>
              </a:buClr>
              <a:buSzPts val="1800"/>
              <a:buFont typeface="Arial"/>
              <a:buChar char="•"/>
              <a:defRPr sz="2800" b="0" i="0" u="none" strike="noStrike" cap="none">
                <a:solidFill>
                  <a:schemeClr val="lt1"/>
                </a:solidFill>
                <a:latin typeface="Avenir"/>
                <a:ea typeface="Avenir"/>
                <a:cs typeface="Avenir"/>
                <a:sym typeface="Avenir"/>
              </a:defRPr>
            </a:lvl1pPr>
            <a:lvl2pPr marL="914400" marR="0" lvl="1" indent="-342900" algn="l" rtl="0">
              <a:lnSpc>
                <a:spcPct val="110000"/>
              </a:lnSpc>
              <a:spcBef>
                <a:spcPts val="500"/>
              </a:spcBef>
              <a:spcAft>
                <a:spcPts val="0"/>
              </a:spcAft>
              <a:buClr>
                <a:schemeClr val="accent1"/>
              </a:buClr>
              <a:buSzPts val="1800"/>
              <a:buFont typeface="Arial"/>
              <a:buChar char="•"/>
              <a:defRPr sz="2400" b="0" i="0" u="none" strike="noStrike" cap="none">
                <a:solidFill>
                  <a:schemeClr val="lt1"/>
                </a:solidFill>
                <a:latin typeface="Avenir"/>
                <a:ea typeface="Avenir"/>
                <a:cs typeface="Avenir"/>
                <a:sym typeface="Avenir"/>
              </a:defRPr>
            </a:lvl2pPr>
            <a:lvl3pPr marL="1371600" marR="0" lvl="2" indent="-342900" algn="l" rtl="0">
              <a:lnSpc>
                <a:spcPct val="110000"/>
              </a:lnSpc>
              <a:spcBef>
                <a:spcPts val="500"/>
              </a:spcBef>
              <a:spcAft>
                <a:spcPts val="0"/>
              </a:spcAft>
              <a:buClr>
                <a:schemeClr val="accent1"/>
              </a:buClr>
              <a:buSzPts val="1800"/>
              <a:buFont typeface="Arial"/>
              <a:buChar char="•"/>
              <a:defRPr sz="2000" b="0" i="0" u="none" strike="noStrike" cap="none">
                <a:solidFill>
                  <a:schemeClr val="lt1"/>
                </a:solidFill>
                <a:latin typeface="Avenir"/>
                <a:ea typeface="Avenir"/>
                <a:cs typeface="Avenir"/>
                <a:sym typeface="Avenir"/>
              </a:defRPr>
            </a:lvl3pPr>
            <a:lvl4pPr marL="1828800" marR="0" lvl="3"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4pPr>
            <a:lvl5pPr marL="2286000" marR="0" lvl="4" indent="-342900" algn="l" rtl="0">
              <a:lnSpc>
                <a:spcPct val="110000"/>
              </a:lnSpc>
              <a:spcBef>
                <a:spcPts val="500"/>
              </a:spcBef>
              <a:spcAft>
                <a:spcPts val="0"/>
              </a:spcAft>
              <a:buClr>
                <a:schemeClr val="accent1"/>
              </a:buClr>
              <a:buSzPts val="1800"/>
              <a:buFont typeface="Arial"/>
              <a:buChar char="•"/>
              <a:defRPr sz="1800" b="0" i="0" u="none" strike="noStrike" cap="none">
                <a:solidFill>
                  <a:schemeClr val="lt1"/>
                </a:solidFill>
                <a:latin typeface="Avenir"/>
                <a:ea typeface="Avenir"/>
                <a:cs typeface="Avenir"/>
                <a:sym typeface="Avenir"/>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venir"/>
                <a:ea typeface="Avenir"/>
                <a:cs typeface="Avenir"/>
                <a:sym typeface="Avenir"/>
              </a:defRPr>
            </a:lvl9pPr>
          </a:lstStyle>
          <a:p>
            <a:pPr marL="342900">
              <a:buSzPts val="2800"/>
            </a:pPr>
            <a:r>
              <a:rPr lang="en-US" dirty="0">
                <a:solidFill>
                  <a:schemeClr val="dk1"/>
                </a:solidFill>
                <a:latin typeface="Arial"/>
                <a:ea typeface="Arial"/>
                <a:cs typeface="Arial"/>
                <a:sym typeface="Arial"/>
              </a:rPr>
              <a:t>Synchronization</a:t>
            </a:r>
          </a:p>
          <a:p>
            <a:pPr marL="342900">
              <a:buSzPts val="2800"/>
            </a:pPr>
            <a:r>
              <a:rPr lang="en-US" dirty="0">
                <a:solidFill>
                  <a:schemeClr val="dk1"/>
                </a:solidFill>
                <a:latin typeface="Arial"/>
                <a:ea typeface="Arial"/>
                <a:cs typeface="Arial"/>
                <a:sym typeface="Arial"/>
              </a:rPr>
              <a:t>Types</a:t>
            </a:r>
          </a:p>
          <a:p>
            <a:pPr marL="800100" lvl="1">
              <a:buSzPts val="2800"/>
            </a:pPr>
            <a:r>
              <a:rPr lang="en-US" dirty="0">
                <a:solidFill>
                  <a:schemeClr val="dk1"/>
                </a:solidFill>
                <a:latin typeface="Arial"/>
                <a:ea typeface="Arial"/>
                <a:cs typeface="Arial"/>
                <a:sym typeface="Arial"/>
              </a:rPr>
              <a:t>Synchronous communication operations</a:t>
            </a:r>
          </a:p>
          <a:p>
            <a:pPr marL="1257300" lvl="2">
              <a:buSzPts val="2800"/>
            </a:pPr>
            <a:r>
              <a:rPr lang="en-US" dirty="0">
                <a:solidFill>
                  <a:schemeClr val="dk1"/>
                </a:solidFill>
                <a:latin typeface="Arial"/>
                <a:ea typeface="Arial"/>
                <a:cs typeface="Arial"/>
                <a:sym typeface="Arial"/>
              </a:rPr>
              <a:t>Lock / semaphore</a:t>
            </a:r>
          </a:p>
          <a:p>
            <a:pPr marL="1714500" lvl="3">
              <a:buSzPts val="2800"/>
            </a:pPr>
            <a:r>
              <a:rPr lang="en-US" dirty="0">
                <a:solidFill>
                  <a:schemeClr val="dk1"/>
                </a:solidFill>
                <a:latin typeface="Arial"/>
                <a:ea typeface="Arial"/>
                <a:cs typeface="Arial"/>
                <a:sym typeface="Arial"/>
              </a:rPr>
              <a:t>Involves only those tasks executing a communication operations (handshaking)</a:t>
            </a:r>
          </a:p>
          <a:p>
            <a:pPr marL="800100" lvl="1">
              <a:buSzPts val="2800"/>
            </a:pPr>
            <a:endParaRPr lang="en-US" dirty="0">
              <a:solidFill>
                <a:schemeClr val="dk1"/>
              </a:solidFill>
              <a:latin typeface="Arial"/>
              <a:ea typeface="Arial"/>
              <a:cs typeface="Arial"/>
              <a:sym typeface="Arial"/>
            </a:endParaRPr>
          </a:p>
          <a:p>
            <a:pPr marL="342900">
              <a:buSzPts val="2800"/>
            </a:pPr>
            <a:endParaRPr lang="en-US"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652738720"/>
      </p:ext>
    </p:extLst>
  </p:cSld>
  <p:clrMapOvr>
    <a:masterClrMapping/>
  </p:clrMapOvr>
</p:sld>
</file>

<file path=ppt/theme/theme1.xml><?xml version="1.0" encoding="utf-8"?>
<a:theme xmlns:a="http://schemas.openxmlformats.org/drawingml/2006/main" name="BlockprintVTI">
  <a:themeElements>
    <a:clrScheme name="AnalogousFromDarkSeedLeftStep">
      <a:dk1>
        <a:srgbClr val="000000"/>
      </a:dk1>
      <a:lt1>
        <a:srgbClr val="FFFFFF"/>
      </a:lt1>
      <a:dk2>
        <a:srgbClr val="213B31"/>
      </a:dk2>
      <a:lt2>
        <a:srgbClr val="E8E2E3"/>
      </a:lt2>
      <a:accent1>
        <a:srgbClr val="45B0A7"/>
      </a:accent1>
      <a:accent2>
        <a:srgbClr val="3BB176"/>
      </a:accent2>
      <a:accent3>
        <a:srgbClr val="47B550"/>
      </a:accent3>
      <a:accent4>
        <a:srgbClr val="63B13B"/>
      </a:accent4>
      <a:accent5>
        <a:srgbClr val="91AB43"/>
      </a:accent5>
      <a:accent6>
        <a:srgbClr val="B19D3B"/>
      </a:accent6>
      <a:hlink>
        <a:srgbClr val="658B2E"/>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12045</TotalTime>
  <Words>1856</Words>
  <Application>Microsoft Office PowerPoint</Application>
  <PresentationFormat>Widescreen</PresentationFormat>
  <Paragraphs>227</Paragraphs>
  <Slides>33</Slides>
  <Notes>33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Avenir</vt:lpstr>
      <vt:lpstr>Calibri</vt:lpstr>
      <vt:lpstr>BlockprintVTI</vt:lpstr>
      <vt:lpstr>CSDC-446 Parallel and Distributed Computing</vt:lpstr>
      <vt:lpstr>Topics Covered</vt:lpstr>
      <vt:lpstr>Program Transformations and Validity</vt:lpstr>
      <vt:lpstr>Reordering Transformations</vt:lpstr>
      <vt:lpstr>Validity of Dependence-Based Transformations</vt:lpstr>
      <vt:lpstr>Direction Vector Transformation</vt:lpstr>
      <vt:lpstr>Is this transformation valid?</vt:lpstr>
      <vt:lpstr>Validity of Transformations for Loop-Independent Dependences</vt:lpstr>
      <vt:lpstr>Is this transformation valid?</vt:lpstr>
      <vt:lpstr>Designing Parallel Programs</vt:lpstr>
      <vt:lpstr>Designing Parallel Programs</vt:lpstr>
      <vt:lpstr>Designing Parallel Programs</vt:lpstr>
      <vt:lpstr>Designing Parallel Programs</vt:lpstr>
      <vt:lpstr>Designing Parallel Programs</vt:lpstr>
      <vt:lpstr>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lpstr>Roadmap to Designing Parallel Programs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CS621 Parallel and Distributed Computing</dc:title>
  <dc:creator>Academics 1</dc:creator>
  <cp:lastModifiedBy>Sehrish Amjad</cp:lastModifiedBy>
  <cp:revision>709</cp:revision>
  <dcterms:created xsi:type="dcterms:W3CDTF">2022-12-26T05:14:17Z</dcterms:created>
  <dcterms:modified xsi:type="dcterms:W3CDTF">2026-03-31T04:30:51Z</dcterms:modified>
</cp:coreProperties>
</file>