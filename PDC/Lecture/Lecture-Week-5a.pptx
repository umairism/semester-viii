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1.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5"/>
  </p:notesMasterIdLst>
  <p:sldIdLst>
    <p:sldId id="256" r:id="rId2"/>
    <p:sldId id="259" r:id="rId3"/>
    <p:sldId id="422" r:id="rId4"/>
    <p:sldId id="447" r:id="rId5"/>
    <p:sldId id="448" r:id="rId6"/>
    <p:sldId id="449" r:id="rId7"/>
    <p:sldId id="450" r:id="rId8"/>
    <p:sldId id="451" r:id="rId9"/>
    <p:sldId id="452" r:id="rId10"/>
    <p:sldId id="453" r:id="rId11"/>
    <p:sldId id="503" r:id="rId12"/>
    <p:sldId id="454" r:id="rId13"/>
    <p:sldId id="455" r:id="rId14"/>
    <p:sldId id="456" r:id="rId15"/>
    <p:sldId id="457" r:id="rId16"/>
    <p:sldId id="458" r:id="rId17"/>
    <p:sldId id="459" r:id="rId18"/>
    <p:sldId id="460" r:id="rId19"/>
    <p:sldId id="461" r:id="rId20"/>
    <p:sldId id="462" r:id="rId21"/>
    <p:sldId id="463" r:id="rId22"/>
    <p:sldId id="464" r:id="rId23"/>
    <p:sldId id="504" r:id="rId24"/>
    <p:sldId id="465" r:id="rId25"/>
    <p:sldId id="505" r:id="rId26"/>
    <p:sldId id="483" r:id="rId27"/>
    <p:sldId id="478" r:id="rId28"/>
    <p:sldId id="506" r:id="rId29"/>
    <p:sldId id="507" r:id="rId30"/>
    <p:sldId id="508" r:id="rId31"/>
    <p:sldId id="469" r:id="rId32"/>
    <p:sldId id="509" r:id="rId33"/>
    <p:sldId id="510" r:id="rId34"/>
    <p:sldId id="511" r:id="rId35"/>
    <p:sldId id="512" r:id="rId36"/>
    <p:sldId id="513" r:id="rId37"/>
    <p:sldId id="514" r:id="rId38"/>
    <p:sldId id="515" r:id="rId39"/>
    <p:sldId id="520" r:id="rId40"/>
    <p:sldId id="516" r:id="rId41"/>
    <p:sldId id="517" r:id="rId42"/>
    <p:sldId id="518" r:id="rId43"/>
    <p:sldId id="519"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3" roundtripDataSignature="AMtx7mjLOmqfjBRYjHjL0yn0qA3zyNo6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6268" autoAdjust="0"/>
  </p:normalViewPr>
  <p:slideViewPr>
    <p:cSldViewPr snapToGrid="0">
      <p:cViewPr varScale="1">
        <p:scale>
          <a:sx n="43" d="100"/>
          <a:sy n="43" d="100"/>
        </p:scale>
        <p:origin x="155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84"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8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124.27184" units="1/cm"/>
          <inkml:channelProperty channel="Y" name="resolution" value="62.42775" units="1/cm"/>
          <inkml:channelProperty channel="T" name="resolution" value="1" units="1/dev"/>
        </inkml:channelProperties>
      </inkml:inkSource>
      <inkml:timestamp xml:id="ts0" timeString="2026-03-10T04:20:37.712"/>
    </inkml:context>
    <inkml:brush xml:id="br0">
      <inkml:brushProperty name="width" value="0.05292" units="cm"/>
      <inkml:brushProperty name="height" value="0.05292" units="cm"/>
      <inkml:brushProperty name="color" value="#FF0000"/>
    </inkml:brush>
  </inkml:definitions>
  <inkml:trace contextRef="#ctx0" brushRef="#br0">20179 17462 0</inkml:trace>
  <inkml:trace contextRef="#ctx0" brushRef="#br0" timeOffset="1009.16">19950 14887 0,'141'88'16,"53"177"-1,0 123 1,0-88 0,-124-71-16,-52-141 0,123 230 15,53 141 1,-176-389-16,70 124 15,71 71 1,-142-212 0,-17-36-1,0-52 1,-123-194 0,-18-54-1,-159-634 1,-141-318-1,194 459 1,176 424-16,54 193 0,-71-194 16,70 106-1,18 230-15,0-1 32,35 18-1,142 70-16,-72-52 1,107 70 0,70 0-1,-52 36 1,-107-89-16,-88-17 0,248 211 31,-195-176-15,0 35-1,0-88 1,-70 0-16,-1 0 31,1 18-15,0-18 0,35 18-1,-18 34 1,18 1-1,-53-35 17,18-18-17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36410A8-785A-58D2-05B1-30334B12B93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343DB47A-B781-899D-9A0C-FD2C497A9E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6D10F75-EFA3-00EC-1B00-B54EE950BB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78B5A6AD-B759-505A-2036-72054181D22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702558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D2FFEF9-19D0-7F12-80C7-1EAF8246B3C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7A4E4768-EB49-E2E7-6FFE-D5D063E41D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C3294EB-4816-9DE9-FB7A-60F77B5223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CE3D1A58-0A13-EDE5-0110-ADF92F1269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614782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6554CD0-B41E-0673-8948-1FE8B930096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A09F56EC-98B5-2B9D-2B44-0C23460638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9E1AF82-CE5B-80FD-B125-C003E656C8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6FBFE4BB-00CD-D5FE-C584-51B78272162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90144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0F3607A-D93C-84F9-6E58-0AF680D1EEA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5C5FB22-9DC8-4225-FA8B-CA3FFEB8B9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2413479-DCBB-4CBC-E559-E8D7EED020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Do </a:t>
            </a:r>
            <a:r>
              <a:rPr lang="en-US" dirty="0" err="1"/>
              <a:t>i</a:t>
            </a:r>
            <a:r>
              <a:rPr lang="en-US" dirty="0"/>
              <a:t>=1 to 100</a:t>
            </a:r>
          </a:p>
          <a:p>
            <a:pPr marL="0" lvl="0" indent="0" algn="l" rtl="0">
              <a:spcBef>
                <a:spcPts val="0"/>
              </a:spcBef>
              <a:spcAft>
                <a:spcPts val="0"/>
              </a:spcAft>
              <a:buNone/>
            </a:pPr>
            <a:r>
              <a:rPr lang="en-US" dirty="0"/>
              <a:t>A(</a:t>
            </a:r>
            <a:r>
              <a:rPr lang="en-US" dirty="0" err="1"/>
              <a:t>i</a:t>
            </a:r>
            <a:r>
              <a:rPr lang="en-US" dirty="0"/>
              <a:t>) = A(</a:t>
            </a:r>
            <a:r>
              <a:rPr lang="en-US" dirty="0" err="1"/>
              <a:t>i</a:t>
            </a:r>
            <a:r>
              <a:rPr lang="en-US" dirty="0"/>
              <a:t>) + 1</a:t>
            </a:r>
          </a:p>
          <a:p>
            <a:pPr marL="0" lvl="0" indent="0" algn="l" rtl="0">
              <a:spcBef>
                <a:spcPts val="0"/>
              </a:spcBef>
              <a:spcAft>
                <a:spcPts val="0"/>
              </a:spcAft>
              <a:buNone/>
            </a:pPr>
            <a:r>
              <a:rPr lang="en-US" dirty="0" err="1"/>
              <a:t>Enddo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=1</a:t>
            </a:r>
          </a:p>
          <a:p>
            <a:pPr marL="0" lvl="0" indent="0" algn="l" rtl="0">
              <a:spcBef>
                <a:spcPts val="0"/>
              </a:spcBef>
              <a:spcAft>
                <a:spcPts val="0"/>
              </a:spcAft>
              <a:buNone/>
            </a:pPr>
            <a:r>
              <a:rPr lang="en-US" dirty="0"/>
              <a:t>A(1) = A(1)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=2</a:t>
            </a:r>
          </a:p>
          <a:p>
            <a:pPr marL="0" lvl="0" indent="0" algn="l" rtl="0">
              <a:spcBef>
                <a:spcPts val="0"/>
              </a:spcBef>
              <a:spcAft>
                <a:spcPts val="0"/>
              </a:spcAft>
              <a:buNone/>
            </a:pPr>
            <a:r>
              <a:rPr lang="en-US" dirty="0"/>
              <a:t>A(2) = A(2)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=3</a:t>
            </a:r>
          </a:p>
          <a:p>
            <a:pPr marL="0" lvl="0" indent="0" algn="l" rtl="0">
              <a:spcBef>
                <a:spcPts val="0"/>
              </a:spcBef>
              <a:spcAft>
                <a:spcPts val="0"/>
              </a:spcAft>
              <a:buNone/>
            </a:pPr>
            <a:r>
              <a:rPr lang="en-US" dirty="0"/>
              <a:t>A(3) = A(3)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=4</a:t>
            </a:r>
          </a:p>
          <a:p>
            <a:pPr marL="0" lvl="0" indent="0" algn="l" rtl="0">
              <a:spcBef>
                <a:spcPts val="0"/>
              </a:spcBef>
              <a:spcAft>
                <a:spcPts val="0"/>
              </a:spcAft>
              <a:buNone/>
            </a:pPr>
            <a:r>
              <a:rPr lang="en-US" dirty="0"/>
              <a:t>A(4) = A(4) + 1</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A=1 to 100</a:t>
            </a:r>
          </a:p>
          <a:p>
            <a:pPr marL="0" lvl="0" indent="0" algn="l" rtl="0">
              <a:spcBef>
                <a:spcPts val="0"/>
              </a:spcBef>
              <a:spcAft>
                <a:spcPts val="0"/>
              </a:spcAft>
              <a:buNone/>
            </a:pPr>
            <a:r>
              <a:rPr lang="en-US" dirty="0"/>
              <a:t>A(</a:t>
            </a:r>
            <a:r>
              <a:rPr lang="en-US" dirty="0" err="1"/>
              <a:t>i</a:t>
            </a:r>
            <a:r>
              <a:rPr lang="en-US" dirty="0"/>
              <a:t>) = A(i-1) + 1</a:t>
            </a:r>
          </a:p>
          <a:p>
            <a:pPr marL="0" lvl="0" indent="0" algn="l" rtl="0">
              <a:spcBef>
                <a:spcPts val="0"/>
              </a:spcBef>
              <a:spcAft>
                <a:spcPts val="0"/>
              </a:spcAft>
              <a:buNone/>
            </a:pPr>
            <a:r>
              <a:rPr lang="en-US" dirty="0" err="1"/>
              <a:t>Enddo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=1</a:t>
            </a:r>
          </a:p>
          <a:p>
            <a:pPr marL="0" lvl="0" indent="0" algn="l" rtl="0">
              <a:spcBef>
                <a:spcPts val="0"/>
              </a:spcBef>
              <a:spcAft>
                <a:spcPts val="0"/>
              </a:spcAft>
              <a:buNone/>
            </a:pPr>
            <a:r>
              <a:rPr lang="en-US" dirty="0"/>
              <a:t>A(1) = A(0)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=2</a:t>
            </a:r>
          </a:p>
          <a:p>
            <a:pPr marL="0" lvl="0" indent="0" algn="l" rtl="0">
              <a:spcBef>
                <a:spcPts val="0"/>
              </a:spcBef>
              <a:spcAft>
                <a:spcPts val="0"/>
              </a:spcAft>
              <a:buNone/>
            </a:pPr>
            <a:r>
              <a:rPr lang="en-US" dirty="0"/>
              <a:t>A(2) = A(1)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=3</a:t>
            </a:r>
          </a:p>
          <a:p>
            <a:pPr marL="0" lvl="0" indent="0" algn="l" rtl="0">
              <a:spcBef>
                <a:spcPts val="0"/>
              </a:spcBef>
              <a:spcAft>
                <a:spcPts val="0"/>
              </a:spcAft>
              <a:buNone/>
            </a:pPr>
            <a:r>
              <a:rPr lang="en-US" dirty="0"/>
              <a:t>A(3) = A(2)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t>
            </a:r>
            <a:r>
              <a:rPr lang="en-US" dirty="0" err="1"/>
              <a:t>i</a:t>
            </a:r>
            <a:r>
              <a:rPr lang="en-US" dirty="0"/>
              <a:t>=4</a:t>
            </a:r>
          </a:p>
          <a:p>
            <a:pPr marL="0" lvl="0" indent="0" algn="l" rtl="0">
              <a:spcBef>
                <a:spcPts val="0"/>
              </a:spcBef>
              <a:spcAft>
                <a:spcPts val="0"/>
              </a:spcAft>
              <a:buNone/>
            </a:pPr>
            <a:r>
              <a:rPr lang="en-US" dirty="0"/>
              <a:t>A(4) = A(3) +1</a:t>
            </a:r>
          </a:p>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92B6DC6D-F208-D717-742F-751227E2E1B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938254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63B0762-065D-8502-F94F-76D6C86E8698}"/>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E1CB05E-9CA2-8F05-1F59-F108BEA7F1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7C6062F-77DC-64B7-1C89-DAD442ACE5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1C950DE4-0996-3F4F-6BE2-012C959F712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87995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5942B2FE-2FA4-ABF4-D1D6-676D7BB835E5}"/>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40F1DA8-0010-80AC-006D-32D844BB9C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6BF79C77-1EC8-C1BC-3C28-CD3F881C34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B1829229-042B-D3AD-3736-2D04D9D6359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073223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FD51F68-DA88-5788-020C-1CBF5A58442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C7959B5-46FF-F510-4A72-2B7701709A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EE67188-39FB-9424-6E3D-664BDAF679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5E798FE4-009D-3416-BCD8-7473D5F5890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534430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3B3BC04-9B70-61E5-09A8-BCB44DCAE65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39A37179-ED78-84A0-8572-065CBE9CE6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CD2AC79-E82D-79E0-5711-8FFA45D5AA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gn="l"/>
            <a:r>
              <a:rPr lang="en-US" dirty="0"/>
              <a:t>Flow: One output (variable assigned) of S1 is used as input to S2. </a:t>
            </a:r>
            <a:r>
              <a:rPr lang="en-US" b="0" i="0" dirty="0">
                <a:solidFill>
                  <a:srgbClr val="000000"/>
                </a:solidFill>
                <a:effectLst/>
                <a:latin typeface="ff2"/>
              </a:rPr>
              <a:t>A data dependency occurs with instruction S2 as it is dependent on the </a:t>
            </a:r>
            <a:endParaRPr lang="en-US" b="0" i="0" dirty="0">
              <a:solidFill>
                <a:srgbClr val="000000"/>
              </a:solidFill>
              <a:effectLst/>
              <a:latin typeface="ff3"/>
            </a:endParaRPr>
          </a:p>
          <a:p>
            <a:pPr algn="l"/>
            <a:r>
              <a:rPr lang="en-US" b="0" i="0" dirty="0">
                <a:solidFill>
                  <a:srgbClr val="000000"/>
                </a:solidFill>
                <a:effectLst/>
                <a:latin typeface="ff2"/>
              </a:rPr>
              <a:t>completion of instruction S1. Also Called RAW hazard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Statement S2 is </a:t>
            </a:r>
            <a:r>
              <a:rPr lang="en-US" dirty="0" err="1"/>
              <a:t>antidependent</a:t>
            </a:r>
            <a:r>
              <a:rPr lang="en-US" dirty="0"/>
              <a:t> on the statement S1 if S2 follows S1 in program order and instruction S2 tries to writes a register or memory location before instruction S1 reads. The  original order must  be  preserved  to  ensure  that S1 reads  correct  value. Also called WAR hazard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two  statements  S1  and  S2  are  output  dependent  if  they  write  to  the  same memory location(S2 tries to write an operand before it is written by S1). Can occur WAW hazard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I/O Dependence: Read  and  write  are  I/O  statements.  I/O  dependence  occurs  not  because  the same  variable  is involved  but  because  the  same  file  referenced  by  both  I/O statement</a:t>
            </a:r>
          </a:p>
          <a:p>
            <a:pPr marL="0" lvl="0" indent="0" algn="l" rtl="0">
              <a:spcBef>
                <a:spcPts val="0"/>
              </a:spcBef>
              <a:spcAft>
                <a:spcPts val="0"/>
              </a:spcAft>
              <a:buNone/>
            </a:pPr>
            <a:endParaRPr lang="en-US" dirty="0"/>
          </a:p>
        </p:txBody>
      </p:sp>
      <p:sp>
        <p:nvSpPr>
          <p:cNvPr id="134" name="Google Shape;134;p4:notes">
            <a:extLst>
              <a:ext uri="{FF2B5EF4-FFF2-40B4-BE49-F238E27FC236}">
                <a16:creationId xmlns:a16="http://schemas.microsoft.com/office/drawing/2014/main" id="{7EC6EFCE-4D80-87F6-1F09-CAB9E274EA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959135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18E2529-D91C-6C11-2015-B81FB0984D8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564FA8F-2CE5-C2B1-BAD2-C8C188C0B5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08AF7362-D4E0-BAAB-D1EC-143C6BA37D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44FEF188-4810-C76D-4BB5-A37E09A535D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970264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9B8C41C-D7FD-3073-07E0-733019A08EF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6F58B0BC-F8C5-0F3C-40AD-9A767551A3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92BCEB39-7F41-ED76-7B53-B2406BF095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8C9CB6DB-C81E-7BE0-9A38-DCAABFDB7D7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48796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37EE6E5-27B3-8174-1554-1B7BA0394088}"/>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D24AAE5E-0165-2BE8-06C4-2A246290DD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C0F29A7-7ED4-99C5-578D-5B2835ADDDA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AB868F1F-811E-7303-0F85-F4ED93F4A9A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237561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CCE16F0-B592-E1CC-9B47-3CA6404D3E9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25BC1B0-8A7C-97AD-A6AD-6F8B4F5B6D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935405D-5260-6BD0-9046-2F652F0D92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7292D590-D1EC-49E9-E905-6E49EC08FFD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76680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5560ACE-0659-95E4-4CD6-960421273B8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4AA25BA-A59B-EE55-9C6D-8B3ADC7DE1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505CB92-8AAF-4CF2-431F-36EF474BDD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E6B00E26-332C-93EC-35FF-5050A7EA22F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7492058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B9E583F-3F9E-83A5-E065-FCDA97CB6AE5}"/>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7C466528-B49D-EDE3-FE3C-F6C54355B9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7B6E863-006F-5433-EE00-C652E89B1C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7E9D6E2C-06D9-9228-29ED-340C5BD86F1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784461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ABC989A-EDEC-0DCD-59AB-812E58EEAFB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24C35A1-3E04-72D8-ADA5-C2C0F0415A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08A71FA-7A09-5322-888B-4455375662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 loop bound is an upper bound of the number of loop iterations for a given program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Loop Bound = iteration count</a:t>
            </a:r>
            <a:endParaRPr dirty="0"/>
          </a:p>
        </p:txBody>
      </p:sp>
      <p:sp>
        <p:nvSpPr>
          <p:cNvPr id="134" name="Google Shape;134;p4:notes">
            <a:extLst>
              <a:ext uri="{FF2B5EF4-FFF2-40B4-BE49-F238E27FC236}">
                <a16:creationId xmlns:a16="http://schemas.microsoft.com/office/drawing/2014/main" id="{68771015-3A97-89EA-FA76-6A95A0F89E2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41663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1DD4752-071D-6115-5ADD-12D68961D34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50B9817-F99D-D5BF-5137-0E6702683D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5CEC2C9-A902-4FAC-F64B-1E0E807600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4B624373-D26D-C860-4661-0301CA76D2F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442589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8C4D0FE-04EB-CF41-ED40-7EDC1959E0E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66A304C-B3AA-57DF-2AEC-01E701F943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05F11FC9-CE7F-9234-AC05-2BCA95CBC4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54898389-3CEF-43E7-AEFB-9895A73BFA5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609393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AF52608-E9BB-3210-7691-8C453F36932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8692FDA5-7CFC-1F00-10C7-92A7401CA9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3AB83CC-92F6-E037-8F88-3DB4F97A39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A8940E63-50C0-DE9C-E984-F76D025C930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5698068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BED838C-D27D-2527-8DE2-2BD82DD0B2DF}"/>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24CB16DF-CB0B-6782-D4D2-4355D7AF80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9D598C63-205C-6526-5EB6-CBEAF7B8CF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F5FC09F0-A270-C928-B3C6-693AF21FD5F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91763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04EC25C-32EF-DB96-44A6-6EABC427AA3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DC1CFA51-C8A2-8874-D1B1-314469D609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6CDD1B8-05DD-EAFE-8DD2-BD6C66CA5E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112775CB-A086-8468-D7FD-5E0480FD127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805935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DDBB5B6-108C-9F3A-523D-38DAADEDDB2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8FA32CC4-2746-5037-A67A-3FBBF95897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573DF21-7B74-A509-4680-ACBF04F393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C79B31F2-2600-81E4-8F59-CC29E6B6EFE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0080949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DCAA761-82B1-525D-7F4C-4158CB5A474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BD2014E-AFB2-D851-E0CC-3138EDC1AF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5496C64D-B865-1036-C3CD-8C15D446386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0CDBAC79-A5FD-F988-D908-31B8CBAF4E1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384712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A31D199-41F9-95CB-B07D-8397FB1208F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3D0BFF58-26DC-79AF-BF58-2B1B42C941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840DB06-EFB7-362F-CEB6-ABBD40EA18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3F84BC80-0D40-BBDD-8A87-AFC2C704265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759240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9792E11-EB03-AA92-24EA-C6D4BC5D0EA6}"/>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24D3966D-B61C-E793-61E6-E663B9EEA6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6690E5B3-350C-5BA5-AD20-68DF085AC4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For I=1</a:t>
            </a:r>
          </a:p>
          <a:p>
            <a:pPr marL="0" lvl="0" indent="0" algn="l" rtl="0">
              <a:spcBef>
                <a:spcPts val="0"/>
              </a:spcBef>
              <a:spcAft>
                <a:spcPts val="0"/>
              </a:spcAft>
              <a:buNone/>
            </a:pPr>
            <a:r>
              <a:rPr lang="en-US" dirty="0"/>
              <a:t>A(2) = F(1)</a:t>
            </a:r>
          </a:p>
          <a:p>
            <a:pPr marL="0" lvl="0" indent="0" algn="l" rtl="0">
              <a:spcBef>
                <a:spcPts val="0"/>
              </a:spcBef>
              <a:spcAft>
                <a:spcPts val="0"/>
              </a:spcAft>
              <a:buNone/>
            </a:pPr>
            <a:r>
              <a:rPr lang="en-US" dirty="0"/>
              <a:t>G(2) = A(2)</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I=2</a:t>
            </a:r>
          </a:p>
          <a:p>
            <a:pPr marL="0" lvl="0" indent="0" algn="l" rtl="0">
              <a:spcBef>
                <a:spcPts val="0"/>
              </a:spcBef>
              <a:spcAft>
                <a:spcPts val="0"/>
              </a:spcAft>
              <a:buNone/>
            </a:pPr>
            <a:r>
              <a:rPr lang="en-US" dirty="0"/>
              <a:t>A(3) = F(2)</a:t>
            </a:r>
          </a:p>
          <a:p>
            <a:pPr marL="0" lvl="0" indent="0" algn="l" rtl="0">
              <a:spcBef>
                <a:spcPts val="0"/>
              </a:spcBef>
              <a:spcAft>
                <a:spcPts val="0"/>
              </a:spcAft>
              <a:buNone/>
            </a:pPr>
            <a:r>
              <a:rPr lang="en-US" dirty="0"/>
              <a:t>G(3) = A(3)</a:t>
            </a:r>
            <a:endParaRPr dirty="0"/>
          </a:p>
        </p:txBody>
      </p:sp>
      <p:sp>
        <p:nvSpPr>
          <p:cNvPr id="134" name="Google Shape;134;p4:notes">
            <a:extLst>
              <a:ext uri="{FF2B5EF4-FFF2-40B4-BE49-F238E27FC236}">
                <a16:creationId xmlns:a16="http://schemas.microsoft.com/office/drawing/2014/main" id="{D1746154-F7B6-ACC1-E8B1-AEF156658D1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788640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6CC5540-7158-6651-3969-6607899CAA4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1D59308-E88E-0CEC-5B6F-CC07FA2D95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FF0A4327-B355-9939-8D03-F0683C2F3F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For I=1</a:t>
            </a:r>
          </a:p>
          <a:p>
            <a:pPr marL="0" lvl="0" indent="0" algn="l" rtl="0">
              <a:spcBef>
                <a:spcPts val="0"/>
              </a:spcBef>
              <a:spcAft>
                <a:spcPts val="0"/>
              </a:spcAft>
              <a:buNone/>
            </a:pPr>
            <a:r>
              <a:rPr lang="en-US" dirty="0"/>
              <a:t>A(2) = F(1)</a:t>
            </a:r>
          </a:p>
          <a:p>
            <a:pPr marL="0" lvl="0" indent="0" algn="l" rtl="0">
              <a:spcBef>
                <a:spcPts val="0"/>
              </a:spcBef>
              <a:spcAft>
                <a:spcPts val="0"/>
              </a:spcAft>
              <a:buNone/>
            </a:pPr>
            <a:r>
              <a:rPr lang="en-US" dirty="0"/>
              <a:t>F(2) = A(1)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I=2</a:t>
            </a:r>
          </a:p>
          <a:p>
            <a:pPr marL="0" lvl="0" indent="0" algn="l" rtl="0">
              <a:spcBef>
                <a:spcPts val="0"/>
              </a:spcBef>
              <a:spcAft>
                <a:spcPts val="0"/>
              </a:spcAft>
              <a:buNone/>
            </a:pPr>
            <a:r>
              <a:rPr lang="en-US" dirty="0"/>
              <a:t>A(3) = F(2)</a:t>
            </a:r>
          </a:p>
          <a:p>
            <a:pPr marL="0" lvl="0" indent="0" algn="l" rtl="0">
              <a:spcBef>
                <a:spcPts val="0"/>
              </a:spcBef>
              <a:spcAft>
                <a:spcPts val="0"/>
              </a:spcAft>
              <a:buNone/>
            </a:pPr>
            <a:r>
              <a:rPr lang="en-US" dirty="0"/>
              <a:t>F(3) = A(2)</a:t>
            </a:r>
            <a:endParaRPr dirty="0"/>
          </a:p>
        </p:txBody>
      </p:sp>
      <p:sp>
        <p:nvSpPr>
          <p:cNvPr id="134" name="Google Shape;134;p4:notes">
            <a:extLst>
              <a:ext uri="{FF2B5EF4-FFF2-40B4-BE49-F238E27FC236}">
                <a16:creationId xmlns:a16="http://schemas.microsoft.com/office/drawing/2014/main" id="{61503FD4-7BC3-66F1-0627-98DD317AB7A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387879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6852A3B-F5BC-0CEF-1707-482297CDB52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157A25A4-D607-8EFF-47D0-EED379E990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AD45F75-4179-ED72-4EA3-AD9454E85D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26596899-EED5-0F5C-9FCF-925FAA730C2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1000104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CDDAFB5-14FF-1C29-3E04-4ED2C16D1BBC}"/>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148D2FE3-D3D9-C996-3B2B-4E33146BFF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F29F95D-1656-BB06-6EF6-EC2D5F6CCCD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02EFBDC4-4C6B-BB02-2B33-0D2842AF2DD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055384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EA473B9-91A0-DAFD-6356-96AA84D13BC3}"/>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B2AA25B-6243-D1E2-2F39-3BB8CA07D5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B3D7B25-1873-ED8A-4B35-A7B93A1B7D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7F0BD144-2FF3-CB05-A72A-6C76E555568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596214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90734BD-0251-F4BE-D0BA-B7B0CB6CF79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272F069-2FBE-8400-C92C-6CC5683803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BAB479C-AFCE-B427-F7B3-C84BF8C942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BDA388A9-C8C1-C168-3D63-AA727504F53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32990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2E62C63-5327-66D3-CA34-C3936B8BDEA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AFE68923-328A-E706-E8B1-631B4CB45C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60866118-258A-59A1-C255-2783C55E01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4FEABB92-4133-072E-5AF0-A34CE5D21F8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39250974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56C0864-BD52-1BBF-BF3D-930FEBD76AE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8D113B09-BCBC-C293-BFA3-A274F2D42C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CC5485E-4B79-B167-404F-A73F44FD78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DB9B47E4-E732-1FE9-19EE-AE4CD0A1660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39732629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FBE0372-CC49-BA3A-1591-4A0807C7C04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95672003-0478-0921-C260-AD372BB305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6FDC89F-E5FB-4AAF-74E5-1E73BA3AAAA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600" dirty="0"/>
              <a:t>A[</a:t>
            </a:r>
            <a:r>
              <a:rPr lang="en-US" sz="3600" dirty="0" err="1"/>
              <a:t>i,j</a:t>
            </a:r>
            <a:r>
              <a:rPr lang="en-US" sz="3600" dirty="0"/>
              <a:t>] = A[</a:t>
            </a:r>
            <a:r>
              <a:rPr lang="en-US" sz="3600" dirty="0" err="1"/>
              <a:t>i</a:t>
            </a:r>
            <a:r>
              <a:rPr lang="en-US" sz="3600" dirty="0"/>
              <a:t>, j]</a:t>
            </a:r>
          </a:p>
          <a:p>
            <a:pPr marL="0" lvl="0" indent="0" algn="l" rtl="0">
              <a:spcBef>
                <a:spcPts val="0"/>
              </a:spcBef>
              <a:spcAft>
                <a:spcPts val="0"/>
              </a:spcAft>
              <a:buNone/>
            </a:pPr>
            <a:r>
              <a:rPr lang="en-US" sz="3600" dirty="0"/>
              <a:t>When </a:t>
            </a:r>
            <a:r>
              <a:rPr lang="en-US" sz="3600" dirty="0" err="1"/>
              <a:t>i</a:t>
            </a:r>
            <a:r>
              <a:rPr lang="en-US" sz="3600" dirty="0"/>
              <a:t>=1, j=1</a:t>
            </a:r>
          </a:p>
          <a:p>
            <a:pPr marL="0" lvl="0" indent="0" algn="l" rtl="0">
              <a:spcBef>
                <a:spcPts val="0"/>
              </a:spcBef>
              <a:spcAft>
                <a:spcPts val="0"/>
              </a:spcAft>
              <a:buNone/>
            </a:pPr>
            <a:r>
              <a:rPr lang="en-US" sz="3600" dirty="0"/>
              <a:t>A[1,1] = A[1,1] + 1     reading at iteration (1,1), writing at iteration (1,1)  </a:t>
            </a:r>
          </a:p>
          <a:p>
            <a:pPr marL="0" lvl="0" indent="0" algn="l" rtl="0">
              <a:spcBef>
                <a:spcPts val="0"/>
              </a:spcBef>
              <a:spcAft>
                <a:spcPts val="0"/>
              </a:spcAft>
              <a:buNone/>
            </a:pPr>
            <a:endParaRPr lang="en-US" sz="3600" dirty="0"/>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Distance: </a:t>
            </a:r>
            <a:r>
              <a:rPr lang="en-US" sz="3600" dirty="0" err="1"/>
              <a:t>Iread</a:t>
            </a:r>
            <a:r>
              <a:rPr lang="en-US" sz="3600" dirty="0"/>
              <a:t> – </a:t>
            </a:r>
            <a:r>
              <a:rPr lang="en-US" sz="3600" dirty="0" err="1"/>
              <a:t>Iwrite</a:t>
            </a:r>
            <a:endParaRPr lang="en-US" sz="3600" dirty="0"/>
          </a:p>
          <a:p>
            <a:pPr marL="0" lvl="0" indent="0" algn="l" rtl="0">
              <a:spcBef>
                <a:spcPts val="0"/>
              </a:spcBef>
              <a:spcAft>
                <a:spcPts val="0"/>
              </a:spcAft>
              <a:buNone/>
            </a:pPr>
            <a:r>
              <a:rPr lang="en-US" sz="3600" dirty="0"/>
              <a:t>(1,1) – (1,1) = (0,0)</a:t>
            </a:r>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Direction vector: (=,=)</a:t>
            </a:r>
          </a:p>
          <a:p>
            <a:pPr marL="0" lvl="0" indent="0" algn="l" rtl="0">
              <a:spcBef>
                <a:spcPts val="0"/>
              </a:spcBef>
              <a:spcAft>
                <a:spcPts val="0"/>
              </a:spcAft>
              <a:buNone/>
            </a:pPr>
            <a:endParaRPr lang="en-US" sz="3600" dirty="0"/>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When </a:t>
            </a:r>
            <a:r>
              <a:rPr lang="en-US" sz="3600" dirty="0" err="1"/>
              <a:t>i</a:t>
            </a:r>
            <a:r>
              <a:rPr lang="en-US" sz="3600" dirty="0"/>
              <a:t>=1, j=2</a:t>
            </a:r>
          </a:p>
          <a:p>
            <a:pPr marL="0" lvl="0" indent="0" algn="l" rtl="0">
              <a:spcBef>
                <a:spcPts val="0"/>
              </a:spcBef>
              <a:spcAft>
                <a:spcPts val="0"/>
              </a:spcAft>
              <a:buNone/>
            </a:pPr>
            <a:r>
              <a:rPr lang="en-US" sz="3600" dirty="0"/>
              <a:t>A[1,2] = A[1,2] + 1</a:t>
            </a:r>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When </a:t>
            </a:r>
            <a:r>
              <a:rPr lang="en-US" sz="3600" dirty="0" err="1"/>
              <a:t>i</a:t>
            </a:r>
            <a:r>
              <a:rPr lang="en-US" sz="3600" dirty="0"/>
              <a:t>=1, j=3</a:t>
            </a:r>
          </a:p>
          <a:p>
            <a:pPr marL="0" lvl="0" indent="0" algn="l" rtl="0">
              <a:spcBef>
                <a:spcPts val="0"/>
              </a:spcBef>
              <a:spcAft>
                <a:spcPts val="0"/>
              </a:spcAft>
              <a:buNone/>
            </a:pPr>
            <a:r>
              <a:rPr lang="en-US" sz="3600" dirty="0"/>
              <a:t>A[1,3] = A[1,3]+1</a:t>
            </a:r>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err="1"/>
              <a:t>i</a:t>
            </a:r>
            <a:r>
              <a:rPr lang="en-US" sz="3600" dirty="0"/>
              <a:t>=1, j=4</a:t>
            </a:r>
          </a:p>
          <a:p>
            <a:pPr marL="0" lvl="0" indent="0" algn="l" rtl="0">
              <a:spcBef>
                <a:spcPts val="0"/>
              </a:spcBef>
              <a:spcAft>
                <a:spcPts val="0"/>
              </a:spcAft>
              <a:buNone/>
            </a:pPr>
            <a:r>
              <a:rPr lang="en-US" sz="3600" dirty="0"/>
              <a:t>A[1,4] = A[1,4] +1</a:t>
            </a:r>
          </a:p>
          <a:p>
            <a:pPr marL="0" lvl="0" indent="0" algn="l" rtl="0">
              <a:spcBef>
                <a:spcPts val="0"/>
              </a:spcBef>
              <a:spcAft>
                <a:spcPts val="0"/>
              </a:spcAft>
              <a:buNone/>
            </a:pPr>
            <a:endParaRPr lang="en-US" sz="3600" dirty="0"/>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A[1,1] reading at iteration (1,1) and writing  at iteration (1,1)</a:t>
            </a:r>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Distance = </a:t>
            </a:r>
            <a:r>
              <a:rPr lang="en-US" sz="3600" dirty="0" err="1"/>
              <a:t>Iread</a:t>
            </a:r>
            <a:r>
              <a:rPr lang="en-US" sz="3600" dirty="0"/>
              <a:t> – </a:t>
            </a:r>
            <a:r>
              <a:rPr lang="en-US" sz="3600" dirty="0" err="1"/>
              <a:t>Iwrite</a:t>
            </a:r>
            <a:endParaRPr lang="en-US" sz="3600" dirty="0"/>
          </a:p>
          <a:p>
            <a:pPr marL="0" lvl="0" indent="0" algn="l" rtl="0">
              <a:spcBef>
                <a:spcPts val="0"/>
              </a:spcBef>
              <a:spcAft>
                <a:spcPts val="0"/>
              </a:spcAft>
              <a:buNone/>
            </a:pPr>
            <a:endParaRPr lang="en-US" sz="3600" dirty="0"/>
          </a:p>
          <a:p>
            <a:pPr marL="0" lvl="0" indent="0" algn="l" rtl="0">
              <a:spcBef>
                <a:spcPts val="0"/>
              </a:spcBef>
              <a:spcAft>
                <a:spcPts val="0"/>
              </a:spcAft>
              <a:buNone/>
            </a:pPr>
            <a:r>
              <a:rPr lang="en-US" sz="3600" dirty="0"/>
              <a:t>(1,1) – (1,1) = (0,0) = (=,=)</a:t>
            </a:r>
            <a:endParaRPr sz="3600" dirty="0"/>
          </a:p>
        </p:txBody>
      </p:sp>
      <p:sp>
        <p:nvSpPr>
          <p:cNvPr id="134" name="Google Shape;134;p4:notes">
            <a:extLst>
              <a:ext uri="{FF2B5EF4-FFF2-40B4-BE49-F238E27FC236}">
                <a16:creationId xmlns:a16="http://schemas.microsoft.com/office/drawing/2014/main" id="{D429764E-7A21-CF47-2805-9CE721C6629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6384396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3434D13-CFCF-D598-A7B6-CEB2379F188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D1387F23-CB3E-C76B-78C7-C97AEE4693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D13A9E9-405C-5016-16A7-2C0897D618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8E0EFD67-055A-C9C2-DE97-F9E02DD95EF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18218107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0E54BF3-EB70-9CAD-6B4C-2DDA20C81406}"/>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22BC3247-7DA7-3A57-9D75-AD53214965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C42D3EEF-6ECD-B0C0-073B-82665D5A58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0AAACBAC-0D7A-AA50-32CA-242442BA65A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27324696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5F989BA-6078-5375-0CD8-E967B21372C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F9A963E-DEB0-6BDC-8A47-5D1D6FD7EE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5A42685B-7261-CC9D-1E8F-4610F987E6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07356B71-6F6F-742E-955B-3EB7D90F89B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2417588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090BEC6-AD2A-86D3-DC42-D12811E4DC7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F03AF2F4-C01F-506B-5041-1FC7463CFC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682F395-F0C4-980B-E30D-613AD26CD8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a:t>
            </a:r>
            <a:r>
              <a:rPr lang="en-US" dirty="0" err="1"/>
              <a:t>I,j</a:t>
            </a:r>
            <a:r>
              <a:rPr lang="en-US" dirty="0"/>
              <a:t>] = A[I,j-1]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a:t>
            </a:r>
            <a:r>
              <a:rPr lang="en-US" dirty="0" err="1"/>
              <a:t>i</a:t>
            </a:r>
            <a:r>
              <a:rPr lang="en-US" dirty="0"/>
              <a:t>=1, j=1</a:t>
            </a:r>
          </a:p>
          <a:p>
            <a:pPr marL="0" lvl="0" indent="0" algn="l" rtl="0">
              <a:spcBef>
                <a:spcPts val="0"/>
              </a:spcBef>
              <a:spcAft>
                <a:spcPts val="0"/>
              </a:spcAft>
              <a:buNone/>
            </a:pPr>
            <a:r>
              <a:rPr lang="en-US" dirty="0"/>
              <a:t>A[1,1] = A[1,0] + 1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a:t>
            </a:r>
            <a:r>
              <a:rPr lang="en-US" dirty="0" err="1"/>
              <a:t>i</a:t>
            </a:r>
            <a:r>
              <a:rPr lang="en-US" dirty="0"/>
              <a:t>=1, j=2 </a:t>
            </a:r>
          </a:p>
          <a:p>
            <a:pPr marL="0" lvl="0" indent="0" algn="l" rtl="0">
              <a:spcBef>
                <a:spcPts val="0"/>
              </a:spcBef>
              <a:spcAft>
                <a:spcPts val="0"/>
              </a:spcAft>
              <a:buNone/>
            </a:pPr>
            <a:r>
              <a:rPr lang="en-US" dirty="0"/>
              <a:t>A[1,2] = A[1,1]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a:t>
            </a:r>
            <a:r>
              <a:rPr lang="en-US" dirty="0" err="1"/>
              <a:t>i</a:t>
            </a:r>
            <a:r>
              <a:rPr lang="en-US" dirty="0"/>
              <a:t>=1, j=3</a:t>
            </a:r>
          </a:p>
          <a:p>
            <a:pPr marL="0" lvl="0" indent="0" algn="l" rtl="0">
              <a:spcBef>
                <a:spcPts val="0"/>
              </a:spcBef>
              <a:spcAft>
                <a:spcPts val="0"/>
              </a:spcAft>
              <a:buNone/>
            </a:pPr>
            <a:r>
              <a:rPr lang="en-US" dirty="0"/>
              <a:t>A[1,3] = A[1,2]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a:t>
            </a:r>
            <a:r>
              <a:rPr lang="en-US" dirty="0" err="1"/>
              <a:t>i</a:t>
            </a:r>
            <a:r>
              <a:rPr lang="en-US" dirty="0"/>
              <a:t>=1, j=2</a:t>
            </a:r>
          </a:p>
          <a:p>
            <a:pPr marL="0" lvl="0" indent="0" algn="l" rtl="0">
              <a:spcBef>
                <a:spcPts val="0"/>
              </a:spcBef>
              <a:spcAft>
                <a:spcPts val="0"/>
              </a:spcAft>
              <a:buNone/>
            </a:pPr>
            <a:r>
              <a:rPr lang="en-US" dirty="0"/>
              <a:t>A[1,4] = A[1,3]+1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Writing A[1,1] at iteration (1,1)</a:t>
            </a:r>
          </a:p>
          <a:p>
            <a:pPr marL="0" lvl="0" indent="0" algn="l" rtl="0">
              <a:spcBef>
                <a:spcPts val="0"/>
              </a:spcBef>
              <a:spcAft>
                <a:spcPts val="0"/>
              </a:spcAft>
              <a:buNone/>
            </a:pPr>
            <a:r>
              <a:rPr lang="en-US" dirty="0"/>
              <a:t>Reading A[1,2] at iteration (1,2)</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Distance = </a:t>
            </a:r>
            <a:r>
              <a:rPr lang="en-US" dirty="0" err="1"/>
              <a:t>Iread</a:t>
            </a:r>
            <a:r>
              <a:rPr lang="en-US" dirty="0"/>
              <a:t> – </a:t>
            </a:r>
            <a:r>
              <a:rPr lang="en-US" dirty="0" err="1"/>
              <a:t>Iwrite</a:t>
            </a:r>
            <a:r>
              <a:rPr lang="en-US" dirty="0"/>
              <a:t> = (1,2) – (1,1) = (0,1)   = (=, &lt;)</a:t>
            </a:r>
          </a:p>
        </p:txBody>
      </p:sp>
      <p:sp>
        <p:nvSpPr>
          <p:cNvPr id="134" name="Google Shape;134;p4:notes">
            <a:extLst>
              <a:ext uri="{FF2B5EF4-FFF2-40B4-BE49-F238E27FC236}">
                <a16:creationId xmlns:a16="http://schemas.microsoft.com/office/drawing/2014/main" id="{7011CF9A-613B-12B8-6FCD-6B164D069DC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14650347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i</a:t>
            </a:r>
            <a:r>
              <a:rPr lang="en-US" dirty="0"/>
              <a:t>=1, j=1</a:t>
            </a:r>
          </a:p>
          <a:p>
            <a:r>
              <a:rPr lang="en-US" dirty="0"/>
              <a:t>A(1,1) = A(0,1) + A(1,0)</a:t>
            </a:r>
          </a:p>
          <a:p>
            <a:endParaRPr lang="en-US" dirty="0"/>
          </a:p>
          <a:p>
            <a:r>
              <a:rPr lang="en-US" dirty="0"/>
              <a:t>For </a:t>
            </a:r>
            <a:r>
              <a:rPr lang="en-US" dirty="0" err="1"/>
              <a:t>i</a:t>
            </a:r>
            <a:r>
              <a:rPr lang="en-US" dirty="0"/>
              <a:t>=1,j=2</a:t>
            </a:r>
          </a:p>
          <a:p>
            <a:r>
              <a:rPr lang="en-US" dirty="0"/>
              <a:t>A(1,2) = A(0,2) + A(1,1)</a:t>
            </a:r>
          </a:p>
          <a:p>
            <a:endParaRPr lang="en-US" dirty="0"/>
          </a:p>
          <a:p>
            <a:r>
              <a:rPr lang="en-US" dirty="0"/>
              <a:t>For </a:t>
            </a:r>
            <a:r>
              <a:rPr lang="en-US" dirty="0" err="1"/>
              <a:t>i</a:t>
            </a:r>
            <a:r>
              <a:rPr lang="en-US" dirty="0"/>
              <a:t>=2, j=1</a:t>
            </a:r>
          </a:p>
          <a:p>
            <a:r>
              <a:rPr lang="en-US" dirty="0"/>
              <a:t>A(2,1) = A(1,1) + A(2,0)</a:t>
            </a:r>
          </a:p>
          <a:p>
            <a:endParaRPr lang="en-US" dirty="0"/>
          </a:p>
          <a:p>
            <a:endParaRPr lang="en-US" dirty="0"/>
          </a:p>
          <a:p>
            <a:r>
              <a:rPr lang="en-US" dirty="0"/>
              <a:t>A(1,1) w.r.t </a:t>
            </a:r>
            <a:r>
              <a:rPr lang="en-US" dirty="0" err="1"/>
              <a:t>i</a:t>
            </a:r>
            <a:r>
              <a:rPr lang="en-US" dirty="0"/>
              <a:t>  Writing at iteration 1,1   reading at iteration = 2,1 Distance w.r.t = (2,1) – (1,1) = (1,0) = (&lt;, =)</a:t>
            </a:r>
          </a:p>
          <a:p>
            <a:endParaRPr lang="en-US" dirty="0"/>
          </a:p>
          <a:p>
            <a:r>
              <a:rPr lang="en-US" dirty="0"/>
              <a:t>A(1,1) w.r.t j </a:t>
            </a:r>
            <a:r>
              <a:rPr lang="en-US" dirty="0" err="1"/>
              <a:t>writin</a:t>
            </a:r>
            <a:r>
              <a:rPr lang="en-US" dirty="0"/>
              <a:t> at iteration 1,1, reading at iteration 1,2 Distance w.r.t j = (1,2) – (1,1) = (0,1) = (=,&lt;)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31275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A21BE504-BF95-C456-F696-68D05C833CF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B8E46F5-09F3-AD0F-EDA3-456ED10F1F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43AB0AA-6B14-AA6C-8368-BC31613A06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A[1,2] writing at iteration (1,2)</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A[1,2] reading at iteration (1,3)</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Distance: </a:t>
            </a:r>
            <a:r>
              <a:rPr lang="en-US" dirty="0" err="1"/>
              <a:t>Iread</a:t>
            </a:r>
            <a:r>
              <a:rPr lang="en-US" dirty="0"/>
              <a:t> – </a:t>
            </a:r>
            <a:r>
              <a:rPr lang="en-US" dirty="0" err="1"/>
              <a:t>Iwrite</a:t>
            </a:r>
            <a:endParaRPr lang="en-US" dirty="0"/>
          </a:p>
          <a:p>
            <a:pPr marL="0" lvl="0" indent="0" algn="l" rtl="0">
              <a:spcBef>
                <a:spcPts val="0"/>
              </a:spcBef>
              <a:spcAft>
                <a:spcPts val="0"/>
              </a:spcAft>
              <a:buNone/>
            </a:pPr>
            <a:r>
              <a:rPr lang="en-US" dirty="0"/>
              <a:t>(1,3) – (1,2)</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(1-1, 3-2)</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(0,1)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Direction: ( =, &lt;)</a:t>
            </a:r>
            <a:endParaRPr dirty="0"/>
          </a:p>
        </p:txBody>
      </p:sp>
      <p:sp>
        <p:nvSpPr>
          <p:cNvPr id="134" name="Google Shape;134;p4:notes">
            <a:extLst>
              <a:ext uri="{FF2B5EF4-FFF2-40B4-BE49-F238E27FC236}">
                <a16:creationId xmlns:a16="http://schemas.microsoft.com/office/drawing/2014/main" id="{CB4BE6D9-F850-AF71-B266-73FBA49D73F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20172276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4B38927-3F9B-7CC8-69B3-2C637D851D73}"/>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24F9735F-712A-7574-F72F-035BA72E19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85F2AEC-42D1-9C83-D49F-E6D3D7A9D5E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5DBFD794-9FFE-016A-B0C9-B62BCF65407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4262397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C205CA5-A01C-3969-2700-DAB95DC3599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37B3472-42FA-B4D8-85B7-870939D46B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914B8A11-0FD8-7967-89B9-75AC25C3367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i</a:t>
            </a:r>
            <a:r>
              <a:rPr lang="en-US" dirty="0"/>
              <a:t>=1, j=1</a:t>
            </a:r>
          </a:p>
          <a:p>
            <a:pPr marL="0" lvl="0" indent="0" algn="l" rtl="0">
              <a:spcBef>
                <a:spcPts val="0"/>
              </a:spcBef>
              <a:spcAft>
                <a:spcPts val="0"/>
              </a:spcAft>
              <a:buNone/>
            </a:pPr>
            <a:r>
              <a:rPr lang="en-US" dirty="0"/>
              <a:t>A[1,1] = A[1, -1]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i</a:t>
            </a:r>
            <a:r>
              <a:rPr lang="en-US" dirty="0"/>
              <a:t>=1, j=2</a:t>
            </a:r>
          </a:p>
          <a:p>
            <a:pPr marL="0" lvl="0" indent="0" algn="l" rtl="0">
              <a:spcBef>
                <a:spcPts val="0"/>
              </a:spcBef>
              <a:spcAft>
                <a:spcPts val="0"/>
              </a:spcAft>
              <a:buNone/>
            </a:pPr>
            <a:r>
              <a:rPr lang="en-US" dirty="0"/>
              <a:t>A[1,2] = A[1, 0]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i</a:t>
            </a:r>
            <a:r>
              <a:rPr lang="en-US" dirty="0"/>
              <a:t>=1, j=3</a:t>
            </a:r>
          </a:p>
          <a:p>
            <a:pPr marL="0" lvl="0" indent="0" algn="l" rtl="0">
              <a:spcBef>
                <a:spcPts val="0"/>
              </a:spcBef>
              <a:spcAft>
                <a:spcPts val="0"/>
              </a:spcAft>
              <a:buNone/>
            </a:pPr>
            <a:r>
              <a:rPr lang="en-US" dirty="0"/>
              <a:t>A[1,3] = A[1, 1]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i</a:t>
            </a:r>
            <a:r>
              <a:rPr lang="en-US" dirty="0"/>
              <a:t>=1, j=4</a:t>
            </a:r>
          </a:p>
          <a:p>
            <a:pPr marL="0" lvl="0" indent="0" algn="l" rtl="0">
              <a:spcBef>
                <a:spcPts val="0"/>
              </a:spcBef>
              <a:spcAft>
                <a:spcPts val="0"/>
              </a:spcAft>
              <a:buNone/>
            </a:pPr>
            <a:r>
              <a:rPr lang="en-US" dirty="0"/>
              <a:t>A[1,4] = A[1,2] + 1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Distance: </a:t>
            </a:r>
            <a:r>
              <a:rPr lang="en-US" dirty="0" err="1"/>
              <a:t>Iread</a:t>
            </a:r>
            <a:r>
              <a:rPr lang="en-US" dirty="0"/>
              <a:t> – </a:t>
            </a:r>
            <a:r>
              <a:rPr lang="en-US" dirty="0" err="1"/>
              <a:t>Iwrite</a:t>
            </a:r>
            <a:endParaRPr lang="en-US" dirty="0"/>
          </a:p>
          <a:p>
            <a:pPr marL="0" lvl="0" indent="0" algn="l" rtl="0">
              <a:spcBef>
                <a:spcPts val="0"/>
              </a:spcBef>
              <a:spcAft>
                <a:spcPts val="0"/>
              </a:spcAft>
              <a:buNone/>
            </a:pPr>
            <a:r>
              <a:rPr lang="en-US" dirty="0"/>
              <a:t>A[1,1] writing at iteration (1,1)</a:t>
            </a:r>
          </a:p>
          <a:p>
            <a:pPr marL="0" lvl="0" indent="0" algn="l" rtl="0">
              <a:spcBef>
                <a:spcPts val="0"/>
              </a:spcBef>
              <a:spcAft>
                <a:spcPts val="0"/>
              </a:spcAft>
              <a:buNone/>
            </a:pPr>
            <a:r>
              <a:rPr lang="en-US" dirty="0"/>
              <a:t>A[1,1] reading at iteration (1,3)</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(1,3) – (1,1) = (1-1, 3-1) = (0,2)</a:t>
            </a:r>
            <a:endParaRPr dirty="0"/>
          </a:p>
        </p:txBody>
      </p:sp>
      <p:sp>
        <p:nvSpPr>
          <p:cNvPr id="134" name="Google Shape;134;p4:notes">
            <a:extLst>
              <a:ext uri="{FF2B5EF4-FFF2-40B4-BE49-F238E27FC236}">
                <a16:creationId xmlns:a16="http://schemas.microsoft.com/office/drawing/2014/main" id="{EFB376A7-E5F0-0523-FF91-7C60D8BD043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18520198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1513016-BE77-EFF3-5AAD-2A903D59B8D6}"/>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39E3938-E306-0E76-5D1E-68C1ABB975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D11BF15-6B7B-4350-90AD-0233FCFA7D7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AC9A989B-7884-804E-A665-565F50F4B11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2456999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2000"/>
              <a:buNone/>
              <a:defRPr sz="2000">
                <a:latin typeface="Avenir"/>
                <a:ea typeface="Avenir"/>
                <a:cs typeface="Avenir"/>
                <a:sym typeface="Avenir"/>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6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Avenir"/>
                <a:ea typeface="Avenir"/>
                <a:cs typeface="Avenir"/>
                <a:sym typeface="Avenir"/>
              </a:defRPr>
            </a:lvl1pPr>
            <a:lvl2pPr marL="0" lvl="1" indent="0" algn="r">
              <a:spcBef>
                <a:spcPts val="0"/>
              </a:spcBef>
              <a:buNone/>
              <a:defRPr sz="900" b="0" i="0" u="none" strike="noStrike" cap="none">
                <a:solidFill>
                  <a:schemeClr val="lt1"/>
                </a:solidFill>
                <a:latin typeface="Avenir"/>
                <a:ea typeface="Avenir"/>
                <a:cs typeface="Avenir"/>
                <a:sym typeface="Avenir"/>
              </a:defRPr>
            </a:lvl2pPr>
            <a:lvl3pPr marL="0" lvl="2" indent="0" algn="r">
              <a:spcBef>
                <a:spcPts val="0"/>
              </a:spcBef>
              <a:buNone/>
              <a:defRPr sz="900" b="0" i="0" u="none" strike="noStrike" cap="none">
                <a:solidFill>
                  <a:schemeClr val="lt1"/>
                </a:solidFill>
                <a:latin typeface="Avenir"/>
                <a:ea typeface="Avenir"/>
                <a:cs typeface="Avenir"/>
                <a:sym typeface="Avenir"/>
              </a:defRPr>
            </a:lvl3pPr>
            <a:lvl4pPr marL="0" lvl="3" indent="0" algn="r">
              <a:spcBef>
                <a:spcPts val="0"/>
              </a:spcBef>
              <a:buNone/>
              <a:defRPr sz="900" b="0" i="0" u="none" strike="noStrike" cap="none">
                <a:solidFill>
                  <a:schemeClr val="lt1"/>
                </a:solidFill>
                <a:latin typeface="Avenir"/>
                <a:ea typeface="Avenir"/>
                <a:cs typeface="Avenir"/>
                <a:sym typeface="Avenir"/>
              </a:defRPr>
            </a:lvl4pPr>
            <a:lvl5pPr marL="0" lvl="4" indent="0" algn="r">
              <a:spcBef>
                <a:spcPts val="0"/>
              </a:spcBef>
              <a:buNone/>
              <a:defRPr sz="900" b="0" i="0" u="none" strike="noStrike" cap="none">
                <a:solidFill>
                  <a:schemeClr val="lt1"/>
                </a:solidFill>
                <a:latin typeface="Avenir"/>
                <a:ea typeface="Avenir"/>
                <a:cs typeface="Avenir"/>
                <a:sym typeface="Avenir"/>
              </a:defRPr>
            </a:lvl5pPr>
            <a:lvl6pPr marL="0" lvl="5" indent="0" algn="r">
              <a:spcBef>
                <a:spcPts val="0"/>
              </a:spcBef>
              <a:buNone/>
              <a:defRPr sz="900" b="0" i="0" u="none" strike="noStrike" cap="none">
                <a:solidFill>
                  <a:schemeClr val="lt1"/>
                </a:solidFill>
                <a:latin typeface="Avenir"/>
                <a:ea typeface="Avenir"/>
                <a:cs typeface="Avenir"/>
                <a:sym typeface="Avenir"/>
              </a:defRPr>
            </a:lvl6pPr>
            <a:lvl7pPr marL="0" lvl="6" indent="0" algn="r">
              <a:spcBef>
                <a:spcPts val="0"/>
              </a:spcBef>
              <a:buNone/>
              <a:defRPr sz="900" b="0" i="0" u="none" strike="noStrike" cap="none">
                <a:solidFill>
                  <a:schemeClr val="lt1"/>
                </a:solidFill>
                <a:latin typeface="Avenir"/>
                <a:ea typeface="Avenir"/>
                <a:cs typeface="Avenir"/>
                <a:sym typeface="Avenir"/>
              </a:defRPr>
            </a:lvl7pPr>
            <a:lvl8pPr marL="0" lvl="7" indent="0" algn="r">
              <a:spcBef>
                <a:spcPts val="0"/>
              </a:spcBef>
              <a:buNone/>
              <a:defRPr sz="900" b="0" i="0" u="none" strike="noStrike" cap="none">
                <a:solidFill>
                  <a:schemeClr val="lt1"/>
                </a:solidFill>
                <a:latin typeface="Avenir"/>
                <a:ea typeface="Avenir"/>
                <a:cs typeface="Avenir"/>
                <a:sym typeface="Avenir"/>
              </a:defRPr>
            </a:lvl8pPr>
            <a:lvl9pPr marL="0" lvl="8" indent="0" algn="r">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4"/>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4"/>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4"/>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4"/>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4"/>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sz="2400">
                <a:solidFill>
                  <a:schemeClr val="lt1"/>
                </a:solidFill>
              </a:defRPr>
            </a:lvl1pPr>
            <a:lvl2pPr marL="914400" lvl="1" indent="-228600" algn="l">
              <a:lnSpc>
                <a:spcPct val="110000"/>
              </a:lnSpc>
              <a:spcBef>
                <a:spcPts val="500"/>
              </a:spcBef>
              <a:spcAft>
                <a:spcPts val="0"/>
              </a:spcAft>
              <a:buSzPts val="2000"/>
              <a:buNone/>
              <a:defRPr sz="2000">
                <a:solidFill>
                  <a:srgbClr val="888888"/>
                </a:solidFill>
              </a:defRPr>
            </a:lvl2pPr>
            <a:lvl3pPr marL="1371600" lvl="2" indent="-228600" algn="l">
              <a:lnSpc>
                <a:spcPct val="110000"/>
              </a:lnSpc>
              <a:spcBef>
                <a:spcPts val="500"/>
              </a:spcBef>
              <a:spcAft>
                <a:spcPts val="0"/>
              </a:spcAft>
              <a:buSzPts val="1800"/>
              <a:buNone/>
              <a:defRPr sz="1800">
                <a:solidFill>
                  <a:srgbClr val="888888"/>
                </a:solidFill>
              </a:defRPr>
            </a:lvl3pPr>
            <a:lvl4pPr marL="1828800" lvl="3" indent="-228600" algn="l">
              <a:lnSpc>
                <a:spcPct val="110000"/>
              </a:lnSpc>
              <a:spcBef>
                <a:spcPts val="500"/>
              </a:spcBef>
              <a:spcAft>
                <a:spcPts val="0"/>
              </a:spcAft>
              <a:buSzPts val="1600"/>
              <a:buNone/>
              <a:defRPr sz="1600">
                <a:solidFill>
                  <a:srgbClr val="888888"/>
                </a:solidFill>
              </a:defRPr>
            </a:lvl4pPr>
            <a:lvl5pPr marL="2286000" lvl="4" indent="-228600" algn="l">
              <a:lnSpc>
                <a:spcPct val="11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5"/>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5"/>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5"/>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6"/>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6"/>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6"/>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6"/>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7"/>
          <p:cNvSpPr txBox="1">
            <a:spLocks noGrp="1"/>
          </p:cNvSpPr>
          <p:nvPr>
            <p:ph type="body" idx="1"/>
          </p:nvPr>
        </p:nvSpPr>
        <p:spPr>
          <a:xfrm>
            <a:off x="839788" y="17526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7"/>
          <p:cNvSpPr txBox="1">
            <a:spLocks noGrp="1"/>
          </p:cNvSpPr>
          <p:nvPr>
            <p:ph type="body" idx="2"/>
          </p:nvPr>
        </p:nvSpPr>
        <p:spPr>
          <a:xfrm>
            <a:off x="839788" y="2666999"/>
            <a:ext cx="5157787"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7"/>
          <p:cNvSpPr txBox="1">
            <a:spLocks noGrp="1"/>
          </p:cNvSpPr>
          <p:nvPr>
            <p:ph type="body" idx="3"/>
          </p:nvPr>
        </p:nvSpPr>
        <p:spPr>
          <a:xfrm>
            <a:off x="6172200" y="17526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7"/>
          <p:cNvSpPr txBox="1">
            <a:spLocks noGrp="1"/>
          </p:cNvSpPr>
          <p:nvPr>
            <p:ph type="body" idx="4"/>
          </p:nvPr>
        </p:nvSpPr>
        <p:spPr>
          <a:xfrm>
            <a:off x="6172200" y="2666999"/>
            <a:ext cx="5183188"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7"/>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7"/>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7"/>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8"/>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8"/>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8"/>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8"/>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9"/>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9"/>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9"/>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1000"/>
              </a:spcBef>
              <a:spcAft>
                <a:spcPts val="0"/>
              </a:spcAft>
              <a:buSzPts val="3200"/>
              <a:buChar char="•"/>
              <a:defRPr sz="3200"/>
            </a:lvl1pPr>
            <a:lvl2pPr marL="914400" lvl="1" indent="-406400" algn="l">
              <a:lnSpc>
                <a:spcPct val="110000"/>
              </a:lnSpc>
              <a:spcBef>
                <a:spcPts val="500"/>
              </a:spcBef>
              <a:spcAft>
                <a:spcPts val="0"/>
              </a:spcAft>
              <a:buSzPts val="2800"/>
              <a:buChar char="•"/>
              <a:defRPr sz="2800"/>
            </a:lvl2pPr>
            <a:lvl3pPr marL="1371600" lvl="2" indent="-381000" algn="l">
              <a:lnSpc>
                <a:spcPct val="110000"/>
              </a:lnSpc>
              <a:spcBef>
                <a:spcPts val="500"/>
              </a:spcBef>
              <a:spcAft>
                <a:spcPts val="0"/>
              </a:spcAft>
              <a:buSzPts val="2400"/>
              <a:buChar char="•"/>
              <a:defRPr sz="2400"/>
            </a:lvl3pPr>
            <a:lvl4pPr marL="1828800" lvl="3" indent="-355600" algn="l">
              <a:lnSpc>
                <a:spcPct val="110000"/>
              </a:lnSpc>
              <a:spcBef>
                <a:spcPts val="500"/>
              </a:spcBef>
              <a:spcAft>
                <a:spcPts val="0"/>
              </a:spcAft>
              <a:buSzPts val="2000"/>
              <a:buChar char="•"/>
              <a:defRPr sz="2000"/>
            </a:lvl4pPr>
            <a:lvl5pPr marL="2286000" lvl="4" indent="-355600" algn="l">
              <a:lnSpc>
                <a:spcPct val="11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70"/>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0"/>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0"/>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1"/>
          <p:cNvSpPr>
            <a:spLocks noGrp="1"/>
          </p:cNvSpPr>
          <p:nvPr>
            <p:ph type="pic" idx="2"/>
          </p:nvPr>
        </p:nvSpPr>
        <p:spPr>
          <a:xfrm>
            <a:off x="5183188" y="987425"/>
            <a:ext cx="6172200" cy="4873625"/>
          </a:xfrm>
          <a:prstGeom prst="rect">
            <a:avLst/>
          </a:prstGeom>
          <a:noFill/>
          <a:ln>
            <a:noFill/>
          </a:ln>
        </p:spPr>
      </p:sp>
      <p:sp>
        <p:nvSpPr>
          <p:cNvPr id="70" name="Google Shape;70;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71"/>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1"/>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1"/>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2"/>
          <p:cNvSpPr txBox="1">
            <a:spLocks noGrp="1"/>
          </p:cNvSpPr>
          <p:nvPr>
            <p:ph type="body" idx="1"/>
          </p:nvPr>
        </p:nvSpPr>
        <p:spPr>
          <a:xfrm rot="5400000">
            <a:off x="3998119" y="-1210468"/>
            <a:ext cx="4195763"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7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1" name="Google Shape;11;p62"/>
          <p:cNvPicPr preferRelativeResize="0"/>
          <p:nvPr/>
        </p:nvPicPr>
        <p:blipFill rotWithShape="1">
          <a:blip r:embed="rId13">
            <a:alphaModFix amt="35000"/>
          </a:blip>
          <a:srcRect/>
          <a:stretch/>
        </p:blipFill>
        <p:spPr>
          <a:xfrm>
            <a:off x="0" y="1"/>
            <a:ext cx="12192000" cy="1392401"/>
          </a:xfrm>
          <a:prstGeom prst="rect">
            <a:avLst/>
          </a:prstGeom>
          <a:noFill/>
          <a:ln>
            <a:noFill/>
          </a:ln>
        </p:spPr>
      </p:pic>
      <p:sp>
        <p:nvSpPr>
          <p:cNvPr id="12" name="Google Shape;12;p6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4400"/>
              <a:buFont typeface="Avenir"/>
              <a:buNone/>
              <a:defRPr sz="4400" b="1" i="0" u="none" strike="noStrike" cap="non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6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accent1"/>
              </a:buClr>
              <a:buSzPts val="2800"/>
              <a:buFont typeface="Arial"/>
              <a:buChar char="•"/>
              <a:defRPr sz="2800" b="0" i="0" u="none" strike="noStrike" cap="none">
                <a:solidFill>
                  <a:schemeClr val="lt1"/>
                </a:solidFill>
                <a:latin typeface="Avenir"/>
                <a:ea typeface="Avenir"/>
                <a:cs typeface="Avenir"/>
                <a:sym typeface="Avenir"/>
              </a:defRPr>
            </a:lvl1pPr>
            <a:lvl2pPr marL="914400" marR="0" lvl="1" indent="-381000" algn="l" rtl="0">
              <a:lnSpc>
                <a:spcPct val="110000"/>
              </a:lnSpc>
              <a:spcBef>
                <a:spcPts val="500"/>
              </a:spcBef>
              <a:spcAft>
                <a:spcPts val="0"/>
              </a:spcAft>
              <a:buClr>
                <a:schemeClr val="accent1"/>
              </a:buClr>
              <a:buSzPts val="2400"/>
              <a:buFont typeface="Arial"/>
              <a:buChar char="•"/>
              <a:defRPr sz="2400" b="0" i="0" u="none" strike="noStrike" cap="none">
                <a:solidFill>
                  <a:schemeClr val="lt1"/>
                </a:solidFill>
                <a:latin typeface="Avenir"/>
                <a:ea typeface="Avenir"/>
                <a:cs typeface="Avenir"/>
                <a:sym typeface="Avenir"/>
              </a:defRPr>
            </a:lvl2pPr>
            <a:lvl3pPr marL="1371600" marR="0" lvl="2" indent="-355600" algn="l" rtl="0">
              <a:lnSpc>
                <a:spcPct val="110000"/>
              </a:lnSpc>
              <a:spcBef>
                <a:spcPts val="500"/>
              </a:spcBef>
              <a:spcAft>
                <a:spcPts val="0"/>
              </a:spcAft>
              <a:buClr>
                <a:schemeClr val="accent1"/>
              </a:buClr>
              <a:buSzPts val="20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14" name="Google Shape;14;p6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5" name="Google Shape;15;p6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6" name="Google Shape;16;p6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venir"/>
                <a:ea typeface="Avenir"/>
                <a:cs typeface="Avenir"/>
                <a:sym typeface="Avenir"/>
              </a:defRPr>
            </a:lvl1pPr>
            <a:lvl2pPr marL="0" marR="0" lvl="1" indent="0" algn="r" rtl="0">
              <a:spcBef>
                <a:spcPts val="0"/>
              </a:spcBef>
              <a:buNone/>
              <a:defRPr sz="900" b="0" i="0" u="none" strike="noStrike" cap="none">
                <a:solidFill>
                  <a:schemeClr val="lt1"/>
                </a:solidFill>
                <a:latin typeface="Avenir"/>
                <a:ea typeface="Avenir"/>
                <a:cs typeface="Avenir"/>
                <a:sym typeface="Avenir"/>
              </a:defRPr>
            </a:lvl2pPr>
            <a:lvl3pPr marL="0" marR="0" lvl="2" indent="0" algn="r" rtl="0">
              <a:spcBef>
                <a:spcPts val="0"/>
              </a:spcBef>
              <a:buNone/>
              <a:defRPr sz="900" b="0" i="0" u="none" strike="noStrike" cap="none">
                <a:solidFill>
                  <a:schemeClr val="lt1"/>
                </a:solidFill>
                <a:latin typeface="Avenir"/>
                <a:ea typeface="Avenir"/>
                <a:cs typeface="Avenir"/>
                <a:sym typeface="Avenir"/>
              </a:defRPr>
            </a:lvl3pPr>
            <a:lvl4pPr marL="0" marR="0" lvl="3" indent="0" algn="r" rtl="0">
              <a:spcBef>
                <a:spcPts val="0"/>
              </a:spcBef>
              <a:buNone/>
              <a:defRPr sz="900" b="0" i="0" u="none" strike="noStrike" cap="none">
                <a:solidFill>
                  <a:schemeClr val="lt1"/>
                </a:solidFill>
                <a:latin typeface="Avenir"/>
                <a:ea typeface="Avenir"/>
                <a:cs typeface="Avenir"/>
                <a:sym typeface="Avenir"/>
              </a:defRPr>
            </a:lvl4pPr>
            <a:lvl5pPr marL="0" marR="0" lvl="4" indent="0" algn="r" rtl="0">
              <a:spcBef>
                <a:spcPts val="0"/>
              </a:spcBef>
              <a:buNone/>
              <a:defRPr sz="900" b="0" i="0" u="none" strike="noStrike" cap="none">
                <a:solidFill>
                  <a:schemeClr val="lt1"/>
                </a:solidFill>
                <a:latin typeface="Avenir"/>
                <a:ea typeface="Avenir"/>
                <a:cs typeface="Avenir"/>
                <a:sym typeface="Avenir"/>
              </a:defRPr>
            </a:lvl5pPr>
            <a:lvl6pPr marL="0" marR="0" lvl="5" indent="0" algn="r" rtl="0">
              <a:spcBef>
                <a:spcPts val="0"/>
              </a:spcBef>
              <a:buNone/>
              <a:defRPr sz="900" b="0" i="0" u="none" strike="noStrike" cap="none">
                <a:solidFill>
                  <a:schemeClr val="lt1"/>
                </a:solidFill>
                <a:latin typeface="Avenir"/>
                <a:ea typeface="Avenir"/>
                <a:cs typeface="Avenir"/>
                <a:sym typeface="Avenir"/>
              </a:defRPr>
            </a:lvl6pPr>
            <a:lvl7pPr marL="0" marR="0" lvl="6" indent="0" algn="r" rtl="0">
              <a:spcBef>
                <a:spcPts val="0"/>
              </a:spcBef>
              <a:buNone/>
              <a:defRPr sz="900" b="0" i="0" u="none" strike="noStrike" cap="none">
                <a:solidFill>
                  <a:schemeClr val="lt1"/>
                </a:solidFill>
                <a:latin typeface="Avenir"/>
                <a:ea typeface="Avenir"/>
                <a:cs typeface="Avenir"/>
                <a:sym typeface="Avenir"/>
              </a:defRPr>
            </a:lvl7pPr>
            <a:lvl8pPr marL="0" marR="0" lvl="7" indent="0" algn="r" rtl="0">
              <a:spcBef>
                <a:spcPts val="0"/>
              </a:spcBef>
              <a:buNone/>
              <a:defRPr sz="900" b="0" i="0" u="none" strike="noStrike" cap="none">
                <a:solidFill>
                  <a:schemeClr val="lt1"/>
                </a:solidFill>
                <a:latin typeface="Avenir"/>
                <a:ea typeface="Avenir"/>
                <a:cs typeface="Avenir"/>
                <a:sym typeface="Avenir"/>
              </a:defRPr>
            </a:lvl8pPr>
            <a:lvl9pPr marL="0" marR="0" lvl="8" indent="0" algn="r" rtl="0">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customXml" Target="../ink/ink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1" name="Google Shape;91;p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92" name="Google Shape;92;p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3" name="Google Shape;93;p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4" name="Google Shape;94;p1"/>
          <p:cNvPicPr preferRelativeResize="0"/>
          <p:nvPr/>
        </p:nvPicPr>
        <p:blipFill rotWithShape="1">
          <a:blip r:embed="rId4">
            <a:alphaModFix/>
          </a:blip>
          <a:srcRect l="9052" r="15486" b="-2"/>
          <a:stretch/>
        </p:blipFill>
        <p:spPr>
          <a:xfrm>
            <a:off x="5996628" y="-1308"/>
            <a:ext cx="6195372" cy="4618233"/>
          </a:xfrm>
          <a:prstGeom prst="rect">
            <a:avLst/>
          </a:prstGeom>
          <a:noFill/>
          <a:ln>
            <a:noFill/>
          </a:ln>
        </p:spPr>
      </p:pic>
      <p:sp>
        <p:nvSpPr>
          <p:cNvPr id="95" name="Google Shape;95;p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6" name="Google Shape;96;p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97" name="Google Shape;97;p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dirty="0"/>
              <a:t>CSDC-446 Parallel and Distributed Computing</a:t>
            </a:r>
            <a:endParaRPr sz="4100" dirty="0"/>
          </a:p>
        </p:txBody>
      </p:sp>
      <p:sp>
        <p:nvSpPr>
          <p:cNvPr id="98" name="Google Shape;98;p1"/>
          <p:cNvSpPr txBox="1">
            <a:spLocks noGrp="1"/>
          </p:cNvSpPr>
          <p:nvPr>
            <p:ph type="subTitle" idx="1"/>
          </p:nvPr>
        </p:nvSpPr>
        <p:spPr>
          <a:xfrm>
            <a:off x="0" y="-12211"/>
            <a:ext cx="5313452" cy="3935986"/>
          </a:xfrm>
          <a:prstGeom prst="rect">
            <a:avLst/>
          </a:prstGeom>
          <a:noFill/>
          <a:ln>
            <a:noFill/>
          </a:ln>
        </p:spPr>
        <p:txBody>
          <a:bodyPr spcFirstLastPara="1" wrap="square" lIns="91425" tIns="45700" rIns="91425" bIns="45700" anchor="b" anchorCtr="0">
            <a:normAutofit/>
          </a:bodyPr>
          <a:lstStyle/>
          <a:p>
            <a:pPr marL="0" lvl="0" indent="0" algn="just" rtl="0">
              <a:lnSpc>
                <a:spcPct val="110000"/>
              </a:lnSpc>
              <a:spcBef>
                <a:spcPts val="0"/>
              </a:spcBef>
              <a:spcAft>
                <a:spcPts val="0"/>
              </a:spcAft>
              <a:buSzPts val="2800"/>
              <a:buNone/>
            </a:pPr>
            <a:r>
              <a:rPr lang="en-US" sz="3600" b="1" dirty="0">
                <a:solidFill>
                  <a:schemeClr val="dk2"/>
                </a:solidFill>
                <a:latin typeface="Arial"/>
                <a:ea typeface="Arial"/>
                <a:cs typeface="Arial"/>
                <a:sym typeface="Arial"/>
              </a:rPr>
              <a:t>Dr. </a:t>
            </a:r>
            <a:r>
              <a:rPr lang="en-US" sz="3600" b="1" dirty="0" err="1">
                <a:solidFill>
                  <a:schemeClr val="dk2"/>
                </a:solidFill>
                <a:latin typeface="Arial"/>
                <a:ea typeface="Arial"/>
                <a:cs typeface="Arial"/>
                <a:sym typeface="Arial"/>
              </a:rPr>
              <a:t>Sehrish</a:t>
            </a:r>
            <a:r>
              <a:rPr lang="en-US" sz="3600" b="1" dirty="0">
                <a:solidFill>
                  <a:schemeClr val="dk2"/>
                </a:solidFill>
                <a:latin typeface="Arial"/>
                <a:ea typeface="Arial"/>
                <a:cs typeface="Arial"/>
                <a:sym typeface="Arial"/>
              </a:rPr>
              <a:t> Amjad</a:t>
            </a:r>
            <a:endParaRPr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Topics Covered</a:t>
            </a:r>
            <a:endParaRPr dirty="0"/>
          </a:p>
        </p:txBody>
      </p:sp>
      <p:sp>
        <p:nvSpPr>
          <p:cNvPr id="4" name="Google Shape;141;p4">
            <a:extLst>
              <a:ext uri="{FF2B5EF4-FFF2-40B4-BE49-F238E27FC236}">
                <a16:creationId xmlns:a16="http://schemas.microsoft.com/office/drawing/2014/main" id="{51427039-8E57-7CCE-9DFD-2CDF3DEDB0BE}"/>
              </a:ext>
            </a:extLst>
          </p:cNvPr>
          <p:cNvSpPr txBox="1">
            <a:spLocks/>
          </p:cNvSpPr>
          <p:nvPr/>
        </p:nvSpPr>
        <p:spPr>
          <a:xfrm>
            <a:off x="-3048" y="211137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Dependency Analysis</a:t>
            </a:r>
          </a:p>
          <a:p>
            <a:pPr lvl="1" indent="-457200">
              <a:buSzPts val="2800"/>
            </a:pPr>
            <a:endParaRPr lang="en-US"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D816DF54-0D75-3CD7-FB62-DD6F118E175F}"/>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F453EE1B-F24B-EA18-1431-B22AC74BF87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8ED33AEE-BA6C-25C5-3C52-8288E404FFF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C46514CF-ED2D-1060-7B57-432CD4DA647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164F4377-8D50-9FD5-04CB-BE0FCA14A196}"/>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How to Write Efficient and Scalable Programs?</a:t>
            </a:r>
            <a:endParaRPr dirty="0"/>
          </a:p>
        </p:txBody>
      </p:sp>
      <p:pic>
        <p:nvPicPr>
          <p:cNvPr id="6" name="Picture 5">
            <a:extLst>
              <a:ext uri="{FF2B5EF4-FFF2-40B4-BE49-F238E27FC236}">
                <a16:creationId xmlns:a16="http://schemas.microsoft.com/office/drawing/2014/main" id="{0DAA01FF-FDEC-B713-D3E8-709CE57DBCB3}"/>
              </a:ext>
            </a:extLst>
          </p:cNvPr>
          <p:cNvPicPr>
            <a:picLocks noChangeAspect="1"/>
          </p:cNvPicPr>
          <p:nvPr/>
        </p:nvPicPr>
        <p:blipFill>
          <a:blip r:embed="rId3"/>
          <a:stretch>
            <a:fillRect/>
          </a:stretch>
        </p:blipFill>
        <p:spPr>
          <a:xfrm>
            <a:off x="533400" y="2184400"/>
            <a:ext cx="10572750" cy="4714875"/>
          </a:xfrm>
          <a:prstGeom prst="rect">
            <a:avLst/>
          </a:prstGeom>
        </p:spPr>
      </p:pic>
    </p:spTree>
    <p:extLst>
      <p:ext uri="{BB962C8B-B14F-4D97-AF65-F5344CB8AC3E}">
        <p14:creationId xmlns:p14="http://schemas.microsoft.com/office/powerpoint/2010/main" val="1098209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DD592FEF-F543-87B8-DF00-4DE31B21F794}"/>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5571547-833A-AAC6-4A7E-FDDEA97754B5}"/>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81869A77-FAE7-70B0-4A62-0A7FE07A536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5B8A1C11-4D19-99FA-9577-7ACD9C6814D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28BB8E32-0E1F-8AE7-C0FF-9306ADB3D777}"/>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Role of a Good Compiler</a:t>
            </a:r>
            <a:endParaRPr dirty="0"/>
          </a:p>
        </p:txBody>
      </p:sp>
      <p:pic>
        <p:nvPicPr>
          <p:cNvPr id="3" name="Picture 2">
            <a:extLst>
              <a:ext uri="{FF2B5EF4-FFF2-40B4-BE49-F238E27FC236}">
                <a16:creationId xmlns:a16="http://schemas.microsoft.com/office/drawing/2014/main" id="{62992D53-A09E-1D37-8E37-B3DFB2E6F258}"/>
              </a:ext>
            </a:extLst>
          </p:cNvPr>
          <p:cNvPicPr>
            <a:picLocks noChangeAspect="1"/>
          </p:cNvPicPr>
          <p:nvPr/>
        </p:nvPicPr>
        <p:blipFill>
          <a:blip r:embed="rId3"/>
          <a:stretch>
            <a:fillRect/>
          </a:stretch>
        </p:blipFill>
        <p:spPr>
          <a:xfrm>
            <a:off x="350520" y="2225674"/>
            <a:ext cx="10563225" cy="4295775"/>
          </a:xfrm>
          <a:prstGeom prst="rect">
            <a:avLst/>
          </a:prstGeom>
        </p:spPr>
      </p:pic>
    </p:spTree>
    <p:extLst>
      <p:ext uri="{BB962C8B-B14F-4D97-AF65-F5344CB8AC3E}">
        <p14:creationId xmlns:p14="http://schemas.microsoft.com/office/powerpoint/2010/main" val="1614667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28C44D4B-9054-A98F-8FB9-9EA98353C21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81303E4-8062-8BD0-5D91-1ED7BC207CD3}"/>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FA3677CB-D9DD-A5EF-41D9-D23C54181D5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F36B52E5-63A4-9658-9094-BC61556B0214}"/>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257932E-F2DD-B5BD-0CBE-BA57D9FAAC6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Parallelism Challenges for a Compiler</a:t>
            </a:r>
            <a:endParaRPr dirty="0"/>
          </a:p>
        </p:txBody>
      </p:sp>
      <p:pic>
        <p:nvPicPr>
          <p:cNvPr id="4" name="Picture 3">
            <a:extLst>
              <a:ext uri="{FF2B5EF4-FFF2-40B4-BE49-F238E27FC236}">
                <a16:creationId xmlns:a16="http://schemas.microsoft.com/office/drawing/2014/main" id="{C34CBF69-4B0F-E2A6-ADDF-AF5B0540876F}"/>
              </a:ext>
            </a:extLst>
          </p:cNvPr>
          <p:cNvPicPr>
            <a:picLocks noChangeAspect="1"/>
          </p:cNvPicPr>
          <p:nvPr/>
        </p:nvPicPr>
        <p:blipFill>
          <a:blip r:embed="rId3"/>
          <a:stretch>
            <a:fillRect/>
          </a:stretch>
        </p:blipFill>
        <p:spPr>
          <a:xfrm>
            <a:off x="709612" y="2362124"/>
            <a:ext cx="10315575" cy="2733675"/>
          </a:xfrm>
          <a:prstGeom prst="rect">
            <a:avLst/>
          </a:prstGeom>
        </p:spPr>
      </p:pic>
    </p:spTree>
    <p:extLst>
      <p:ext uri="{BB962C8B-B14F-4D97-AF65-F5344CB8AC3E}">
        <p14:creationId xmlns:p14="http://schemas.microsoft.com/office/powerpoint/2010/main" val="417440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9A2234C7-4763-C14B-A556-D99E5F175DDD}"/>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0F98F50A-F511-1ED2-B704-ABD001A7464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BBD614A-1358-F3DD-B6B5-5C01C11B2FB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DEF429F-E14C-7419-1CDF-1C2896088C0B}"/>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EA3C429-7254-8F42-59E4-3BFF56A1AD6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Can we parallelize the following loops?</a:t>
            </a:r>
            <a:endParaRPr dirty="0"/>
          </a:p>
        </p:txBody>
      </p:sp>
      <p:pic>
        <p:nvPicPr>
          <p:cNvPr id="3" name="Picture 2">
            <a:extLst>
              <a:ext uri="{FF2B5EF4-FFF2-40B4-BE49-F238E27FC236}">
                <a16:creationId xmlns:a16="http://schemas.microsoft.com/office/drawing/2014/main" id="{D23588AF-2302-0BF3-1AB0-180CE862026B}"/>
              </a:ext>
            </a:extLst>
          </p:cNvPr>
          <p:cNvPicPr>
            <a:picLocks noChangeAspect="1"/>
          </p:cNvPicPr>
          <p:nvPr/>
        </p:nvPicPr>
        <p:blipFill>
          <a:blip r:embed="rId3"/>
          <a:stretch>
            <a:fillRect/>
          </a:stretch>
        </p:blipFill>
        <p:spPr>
          <a:xfrm>
            <a:off x="1228725" y="2886075"/>
            <a:ext cx="9734550" cy="1085850"/>
          </a:xfrm>
          <a:prstGeom prst="rect">
            <a:avLst/>
          </a:prstGeom>
        </p:spPr>
      </p:pic>
    </p:spTree>
    <p:extLst>
      <p:ext uri="{BB962C8B-B14F-4D97-AF65-F5344CB8AC3E}">
        <p14:creationId xmlns:p14="http://schemas.microsoft.com/office/powerpoint/2010/main" val="121413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7729F838-1A6D-055C-9BAA-F2B942CEA2E6}"/>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00D9FCF-69AD-5518-14E0-D747CB47307A}"/>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8C6A3D42-1DAC-645F-7F55-CADA6915EEDA}"/>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779F94E-2555-56A0-9435-463341A66ED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696D209E-1F83-14AC-CB2D-495F25E9682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Dependences</a:t>
            </a:r>
          </a:p>
        </p:txBody>
      </p:sp>
      <p:pic>
        <p:nvPicPr>
          <p:cNvPr id="4" name="Picture 3">
            <a:extLst>
              <a:ext uri="{FF2B5EF4-FFF2-40B4-BE49-F238E27FC236}">
                <a16:creationId xmlns:a16="http://schemas.microsoft.com/office/drawing/2014/main" id="{32790397-EF4F-12E8-5228-86BB775857F6}"/>
              </a:ext>
            </a:extLst>
          </p:cNvPr>
          <p:cNvPicPr>
            <a:picLocks noChangeAspect="1"/>
          </p:cNvPicPr>
          <p:nvPr/>
        </p:nvPicPr>
        <p:blipFill>
          <a:blip r:embed="rId3"/>
          <a:stretch>
            <a:fillRect/>
          </a:stretch>
        </p:blipFill>
        <p:spPr>
          <a:xfrm>
            <a:off x="1198182" y="2362124"/>
            <a:ext cx="2276475" cy="1819275"/>
          </a:xfrm>
          <a:prstGeom prst="rect">
            <a:avLst/>
          </a:prstGeom>
        </p:spPr>
      </p:pic>
    </p:spTree>
    <p:extLst>
      <p:ext uri="{BB962C8B-B14F-4D97-AF65-F5344CB8AC3E}">
        <p14:creationId xmlns:p14="http://schemas.microsoft.com/office/powerpoint/2010/main" val="410483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0DE32921-C59C-16DA-B5F2-8006AE48744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5D05EF6-872B-B798-48B3-23942F5F141F}"/>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AE6F3663-3340-227A-4931-55D4441FBA5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0266F568-8AD6-8D6C-B7AD-DD607497112B}"/>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C651B359-2976-01E4-ED78-CFDCAE36F30B}"/>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Dependences</a:t>
            </a:r>
          </a:p>
        </p:txBody>
      </p:sp>
      <p:pic>
        <p:nvPicPr>
          <p:cNvPr id="6" name="Picture 5">
            <a:extLst>
              <a:ext uri="{FF2B5EF4-FFF2-40B4-BE49-F238E27FC236}">
                <a16:creationId xmlns:a16="http://schemas.microsoft.com/office/drawing/2014/main" id="{528CEEAF-9F41-5366-8978-3E367E4ADCBC}"/>
              </a:ext>
            </a:extLst>
          </p:cNvPr>
          <p:cNvPicPr>
            <a:picLocks noChangeAspect="1"/>
          </p:cNvPicPr>
          <p:nvPr/>
        </p:nvPicPr>
        <p:blipFill>
          <a:blip r:embed="rId3"/>
          <a:stretch>
            <a:fillRect/>
          </a:stretch>
        </p:blipFill>
        <p:spPr>
          <a:xfrm>
            <a:off x="606742" y="2362124"/>
            <a:ext cx="10429875" cy="3190875"/>
          </a:xfrm>
          <a:prstGeom prst="rect">
            <a:avLst/>
          </a:prstGeom>
        </p:spPr>
      </p:pic>
    </p:spTree>
    <p:extLst>
      <p:ext uri="{BB962C8B-B14F-4D97-AF65-F5344CB8AC3E}">
        <p14:creationId xmlns:p14="http://schemas.microsoft.com/office/powerpoint/2010/main" val="1593173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D52FB138-3CC1-E34E-A863-520572CE36EE}"/>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94942F4-3959-89C3-8818-A7E01FF50B49}"/>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F4E2562-902B-672F-6238-F917AC5E2569}"/>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263E68E-84D3-C5EE-33E3-33D41202CE3A}"/>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6820E819-28C3-DD1F-8FF7-54DFA1AF11B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Data Dependence</a:t>
            </a:r>
          </a:p>
        </p:txBody>
      </p:sp>
      <p:pic>
        <p:nvPicPr>
          <p:cNvPr id="3" name="Picture 2">
            <a:extLst>
              <a:ext uri="{FF2B5EF4-FFF2-40B4-BE49-F238E27FC236}">
                <a16:creationId xmlns:a16="http://schemas.microsoft.com/office/drawing/2014/main" id="{5C9D6FA3-CA3E-93B4-190C-4077C6874A5B}"/>
              </a:ext>
            </a:extLst>
          </p:cNvPr>
          <p:cNvPicPr>
            <a:picLocks noChangeAspect="1"/>
          </p:cNvPicPr>
          <p:nvPr/>
        </p:nvPicPr>
        <p:blipFill>
          <a:blip r:embed="rId3"/>
          <a:stretch>
            <a:fillRect/>
          </a:stretch>
        </p:blipFill>
        <p:spPr>
          <a:xfrm>
            <a:off x="663892" y="2225674"/>
            <a:ext cx="8181975" cy="1600200"/>
          </a:xfrm>
          <a:prstGeom prst="rect">
            <a:avLst/>
          </a:prstGeom>
        </p:spPr>
      </p:pic>
    </p:spTree>
    <p:extLst>
      <p:ext uri="{BB962C8B-B14F-4D97-AF65-F5344CB8AC3E}">
        <p14:creationId xmlns:p14="http://schemas.microsoft.com/office/powerpoint/2010/main" val="2385892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1704EC38-4CEC-F019-F36F-BD11D76C1275}"/>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29A74FED-E91A-22CD-083A-E2113659B10F}"/>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480FE75-B398-1EEF-91AB-55834A12A823}"/>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118D1F68-0833-3DC8-3B3D-12048E64BF8B}"/>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5581411-74A5-642E-F743-110C5339362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Types of Dependences</a:t>
            </a:r>
          </a:p>
        </p:txBody>
      </p:sp>
      <p:pic>
        <p:nvPicPr>
          <p:cNvPr id="4" name="Picture 3">
            <a:extLst>
              <a:ext uri="{FF2B5EF4-FFF2-40B4-BE49-F238E27FC236}">
                <a16:creationId xmlns:a16="http://schemas.microsoft.com/office/drawing/2014/main" id="{D00EDED4-6883-542C-5FAE-19665B59AA44}"/>
              </a:ext>
            </a:extLst>
          </p:cNvPr>
          <p:cNvPicPr>
            <a:picLocks noChangeAspect="1"/>
          </p:cNvPicPr>
          <p:nvPr/>
        </p:nvPicPr>
        <p:blipFill>
          <a:blip r:embed="rId3"/>
          <a:stretch>
            <a:fillRect/>
          </a:stretch>
        </p:blipFill>
        <p:spPr>
          <a:xfrm>
            <a:off x="750570" y="2225674"/>
            <a:ext cx="10172700" cy="4410075"/>
          </a:xfrm>
          <a:prstGeom prst="rect">
            <a:avLst/>
          </a:prstGeom>
        </p:spPr>
      </p:pic>
    </p:spTree>
    <p:extLst>
      <p:ext uri="{BB962C8B-B14F-4D97-AF65-F5344CB8AC3E}">
        <p14:creationId xmlns:p14="http://schemas.microsoft.com/office/powerpoint/2010/main" val="3374959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DB2F140-C9D5-C660-7C59-A53C2F299E4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7B34B0B-7D4F-12AB-19F4-9BCAFCB4C8E7}"/>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F2FC9F2-09DE-AAB1-AE8D-320E5035B25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dirty="0">
              <a:solidFill>
                <a:srgbClr val="595959"/>
              </a:solidFill>
              <a:latin typeface="Calibri" panose="020F0502020204030204" pitchFamily="34" charset="0"/>
              <a:ea typeface="Avenir"/>
              <a:cs typeface="Calibri" panose="020F0502020204030204" pitchFamily="34" charset="0"/>
              <a:sym typeface="Avenir"/>
            </a:endParaRPr>
          </a:p>
        </p:txBody>
      </p:sp>
      <p:sp>
        <p:nvSpPr>
          <p:cNvPr id="138" name="Google Shape;138;p4">
            <a:extLst>
              <a:ext uri="{FF2B5EF4-FFF2-40B4-BE49-F238E27FC236}">
                <a16:creationId xmlns:a16="http://schemas.microsoft.com/office/drawing/2014/main" id="{F94B601E-C4B5-5DFD-ABC4-19C24403ED94}"/>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F11C1979-5A4F-333A-9E5C-D318105B087E}"/>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Data Dependence</a:t>
            </a:r>
          </a:p>
        </p:txBody>
      </p:sp>
      <p:sp>
        <p:nvSpPr>
          <p:cNvPr id="7" name="Google Shape;141;p4">
            <a:extLst>
              <a:ext uri="{FF2B5EF4-FFF2-40B4-BE49-F238E27FC236}">
                <a16:creationId xmlns:a16="http://schemas.microsoft.com/office/drawing/2014/main" id="{902CF9C7-1247-8CD0-D8AF-FDE54E76E1EF}"/>
              </a:ext>
            </a:extLst>
          </p:cNvPr>
          <p:cNvSpPr txBox="1">
            <a:spLocks noGrp="1"/>
          </p:cNvSpPr>
          <p:nvPr>
            <p:ph type="body" idx="1"/>
          </p:nvPr>
        </p:nvSpPr>
        <p:spPr>
          <a:xfrm>
            <a:off x="0" y="2095424"/>
            <a:ext cx="12188952" cy="4762576"/>
          </a:xfrm>
          <a:prstGeom prst="rect">
            <a:avLst/>
          </a:prstGeom>
          <a:noFill/>
          <a:ln>
            <a:noFill/>
          </a:ln>
        </p:spPr>
        <p:txBody>
          <a:bodyPr spcFirstLastPara="1" wrap="square" lIns="91425" tIns="45700" rIns="91425" bIns="45700" anchor="t" anchorCtr="0">
            <a:noAutofit/>
          </a:bodyPr>
          <a:lstStyle/>
          <a:p>
            <a:pPr indent="-457200">
              <a:buSzPts val="2800"/>
            </a:pPr>
            <a:r>
              <a:rPr lang="en-US" b="1" dirty="0">
                <a:solidFill>
                  <a:schemeClr val="dk1"/>
                </a:solidFill>
                <a:latin typeface="Arial"/>
                <a:ea typeface="Arial"/>
                <a:cs typeface="Arial"/>
                <a:sym typeface="Arial"/>
              </a:rPr>
              <a:t>Flow:</a:t>
            </a:r>
            <a:r>
              <a:rPr lang="en-US" dirty="0">
                <a:solidFill>
                  <a:schemeClr val="dk1"/>
                </a:solidFill>
                <a:latin typeface="Arial"/>
                <a:ea typeface="Arial"/>
                <a:cs typeface="Arial"/>
                <a:sym typeface="Arial"/>
              </a:rPr>
              <a:t> Output (variable assigned) of S1 is used as input to S2. A data dependency occurs with instruction S2 as it is dependent on the completion of instruction S1. Also Called RAW hazard</a:t>
            </a:r>
          </a:p>
          <a:p>
            <a:pPr indent="-457200">
              <a:buSzPts val="2800"/>
            </a:pPr>
            <a:r>
              <a:rPr lang="en-US" b="1" dirty="0">
                <a:solidFill>
                  <a:schemeClr val="dk1"/>
                </a:solidFill>
                <a:latin typeface="Arial"/>
                <a:ea typeface="Arial"/>
                <a:cs typeface="Arial"/>
                <a:sym typeface="Arial"/>
              </a:rPr>
              <a:t>Anti:</a:t>
            </a:r>
            <a:r>
              <a:rPr lang="en-US" dirty="0">
                <a:solidFill>
                  <a:schemeClr val="dk1"/>
                </a:solidFill>
                <a:latin typeface="Arial"/>
                <a:ea typeface="Arial"/>
                <a:cs typeface="Arial"/>
                <a:sym typeface="Arial"/>
              </a:rPr>
              <a:t> S2 is anti-dependent on the statement S1 if S2 follows S1 in program order and instruction S2 tries to writes a register or memory location before instruction S1 reads. Also called WAR hazard</a:t>
            </a:r>
          </a:p>
          <a:p>
            <a:pPr indent="-457200">
              <a:buSzPts val="2800"/>
            </a:pPr>
            <a:r>
              <a:rPr lang="en-US" b="1" dirty="0">
                <a:solidFill>
                  <a:schemeClr val="dk1"/>
                </a:solidFill>
                <a:latin typeface="Arial"/>
                <a:ea typeface="Arial"/>
                <a:cs typeface="Arial"/>
                <a:sym typeface="Arial"/>
              </a:rPr>
              <a:t>Output:</a:t>
            </a:r>
            <a:r>
              <a:rPr lang="en-US" dirty="0">
                <a:solidFill>
                  <a:schemeClr val="dk1"/>
                </a:solidFill>
                <a:latin typeface="Arial"/>
                <a:ea typeface="Arial"/>
                <a:cs typeface="Arial"/>
                <a:sym typeface="Arial"/>
              </a:rPr>
              <a:t> two  statements  S1  and  S2  are  output  dependent  if  they  write  to  the  same memory location(S2 tries to write an operand before it is written by S1). Can occur WAW hazard</a:t>
            </a:r>
          </a:p>
          <a:p>
            <a:pPr indent="-4572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03021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3444E81-B78F-7043-877E-43D6CEE5608C}"/>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7D616FB-150C-931E-47EC-CB41DF46806E}"/>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E1616361-D24E-DA32-2B4E-8A10F8AD91B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C9335959-F08C-57C1-BF83-57626B730A4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11644AC2-AD32-1DF9-AFAC-55DA9959A14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Bernstein’s Conditions</a:t>
            </a:r>
          </a:p>
        </p:txBody>
      </p:sp>
      <p:pic>
        <p:nvPicPr>
          <p:cNvPr id="3" name="Picture 2">
            <a:extLst>
              <a:ext uri="{FF2B5EF4-FFF2-40B4-BE49-F238E27FC236}">
                <a16:creationId xmlns:a16="http://schemas.microsoft.com/office/drawing/2014/main" id="{FCB6407D-5CB3-6199-8FF2-B70FFC241FC0}"/>
              </a:ext>
            </a:extLst>
          </p:cNvPr>
          <p:cNvPicPr>
            <a:picLocks noChangeAspect="1"/>
          </p:cNvPicPr>
          <p:nvPr/>
        </p:nvPicPr>
        <p:blipFill>
          <a:blip r:embed="rId3"/>
          <a:stretch>
            <a:fillRect/>
          </a:stretch>
        </p:blipFill>
        <p:spPr>
          <a:xfrm>
            <a:off x="747712" y="2285924"/>
            <a:ext cx="10239375" cy="2609850"/>
          </a:xfrm>
          <a:prstGeom prst="rect">
            <a:avLst/>
          </a:prstGeom>
        </p:spPr>
      </p:pic>
    </p:spTree>
    <p:extLst>
      <p:ext uri="{BB962C8B-B14F-4D97-AF65-F5344CB8AC3E}">
        <p14:creationId xmlns:p14="http://schemas.microsoft.com/office/powerpoint/2010/main" val="516185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10E51B1D-A984-AF05-F9E5-D387BA62AD1B}"/>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67E1A25-EBC0-2634-0B10-D2FC062E4A4A}"/>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5725179-C85C-68BC-6861-5A0D9984722F}"/>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F021D102-8F27-BDBA-C6A1-52A5E8066CD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16394F3C-26EE-FED5-4975-6FA90D73CEF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Bernstein’s Conditions</a:t>
            </a:r>
          </a:p>
        </p:txBody>
      </p:sp>
      <p:pic>
        <p:nvPicPr>
          <p:cNvPr id="4" name="Picture 3">
            <a:extLst>
              <a:ext uri="{FF2B5EF4-FFF2-40B4-BE49-F238E27FC236}">
                <a16:creationId xmlns:a16="http://schemas.microsoft.com/office/drawing/2014/main" id="{5CB0CF9D-B2F4-17F7-A89C-20D9D61A02FA}"/>
              </a:ext>
            </a:extLst>
          </p:cNvPr>
          <p:cNvPicPr>
            <a:picLocks noChangeAspect="1"/>
          </p:cNvPicPr>
          <p:nvPr/>
        </p:nvPicPr>
        <p:blipFill>
          <a:blip r:embed="rId3"/>
          <a:stretch>
            <a:fillRect/>
          </a:stretch>
        </p:blipFill>
        <p:spPr>
          <a:xfrm>
            <a:off x="950976" y="2247977"/>
            <a:ext cx="10287000" cy="2628900"/>
          </a:xfrm>
          <a:prstGeom prst="rect">
            <a:avLst/>
          </a:prstGeom>
        </p:spPr>
      </p:pic>
    </p:spTree>
    <p:extLst>
      <p:ext uri="{BB962C8B-B14F-4D97-AF65-F5344CB8AC3E}">
        <p14:creationId xmlns:p14="http://schemas.microsoft.com/office/powerpoint/2010/main" val="1181818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925705D8-B3B8-1FA3-67A8-D9B02EC28D44}"/>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B7E7F90-1F3E-3361-1CA5-B1BDA323AAF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1882148B-F463-BBAC-A8F3-8F612FAEE502}"/>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B8C0EDC-FF03-5145-632E-401F65D0080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73688B7A-F3DF-6248-69E7-1A45BC6160F4}"/>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Bernstein’s Conditions</a:t>
            </a:r>
          </a:p>
        </p:txBody>
      </p:sp>
      <p:pic>
        <p:nvPicPr>
          <p:cNvPr id="3" name="Picture 2">
            <a:extLst>
              <a:ext uri="{FF2B5EF4-FFF2-40B4-BE49-F238E27FC236}">
                <a16:creationId xmlns:a16="http://schemas.microsoft.com/office/drawing/2014/main" id="{065CD41A-0FBA-545E-97F6-3BC793CCFE08}"/>
              </a:ext>
            </a:extLst>
          </p:cNvPr>
          <p:cNvPicPr>
            <a:picLocks noChangeAspect="1"/>
          </p:cNvPicPr>
          <p:nvPr/>
        </p:nvPicPr>
        <p:blipFill>
          <a:blip r:embed="rId3"/>
          <a:stretch>
            <a:fillRect/>
          </a:stretch>
        </p:blipFill>
        <p:spPr>
          <a:xfrm>
            <a:off x="989076" y="2225674"/>
            <a:ext cx="10210800" cy="4095750"/>
          </a:xfrm>
          <a:prstGeom prst="rect">
            <a:avLst/>
          </a:prstGeom>
        </p:spPr>
      </p:pic>
    </p:spTree>
    <p:extLst>
      <p:ext uri="{BB962C8B-B14F-4D97-AF65-F5344CB8AC3E}">
        <p14:creationId xmlns:p14="http://schemas.microsoft.com/office/powerpoint/2010/main" val="38505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1E378F6C-CFFF-CF43-3F6B-D6596E5A6DAE}"/>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031F365-BF8F-D857-934F-905767383635}"/>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3ACE367-0CB8-AC04-B0E7-BA625E3ACA0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B523132-134C-C68D-BBF4-CFAD1DAC5E7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0494DD3-7986-B778-CC33-92378BE05F5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Find Parallelism in Loops – Is it Easy?</a:t>
            </a:r>
          </a:p>
        </p:txBody>
      </p:sp>
      <p:pic>
        <p:nvPicPr>
          <p:cNvPr id="6" name="Picture 5">
            <a:extLst>
              <a:ext uri="{FF2B5EF4-FFF2-40B4-BE49-F238E27FC236}">
                <a16:creationId xmlns:a16="http://schemas.microsoft.com/office/drawing/2014/main" id="{F886DAD0-AE13-ADC0-10C5-26FD62DE4F67}"/>
              </a:ext>
            </a:extLst>
          </p:cNvPr>
          <p:cNvPicPr>
            <a:picLocks noChangeAspect="1"/>
          </p:cNvPicPr>
          <p:nvPr/>
        </p:nvPicPr>
        <p:blipFill>
          <a:blip r:embed="rId3"/>
          <a:stretch>
            <a:fillRect/>
          </a:stretch>
        </p:blipFill>
        <p:spPr>
          <a:xfrm>
            <a:off x="739521" y="2512059"/>
            <a:ext cx="10344150" cy="1343025"/>
          </a:xfrm>
          <a:prstGeom prst="rect">
            <a:avLst/>
          </a:prstGeom>
        </p:spPr>
      </p:pic>
    </p:spTree>
    <p:extLst>
      <p:ext uri="{BB962C8B-B14F-4D97-AF65-F5344CB8AC3E}">
        <p14:creationId xmlns:p14="http://schemas.microsoft.com/office/powerpoint/2010/main" val="2250611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AACA2FA6-7264-C804-1D19-A2055755A861}"/>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9C08130-CD7E-7494-EB0B-F0D70359EEC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A7B05A7B-2D33-7394-92F8-7089B35BB4A0}"/>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E630450-2600-E9D9-21B4-17E91E122C0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0C601E4E-C1BA-B730-10AE-4F32301BE680}"/>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 in Loops</a:t>
            </a:r>
          </a:p>
        </p:txBody>
      </p:sp>
      <p:pic>
        <p:nvPicPr>
          <p:cNvPr id="3" name="Picture 2">
            <a:extLst>
              <a:ext uri="{FF2B5EF4-FFF2-40B4-BE49-F238E27FC236}">
                <a16:creationId xmlns:a16="http://schemas.microsoft.com/office/drawing/2014/main" id="{493FE417-440A-9227-C8EF-4E89A9D2CE53}"/>
              </a:ext>
            </a:extLst>
          </p:cNvPr>
          <p:cNvPicPr>
            <a:picLocks noChangeAspect="1"/>
          </p:cNvPicPr>
          <p:nvPr/>
        </p:nvPicPr>
        <p:blipFill>
          <a:blip r:embed="rId3"/>
          <a:stretch>
            <a:fillRect/>
          </a:stretch>
        </p:blipFill>
        <p:spPr>
          <a:xfrm>
            <a:off x="805815" y="2362124"/>
            <a:ext cx="10001250" cy="4152900"/>
          </a:xfrm>
          <a:prstGeom prst="rect">
            <a:avLst/>
          </a:prstGeom>
        </p:spPr>
      </p:pic>
    </p:spTree>
    <p:extLst>
      <p:ext uri="{BB962C8B-B14F-4D97-AF65-F5344CB8AC3E}">
        <p14:creationId xmlns:p14="http://schemas.microsoft.com/office/powerpoint/2010/main" val="865451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379D071-0118-44C0-B03F-B0D42CEA707A}"/>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E527F805-8DF4-CAF0-A840-27D6B4564BAB}"/>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D5D9D96-574F-C5FE-86F5-1E38B363BE6E}"/>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7762D723-92A4-72B6-2368-B0C1E6FCE87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11806E15-6D3F-F48A-F32D-2E1CCF082433}"/>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 in Loops</a:t>
            </a:r>
          </a:p>
        </p:txBody>
      </p:sp>
      <p:pic>
        <p:nvPicPr>
          <p:cNvPr id="4" name="Picture 3">
            <a:extLst>
              <a:ext uri="{FF2B5EF4-FFF2-40B4-BE49-F238E27FC236}">
                <a16:creationId xmlns:a16="http://schemas.microsoft.com/office/drawing/2014/main" id="{EDB10E26-907C-DFE4-72FB-0B63DF8AC0F6}"/>
              </a:ext>
            </a:extLst>
          </p:cNvPr>
          <p:cNvPicPr>
            <a:picLocks noChangeAspect="1"/>
          </p:cNvPicPr>
          <p:nvPr/>
        </p:nvPicPr>
        <p:blipFill>
          <a:blip r:embed="rId3"/>
          <a:stretch>
            <a:fillRect/>
          </a:stretch>
        </p:blipFill>
        <p:spPr>
          <a:xfrm>
            <a:off x="947737" y="2362124"/>
            <a:ext cx="9991725" cy="3810000"/>
          </a:xfrm>
          <a:prstGeom prst="rect">
            <a:avLst/>
          </a:prstGeom>
        </p:spPr>
      </p:pic>
    </p:spTree>
    <p:extLst>
      <p:ext uri="{BB962C8B-B14F-4D97-AF65-F5344CB8AC3E}">
        <p14:creationId xmlns:p14="http://schemas.microsoft.com/office/powerpoint/2010/main" val="2089619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DDBE0C5B-4700-D995-09D6-C64C4570976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E779365-E353-CACA-7A71-5ECE28B29B2E}"/>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D380FA92-3E6D-AF43-E5B3-352FE181357C}"/>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24293AA-DABD-6EF7-480F-83FD233E550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F0641B45-0D75-5447-E548-AC20BF5276D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 in Loops</a:t>
            </a:r>
          </a:p>
        </p:txBody>
      </p:sp>
      <p:pic>
        <p:nvPicPr>
          <p:cNvPr id="3" name="Picture 2">
            <a:extLst>
              <a:ext uri="{FF2B5EF4-FFF2-40B4-BE49-F238E27FC236}">
                <a16:creationId xmlns:a16="http://schemas.microsoft.com/office/drawing/2014/main" id="{3D8EBA00-D487-5D93-AE81-18423289E667}"/>
              </a:ext>
            </a:extLst>
          </p:cNvPr>
          <p:cNvPicPr>
            <a:picLocks noChangeAspect="1"/>
          </p:cNvPicPr>
          <p:nvPr/>
        </p:nvPicPr>
        <p:blipFill>
          <a:blip r:embed="rId3"/>
          <a:stretch>
            <a:fillRect/>
          </a:stretch>
        </p:blipFill>
        <p:spPr>
          <a:xfrm>
            <a:off x="927735" y="2362124"/>
            <a:ext cx="9848850" cy="2752725"/>
          </a:xfrm>
          <a:prstGeom prst="rect">
            <a:avLst/>
          </a:prstGeom>
        </p:spPr>
      </p:pic>
    </p:spTree>
    <p:extLst>
      <p:ext uri="{BB962C8B-B14F-4D97-AF65-F5344CB8AC3E}">
        <p14:creationId xmlns:p14="http://schemas.microsoft.com/office/powerpoint/2010/main" val="2646049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D1BA1493-0F6D-D768-24A6-D1C2ED707159}"/>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C8CCCD48-FC24-2B9A-0A72-6D5A2B14FFB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F4128B3-A5ED-8EDE-DC69-7F5564237808}"/>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57C141B-ECC1-3D80-B386-9E270C33763B}"/>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1C4AC52-224F-6551-A511-B99394F89A1B}"/>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Normalized Iteration Number</a:t>
            </a:r>
          </a:p>
        </p:txBody>
      </p:sp>
      <p:pic>
        <p:nvPicPr>
          <p:cNvPr id="4" name="Picture 3">
            <a:extLst>
              <a:ext uri="{FF2B5EF4-FFF2-40B4-BE49-F238E27FC236}">
                <a16:creationId xmlns:a16="http://schemas.microsoft.com/office/drawing/2014/main" id="{F42E1F6F-5702-A1A2-2DE3-7780C9BA9B11}"/>
              </a:ext>
            </a:extLst>
          </p:cNvPr>
          <p:cNvPicPr>
            <a:picLocks noChangeAspect="1"/>
          </p:cNvPicPr>
          <p:nvPr/>
        </p:nvPicPr>
        <p:blipFill>
          <a:blip r:embed="rId3"/>
          <a:stretch>
            <a:fillRect/>
          </a:stretch>
        </p:blipFill>
        <p:spPr>
          <a:xfrm>
            <a:off x="790575" y="2281237"/>
            <a:ext cx="10610850" cy="2295525"/>
          </a:xfrm>
          <a:prstGeom prst="rect">
            <a:avLst/>
          </a:prstGeom>
        </p:spPr>
      </p:pic>
    </p:spTree>
    <p:extLst>
      <p:ext uri="{BB962C8B-B14F-4D97-AF65-F5344CB8AC3E}">
        <p14:creationId xmlns:p14="http://schemas.microsoft.com/office/powerpoint/2010/main" val="1654699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2D922C2-6E94-80A5-C57B-BD1FD5FDD49A}"/>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4F3B4AA0-33A0-C8AC-E35F-FF90F7ED735C}"/>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756CB7C-A481-2E18-468C-307C8232CA25}"/>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750FA85E-93AB-5A16-0E19-E390B4117D2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45075C14-7A7F-6DD9-C645-DB7446E1531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Iteration Vector</a:t>
            </a:r>
          </a:p>
        </p:txBody>
      </p:sp>
      <p:pic>
        <p:nvPicPr>
          <p:cNvPr id="3" name="Picture 2">
            <a:extLst>
              <a:ext uri="{FF2B5EF4-FFF2-40B4-BE49-F238E27FC236}">
                <a16:creationId xmlns:a16="http://schemas.microsoft.com/office/drawing/2014/main" id="{39CE1C90-C97C-02A4-1164-A8127D5C4FFB}"/>
              </a:ext>
            </a:extLst>
          </p:cNvPr>
          <p:cNvPicPr>
            <a:picLocks noChangeAspect="1"/>
          </p:cNvPicPr>
          <p:nvPr/>
        </p:nvPicPr>
        <p:blipFill>
          <a:blip r:embed="rId3"/>
          <a:stretch>
            <a:fillRect/>
          </a:stretch>
        </p:blipFill>
        <p:spPr>
          <a:xfrm>
            <a:off x="803338" y="2271394"/>
            <a:ext cx="10582275" cy="3695700"/>
          </a:xfrm>
          <a:prstGeom prst="rect">
            <a:avLst/>
          </a:prstGeom>
        </p:spPr>
      </p:pic>
    </p:spTree>
    <p:extLst>
      <p:ext uri="{BB962C8B-B14F-4D97-AF65-F5344CB8AC3E}">
        <p14:creationId xmlns:p14="http://schemas.microsoft.com/office/powerpoint/2010/main" val="3505781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0774E2DB-CB19-DAE4-955E-07101292F227}"/>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05026DC-3697-7E41-0966-5B9790A67259}"/>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1C32CE8-D487-B393-6720-6A4159895945}"/>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FDEE687-E029-11AA-8ACC-C73342A79134}"/>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67BC60B-5374-96C6-F51E-1CEB0DB131F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Iteration Space Graph</a:t>
            </a:r>
          </a:p>
        </p:txBody>
      </p:sp>
      <p:pic>
        <p:nvPicPr>
          <p:cNvPr id="4" name="Picture 3">
            <a:extLst>
              <a:ext uri="{FF2B5EF4-FFF2-40B4-BE49-F238E27FC236}">
                <a16:creationId xmlns:a16="http://schemas.microsoft.com/office/drawing/2014/main" id="{934B22F6-7D40-9919-D819-298FF74A46CB}"/>
              </a:ext>
            </a:extLst>
          </p:cNvPr>
          <p:cNvPicPr>
            <a:picLocks noChangeAspect="1"/>
          </p:cNvPicPr>
          <p:nvPr/>
        </p:nvPicPr>
        <p:blipFill>
          <a:blip r:embed="rId3"/>
          <a:stretch>
            <a:fillRect/>
          </a:stretch>
        </p:blipFill>
        <p:spPr>
          <a:xfrm>
            <a:off x="851535" y="2256154"/>
            <a:ext cx="9848850" cy="4010025"/>
          </a:xfrm>
          <a:prstGeom prst="rect">
            <a:avLst/>
          </a:prstGeom>
        </p:spPr>
      </p:pic>
    </p:spTree>
    <p:extLst>
      <p:ext uri="{BB962C8B-B14F-4D97-AF65-F5344CB8AC3E}">
        <p14:creationId xmlns:p14="http://schemas.microsoft.com/office/powerpoint/2010/main" val="1214902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A5D0D2C1-A9BA-2622-A087-9DA60613AC2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2C54F5C-4632-D19F-F860-9B2A2674D652}"/>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26689F18-5E87-DD4F-946E-0D1452720314}"/>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B12FD1A-B249-972E-5383-CF4617319123}"/>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C005E560-3A72-FD86-01B4-4E4EB178BBE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Iteration Space Graph</a:t>
            </a:r>
          </a:p>
        </p:txBody>
      </p:sp>
      <p:pic>
        <p:nvPicPr>
          <p:cNvPr id="3" name="Picture 2">
            <a:extLst>
              <a:ext uri="{FF2B5EF4-FFF2-40B4-BE49-F238E27FC236}">
                <a16:creationId xmlns:a16="http://schemas.microsoft.com/office/drawing/2014/main" id="{B5CC451D-DFF7-D41A-0A65-6546EFE6DC77}"/>
              </a:ext>
            </a:extLst>
          </p:cNvPr>
          <p:cNvPicPr>
            <a:picLocks noChangeAspect="1"/>
          </p:cNvPicPr>
          <p:nvPr/>
        </p:nvPicPr>
        <p:blipFill>
          <a:blip r:embed="rId3"/>
          <a:stretch>
            <a:fillRect/>
          </a:stretch>
        </p:blipFill>
        <p:spPr>
          <a:xfrm>
            <a:off x="960501" y="2362124"/>
            <a:ext cx="7486650" cy="3895725"/>
          </a:xfrm>
          <a:prstGeom prst="rect">
            <a:avLst/>
          </a:prstGeom>
        </p:spPr>
      </p:pic>
      <p:sp>
        <p:nvSpPr>
          <p:cNvPr id="2" name="Oval 1">
            <a:extLst>
              <a:ext uri="{FF2B5EF4-FFF2-40B4-BE49-F238E27FC236}">
                <a16:creationId xmlns:a16="http://schemas.microsoft.com/office/drawing/2014/main" id="{FE9E1706-5AB1-EE31-18A4-43D161AF766E}"/>
              </a:ext>
            </a:extLst>
          </p:cNvPr>
          <p:cNvSpPr/>
          <p:nvPr/>
        </p:nvSpPr>
        <p:spPr>
          <a:xfrm>
            <a:off x="6933063" y="2988860"/>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AB7BE9AC-40EE-0B03-56D6-085529527FD2}"/>
              </a:ext>
            </a:extLst>
          </p:cNvPr>
          <p:cNvSpPr/>
          <p:nvPr/>
        </p:nvSpPr>
        <p:spPr>
          <a:xfrm>
            <a:off x="7649164" y="2988860"/>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2DC4108-0486-F4EB-EE08-49C42613624D}"/>
              </a:ext>
            </a:extLst>
          </p:cNvPr>
          <p:cNvSpPr/>
          <p:nvPr/>
        </p:nvSpPr>
        <p:spPr>
          <a:xfrm>
            <a:off x="8491303" y="2975212"/>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71E1D1-0A67-9FA2-CE2F-36B22F789697}"/>
              </a:ext>
            </a:extLst>
          </p:cNvPr>
          <p:cNvSpPr/>
          <p:nvPr/>
        </p:nvSpPr>
        <p:spPr>
          <a:xfrm>
            <a:off x="9184090" y="2975212"/>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EF292EF-D9DA-9FF9-8629-7E6D64048CDA}"/>
              </a:ext>
            </a:extLst>
          </p:cNvPr>
          <p:cNvSpPr/>
          <p:nvPr/>
        </p:nvSpPr>
        <p:spPr>
          <a:xfrm>
            <a:off x="9899775" y="2955650"/>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FB1AB71-91BB-C362-34D1-EDE0B9D5B2D9}"/>
              </a:ext>
            </a:extLst>
          </p:cNvPr>
          <p:cNvSpPr/>
          <p:nvPr/>
        </p:nvSpPr>
        <p:spPr>
          <a:xfrm>
            <a:off x="6950702" y="3636903"/>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53907EC-0742-A1E2-1CF5-CE89B91C2A8C}"/>
              </a:ext>
            </a:extLst>
          </p:cNvPr>
          <p:cNvSpPr/>
          <p:nvPr/>
        </p:nvSpPr>
        <p:spPr>
          <a:xfrm>
            <a:off x="7666803" y="3636903"/>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3014652-C8C0-9DEF-785A-66D9388AAE7C}"/>
              </a:ext>
            </a:extLst>
          </p:cNvPr>
          <p:cNvSpPr/>
          <p:nvPr/>
        </p:nvSpPr>
        <p:spPr>
          <a:xfrm>
            <a:off x="8508942" y="3623255"/>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C6FB1EE-F7FD-A126-4D8D-E72C4F0369DD}"/>
              </a:ext>
            </a:extLst>
          </p:cNvPr>
          <p:cNvSpPr/>
          <p:nvPr/>
        </p:nvSpPr>
        <p:spPr>
          <a:xfrm>
            <a:off x="9201729" y="3623255"/>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6FCC45B-C583-6602-8A09-0B18ECF1602C}"/>
              </a:ext>
            </a:extLst>
          </p:cNvPr>
          <p:cNvSpPr/>
          <p:nvPr/>
        </p:nvSpPr>
        <p:spPr>
          <a:xfrm>
            <a:off x="9917414" y="3603693"/>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043A45A-9BC1-F8F6-A864-A16EDEB36DE7}"/>
              </a:ext>
            </a:extLst>
          </p:cNvPr>
          <p:cNvSpPr/>
          <p:nvPr/>
        </p:nvSpPr>
        <p:spPr>
          <a:xfrm>
            <a:off x="6950702" y="4259641"/>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DFADB0E-4D9F-554F-B367-4F65D76D420D}"/>
              </a:ext>
            </a:extLst>
          </p:cNvPr>
          <p:cNvSpPr/>
          <p:nvPr/>
        </p:nvSpPr>
        <p:spPr>
          <a:xfrm>
            <a:off x="7666803" y="4259641"/>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7F8CCC5-BADC-CD56-190D-5A84FCA84688}"/>
              </a:ext>
            </a:extLst>
          </p:cNvPr>
          <p:cNvSpPr/>
          <p:nvPr/>
        </p:nvSpPr>
        <p:spPr>
          <a:xfrm>
            <a:off x="8508942" y="4245993"/>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9B47E43-DFCA-6D87-BBF2-A062100DA09B}"/>
              </a:ext>
            </a:extLst>
          </p:cNvPr>
          <p:cNvSpPr/>
          <p:nvPr/>
        </p:nvSpPr>
        <p:spPr>
          <a:xfrm>
            <a:off x="9201729" y="4245993"/>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C78F6F5-A3AD-BCA5-E306-B007B816B2B1}"/>
              </a:ext>
            </a:extLst>
          </p:cNvPr>
          <p:cNvSpPr/>
          <p:nvPr/>
        </p:nvSpPr>
        <p:spPr>
          <a:xfrm>
            <a:off x="9917414" y="4226431"/>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68DAFED-34ED-7A06-1507-5F167BD97E69}"/>
              </a:ext>
            </a:extLst>
          </p:cNvPr>
          <p:cNvSpPr/>
          <p:nvPr/>
        </p:nvSpPr>
        <p:spPr>
          <a:xfrm>
            <a:off x="6950702" y="4921458"/>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B79DFFE-9FE5-BC48-91B9-AFC881F3005C}"/>
              </a:ext>
            </a:extLst>
          </p:cNvPr>
          <p:cNvSpPr/>
          <p:nvPr/>
        </p:nvSpPr>
        <p:spPr>
          <a:xfrm>
            <a:off x="7666803" y="4921458"/>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507545D-CDF8-E0D4-8956-4836C32993DF}"/>
              </a:ext>
            </a:extLst>
          </p:cNvPr>
          <p:cNvSpPr/>
          <p:nvPr/>
        </p:nvSpPr>
        <p:spPr>
          <a:xfrm>
            <a:off x="8508942" y="4907810"/>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7398341-F779-9CF0-B4D4-40768112B1F1}"/>
              </a:ext>
            </a:extLst>
          </p:cNvPr>
          <p:cNvSpPr/>
          <p:nvPr/>
        </p:nvSpPr>
        <p:spPr>
          <a:xfrm>
            <a:off x="9201729" y="4907810"/>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AF10F0A-36A5-CC5A-5547-A56C1D91B597}"/>
              </a:ext>
            </a:extLst>
          </p:cNvPr>
          <p:cNvSpPr/>
          <p:nvPr/>
        </p:nvSpPr>
        <p:spPr>
          <a:xfrm>
            <a:off x="9917414" y="4888248"/>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D3342EB-B6E1-21F3-1527-9684EF7FAF4C}"/>
              </a:ext>
            </a:extLst>
          </p:cNvPr>
          <p:cNvSpPr/>
          <p:nvPr/>
        </p:nvSpPr>
        <p:spPr>
          <a:xfrm>
            <a:off x="6950702" y="5689789"/>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5EF28C5-A181-94A1-9C8D-7351B360A56A}"/>
              </a:ext>
            </a:extLst>
          </p:cNvPr>
          <p:cNvSpPr/>
          <p:nvPr/>
        </p:nvSpPr>
        <p:spPr>
          <a:xfrm>
            <a:off x="7666803" y="5689789"/>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D13EA06-5DBE-2DCB-3164-AA07FED991F2}"/>
              </a:ext>
            </a:extLst>
          </p:cNvPr>
          <p:cNvSpPr/>
          <p:nvPr/>
        </p:nvSpPr>
        <p:spPr>
          <a:xfrm>
            <a:off x="8508942" y="5676141"/>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65F9F96-BF50-C038-5493-5F74BDD4888C}"/>
              </a:ext>
            </a:extLst>
          </p:cNvPr>
          <p:cNvSpPr/>
          <p:nvPr/>
        </p:nvSpPr>
        <p:spPr>
          <a:xfrm>
            <a:off x="9201729" y="5676141"/>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40699B8-1C4B-AD43-ECFB-C843E6B5AB2D}"/>
              </a:ext>
            </a:extLst>
          </p:cNvPr>
          <p:cNvSpPr/>
          <p:nvPr/>
        </p:nvSpPr>
        <p:spPr>
          <a:xfrm>
            <a:off x="9917414" y="5656579"/>
            <a:ext cx="272955" cy="313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30DE9D1-3F6E-A006-740D-90955E86760C}"/>
              </a:ext>
            </a:extLst>
          </p:cNvPr>
          <p:cNvSpPr txBox="1"/>
          <p:nvPr/>
        </p:nvSpPr>
        <p:spPr>
          <a:xfrm>
            <a:off x="5921966" y="4209335"/>
            <a:ext cx="863600" cy="313898"/>
          </a:xfrm>
          <a:prstGeom prst="rect">
            <a:avLst/>
          </a:prstGeom>
          <a:noFill/>
        </p:spPr>
        <p:txBody>
          <a:bodyPr wrap="square" rtlCol="0">
            <a:spAutoFit/>
          </a:bodyPr>
          <a:lstStyle/>
          <a:p>
            <a:r>
              <a:rPr lang="en-US" b="1" dirty="0" err="1"/>
              <a:t>i</a:t>
            </a:r>
            <a:r>
              <a:rPr lang="en-US" b="1" dirty="0"/>
              <a:t>=3</a:t>
            </a:r>
          </a:p>
        </p:txBody>
      </p:sp>
      <p:sp>
        <p:nvSpPr>
          <p:cNvPr id="29" name="TextBox 28">
            <a:extLst>
              <a:ext uri="{FF2B5EF4-FFF2-40B4-BE49-F238E27FC236}">
                <a16:creationId xmlns:a16="http://schemas.microsoft.com/office/drawing/2014/main" id="{C48E0B68-D811-FFE2-BAB5-FCC5B43E69E0}"/>
              </a:ext>
            </a:extLst>
          </p:cNvPr>
          <p:cNvSpPr txBox="1"/>
          <p:nvPr/>
        </p:nvSpPr>
        <p:spPr>
          <a:xfrm>
            <a:off x="5901333" y="3636903"/>
            <a:ext cx="863600" cy="313898"/>
          </a:xfrm>
          <a:prstGeom prst="rect">
            <a:avLst/>
          </a:prstGeom>
          <a:noFill/>
        </p:spPr>
        <p:txBody>
          <a:bodyPr wrap="square" rtlCol="0">
            <a:spAutoFit/>
          </a:bodyPr>
          <a:lstStyle/>
          <a:p>
            <a:r>
              <a:rPr lang="en-US" b="1" dirty="0" err="1"/>
              <a:t>i</a:t>
            </a:r>
            <a:r>
              <a:rPr lang="en-US" b="1" dirty="0"/>
              <a:t>=1</a:t>
            </a:r>
          </a:p>
        </p:txBody>
      </p:sp>
      <p:sp>
        <p:nvSpPr>
          <p:cNvPr id="30" name="TextBox 29">
            <a:extLst>
              <a:ext uri="{FF2B5EF4-FFF2-40B4-BE49-F238E27FC236}">
                <a16:creationId xmlns:a16="http://schemas.microsoft.com/office/drawing/2014/main" id="{15EFDDD7-F798-B227-3CAE-879ECAEBAB2D}"/>
              </a:ext>
            </a:extLst>
          </p:cNvPr>
          <p:cNvSpPr txBox="1"/>
          <p:nvPr/>
        </p:nvSpPr>
        <p:spPr>
          <a:xfrm>
            <a:off x="6042152" y="3141260"/>
            <a:ext cx="863600" cy="313898"/>
          </a:xfrm>
          <a:prstGeom prst="rect">
            <a:avLst/>
          </a:prstGeom>
          <a:noFill/>
        </p:spPr>
        <p:txBody>
          <a:bodyPr wrap="square" rtlCol="0">
            <a:spAutoFit/>
          </a:bodyPr>
          <a:lstStyle/>
          <a:p>
            <a:r>
              <a:rPr lang="en-US" b="1" dirty="0" err="1"/>
              <a:t>i</a:t>
            </a:r>
            <a:r>
              <a:rPr lang="en-US" b="1" dirty="0"/>
              <a:t>=1</a:t>
            </a:r>
          </a:p>
        </p:txBody>
      </p:sp>
      <p:sp>
        <p:nvSpPr>
          <p:cNvPr id="31" name="TextBox 30">
            <a:extLst>
              <a:ext uri="{FF2B5EF4-FFF2-40B4-BE49-F238E27FC236}">
                <a16:creationId xmlns:a16="http://schemas.microsoft.com/office/drawing/2014/main" id="{B9FCBAAA-5D09-551E-E935-5D67A3ACCC37}"/>
              </a:ext>
            </a:extLst>
          </p:cNvPr>
          <p:cNvSpPr txBox="1"/>
          <p:nvPr/>
        </p:nvSpPr>
        <p:spPr>
          <a:xfrm>
            <a:off x="6025311" y="4888248"/>
            <a:ext cx="863600" cy="313898"/>
          </a:xfrm>
          <a:prstGeom prst="rect">
            <a:avLst/>
          </a:prstGeom>
          <a:noFill/>
        </p:spPr>
        <p:txBody>
          <a:bodyPr wrap="square" rtlCol="0">
            <a:spAutoFit/>
          </a:bodyPr>
          <a:lstStyle/>
          <a:p>
            <a:r>
              <a:rPr lang="en-US" b="1" dirty="0" err="1"/>
              <a:t>i</a:t>
            </a:r>
            <a:r>
              <a:rPr lang="en-US" b="1" dirty="0"/>
              <a:t>=4</a:t>
            </a:r>
          </a:p>
        </p:txBody>
      </p:sp>
      <p:sp>
        <p:nvSpPr>
          <p:cNvPr id="32" name="TextBox 31">
            <a:extLst>
              <a:ext uri="{FF2B5EF4-FFF2-40B4-BE49-F238E27FC236}">
                <a16:creationId xmlns:a16="http://schemas.microsoft.com/office/drawing/2014/main" id="{BCA6F91A-BAF5-8474-E256-455B2AB4B870}"/>
              </a:ext>
            </a:extLst>
          </p:cNvPr>
          <p:cNvSpPr txBox="1"/>
          <p:nvPr/>
        </p:nvSpPr>
        <p:spPr>
          <a:xfrm>
            <a:off x="6094476" y="5813528"/>
            <a:ext cx="863600" cy="313898"/>
          </a:xfrm>
          <a:prstGeom prst="rect">
            <a:avLst/>
          </a:prstGeom>
          <a:noFill/>
        </p:spPr>
        <p:txBody>
          <a:bodyPr wrap="square" rtlCol="0">
            <a:spAutoFit/>
          </a:bodyPr>
          <a:lstStyle/>
          <a:p>
            <a:r>
              <a:rPr lang="en-US" b="1" dirty="0" err="1"/>
              <a:t>i</a:t>
            </a:r>
            <a:r>
              <a:rPr lang="en-US" b="1" dirty="0"/>
              <a:t>=1</a:t>
            </a:r>
          </a:p>
        </p:txBody>
      </p:sp>
      <p:cxnSp>
        <p:nvCxnSpPr>
          <p:cNvPr id="34" name="Straight Arrow Connector 33">
            <a:extLst>
              <a:ext uri="{FF2B5EF4-FFF2-40B4-BE49-F238E27FC236}">
                <a16:creationId xmlns:a16="http://schemas.microsoft.com/office/drawing/2014/main" id="{E6E5C550-25CB-A308-5A6D-1F1B8FB1A9F6}"/>
              </a:ext>
            </a:extLst>
          </p:cNvPr>
          <p:cNvCxnSpPr/>
          <p:nvPr/>
        </p:nvCxnSpPr>
        <p:spPr>
          <a:xfrm>
            <a:off x="7223657" y="3141260"/>
            <a:ext cx="42550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9FD508E-B0F6-F60E-05E4-29EF524CE519}"/>
              </a:ext>
            </a:extLst>
          </p:cNvPr>
          <p:cNvCxnSpPr/>
          <p:nvPr/>
        </p:nvCxnSpPr>
        <p:spPr>
          <a:xfrm>
            <a:off x="8021644" y="3141260"/>
            <a:ext cx="42550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3A323C5-77E1-C2D6-A98F-25AF42A00FCF}"/>
              </a:ext>
            </a:extLst>
          </p:cNvPr>
          <p:cNvCxnSpPr/>
          <p:nvPr/>
        </p:nvCxnSpPr>
        <p:spPr>
          <a:xfrm>
            <a:off x="8776222" y="3141260"/>
            <a:ext cx="42550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84542C1-3E2B-4385-8A4C-7B10B6F6C59D}"/>
              </a:ext>
            </a:extLst>
          </p:cNvPr>
          <p:cNvCxnSpPr/>
          <p:nvPr/>
        </p:nvCxnSpPr>
        <p:spPr>
          <a:xfrm>
            <a:off x="9491907" y="3141260"/>
            <a:ext cx="42550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778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B4C6FEF2-CC91-DA01-13F9-7EA7642D67AC}"/>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4A3F688-773A-626B-EB30-D09D2080A6A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AB246C2F-96DA-7660-B295-0F1B0F378B1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77280C6D-6C20-32A5-3AF6-CDD884442FA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37BA73D-BDD4-A801-60FF-E9FD5C0390D7}"/>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Iteration Vector Ordering</a:t>
            </a:r>
          </a:p>
        </p:txBody>
      </p:sp>
      <p:pic>
        <p:nvPicPr>
          <p:cNvPr id="4" name="Picture 3">
            <a:extLst>
              <a:ext uri="{FF2B5EF4-FFF2-40B4-BE49-F238E27FC236}">
                <a16:creationId xmlns:a16="http://schemas.microsoft.com/office/drawing/2014/main" id="{20AC8B43-5412-E433-FA1E-7D45D6AD0E02}"/>
              </a:ext>
            </a:extLst>
          </p:cNvPr>
          <p:cNvPicPr>
            <a:picLocks noChangeAspect="1"/>
          </p:cNvPicPr>
          <p:nvPr/>
        </p:nvPicPr>
        <p:blipFill>
          <a:blip r:embed="rId3"/>
          <a:stretch>
            <a:fillRect/>
          </a:stretch>
        </p:blipFill>
        <p:spPr>
          <a:xfrm>
            <a:off x="857663" y="2268207"/>
            <a:ext cx="7570719" cy="4467730"/>
          </a:xfrm>
          <a:prstGeom prst="rect">
            <a:avLst/>
          </a:prstGeom>
        </p:spPr>
      </p:pic>
    </p:spTree>
    <p:extLst>
      <p:ext uri="{BB962C8B-B14F-4D97-AF65-F5344CB8AC3E}">
        <p14:creationId xmlns:p14="http://schemas.microsoft.com/office/powerpoint/2010/main" val="95359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1C9EEACC-C9C1-F8AB-0A88-2E695454F2E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FFACD56-C061-547F-C1CA-FBE825B881E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FA1CE9DD-91E4-0424-3A2B-CC0D48A02100}"/>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3C5AAC1-28F1-9BA1-9F02-BDBCEE3D6F8C}"/>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D5469611-8037-AEB5-446E-F8F23C10ACE1}"/>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Lexicographic Ordering of Iteration Vectors</a:t>
            </a:r>
          </a:p>
        </p:txBody>
      </p:sp>
      <p:pic>
        <p:nvPicPr>
          <p:cNvPr id="3" name="Picture 2">
            <a:extLst>
              <a:ext uri="{FF2B5EF4-FFF2-40B4-BE49-F238E27FC236}">
                <a16:creationId xmlns:a16="http://schemas.microsoft.com/office/drawing/2014/main" id="{786785E6-704C-1A8D-3992-99210A486989}"/>
              </a:ext>
            </a:extLst>
          </p:cNvPr>
          <p:cNvPicPr>
            <a:picLocks noChangeAspect="1"/>
          </p:cNvPicPr>
          <p:nvPr/>
        </p:nvPicPr>
        <p:blipFill>
          <a:blip r:embed="rId3"/>
          <a:stretch>
            <a:fillRect/>
          </a:stretch>
        </p:blipFill>
        <p:spPr>
          <a:xfrm>
            <a:off x="2097599" y="2302489"/>
            <a:ext cx="8119827" cy="4349631"/>
          </a:xfrm>
          <a:prstGeom prst="rect">
            <a:avLst/>
          </a:prstGeom>
        </p:spPr>
      </p:pic>
    </p:spTree>
    <p:extLst>
      <p:ext uri="{BB962C8B-B14F-4D97-AF65-F5344CB8AC3E}">
        <p14:creationId xmlns:p14="http://schemas.microsoft.com/office/powerpoint/2010/main" val="48248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4239B8CE-2AD0-A6DD-0F2D-6A7DF2321E0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4EBDEE1B-3CF3-28C6-584F-07B5B93BCA0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B19F2303-3774-2C2D-6309-174704EA6B1E}"/>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76B4F04-3F4A-AB75-8D35-9193A6272A2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8AB4441-6C31-E7E8-CB65-CBC94030335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238671F4-C200-4C9D-B163-69B562536C6C}"/>
              </a:ext>
            </a:extLst>
          </p:cNvPr>
          <p:cNvPicPr>
            <a:picLocks noChangeAspect="1"/>
          </p:cNvPicPr>
          <p:nvPr/>
        </p:nvPicPr>
        <p:blipFill>
          <a:blip r:embed="rId3"/>
          <a:stretch>
            <a:fillRect/>
          </a:stretch>
        </p:blipFill>
        <p:spPr>
          <a:xfrm>
            <a:off x="567392" y="2586796"/>
            <a:ext cx="11057215" cy="3138143"/>
          </a:xfrm>
          <a:prstGeom prst="rect">
            <a:avLst/>
          </a:prstGeom>
        </p:spPr>
      </p:pic>
    </p:spTree>
    <p:extLst>
      <p:ext uri="{BB962C8B-B14F-4D97-AF65-F5344CB8AC3E}">
        <p14:creationId xmlns:p14="http://schemas.microsoft.com/office/powerpoint/2010/main" val="518640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4982EC38-2B20-3A8D-A5CA-CD9D9E64E63A}"/>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664E59F-2862-2E4C-2468-E372D94B629F}"/>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F3222F5E-E538-5639-0B2A-5C44C8A6651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7793B7AC-AECB-73E4-FEA2-67CEDD470B1A}"/>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FCFB00BC-3AE6-BD2E-CBCE-9AE6CE54D3C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Loop-Independent Dependences</a:t>
            </a:r>
          </a:p>
        </p:txBody>
      </p:sp>
      <p:pic>
        <p:nvPicPr>
          <p:cNvPr id="4" name="Picture 3">
            <a:extLst>
              <a:ext uri="{FF2B5EF4-FFF2-40B4-BE49-F238E27FC236}">
                <a16:creationId xmlns:a16="http://schemas.microsoft.com/office/drawing/2014/main" id="{14A09B9B-D545-3BEC-578E-310F9A1F9C4B}"/>
              </a:ext>
            </a:extLst>
          </p:cNvPr>
          <p:cNvPicPr>
            <a:picLocks noChangeAspect="1"/>
          </p:cNvPicPr>
          <p:nvPr/>
        </p:nvPicPr>
        <p:blipFill>
          <a:blip r:embed="rId3"/>
          <a:stretch>
            <a:fillRect/>
          </a:stretch>
        </p:blipFill>
        <p:spPr>
          <a:xfrm>
            <a:off x="888682" y="2362124"/>
            <a:ext cx="9286875" cy="3952875"/>
          </a:xfrm>
          <a:prstGeom prst="rect">
            <a:avLst/>
          </a:prstGeom>
        </p:spPr>
      </p:pic>
    </p:spTree>
    <p:extLst>
      <p:ext uri="{BB962C8B-B14F-4D97-AF65-F5344CB8AC3E}">
        <p14:creationId xmlns:p14="http://schemas.microsoft.com/office/powerpoint/2010/main" val="1374131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5868F9F-029D-8D55-3C64-8DFD382114F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4C31211-EC90-30B2-7CA9-D8ED3CA86039}"/>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A4EC0A2-FB83-58E4-F0C1-8E46F1BE0FF8}"/>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9A1DA51-5A17-479A-F2FF-7A4FE65E5F7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FFC3E3C-F2D7-CFF8-5167-9C31242C4BD7}"/>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Loop-Carried Dependences</a:t>
            </a:r>
          </a:p>
        </p:txBody>
      </p:sp>
      <p:pic>
        <p:nvPicPr>
          <p:cNvPr id="3" name="Picture 2">
            <a:extLst>
              <a:ext uri="{FF2B5EF4-FFF2-40B4-BE49-F238E27FC236}">
                <a16:creationId xmlns:a16="http://schemas.microsoft.com/office/drawing/2014/main" id="{159CEB47-8344-5599-6BFA-2B7AE2E19D97}"/>
              </a:ext>
            </a:extLst>
          </p:cNvPr>
          <p:cNvPicPr>
            <a:picLocks noChangeAspect="1"/>
          </p:cNvPicPr>
          <p:nvPr/>
        </p:nvPicPr>
        <p:blipFill>
          <a:blip r:embed="rId3"/>
          <a:stretch>
            <a:fillRect/>
          </a:stretch>
        </p:blipFill>
        <p:spPr>
          <a:xfrm>
            <a:off x="935355" y="2362124"/>
            <a:ext cx="8705850" cy="3990975"/>
          </a:xfrm>
          <a:prstGeom prst="rect">
            <a:avLst/>
          </a:prstGeom>
        </p:spPr>
      </p:pic>
    </p:spTree>
    <p:extLst>
      <p:ext uri="{BB962C8B-B14F-4D97-AF65-F5344CB8AC3E}">
        <p14:creationId xmlns:p14="http://schemas.microsoft.com/office/powerpoint/2010/main" val="1902296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6D2D656-6347-DEE2-EE65-A5A6D6DFCBB5}"/>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1F5A648-2840-E73C-2E10-EF9BC599D67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C35FC8C-7E63-0200-FD9A-FE2FA2AD72A9}"/>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7229432B-510F-6567-675F-7FEAD89E1C4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6ADE6E7-1657-8089-02F4-039C21836A48}"/>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9C800610-5E46-45AB-FCF4-9FCE5E2A991C}"/>
              </a:ext>
            </a:extLst>
          </p:cNvPr>
          <p:cNvPicPr>
            <a:picLocks noChangeAspect="1"/>
          </p:cNvPicPr>
          <p:nvPr/>
        </p:nvPicPr>
        <p:blipFill>
          <a:blip r:embed="rId3"/>
          <a:stretch>
            <a:fillRect/>
          </a:stretch>
        </p:blipFill>
        <p:spPr>
          <a:xfrm>
            <a:off x="597824" y="2586796"/>
            <a:ext cx="10996352" cy="3654978"/>
          </a:xfrm>
          <a:prstGeom prst="rect">
            <a:avLst/>
          </a:prstGeom>
        </p:spPr>
      </p:pic>
    </p:spTree>
    <p:extLst>
      <p:ext uri="{BB962C8B-B14F-4D97-AF65-F5344CB8AC3E}">
        <p14:creationId xmlns:p14="http://schemas.microsoft.com/office/powerpoint/2010/main" val="190237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1189834-FBF5-9608-C92B-673BF8A479AA}"/>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01BA8B17-0419-82EE-4A60-BD7D4385AE7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D3F5BB70-B562-6E55-D3BC-7B675A40DF29}"/>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2CB9CBD2-7312-97CC-04CA-E5748C6EAAA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83972AD-11BC-CAAA-AF2A-0F8E6739EF2B}"/>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FA0409E5-366B-CFA6-3F07-97EFC9AD0ED4}"/>
              </a:ext>
            </a:extLst>
          </p:cNvPr>
          <p:cNvPicPr>
            <a:picLocks noChangeAspect="1"/>
          </p:cNvPicPr>
          <p:nvPr/>
        </p:nvPicPr>
        <p:blipFill>
          <a:blip r:embed="rId3"/>
          <a:stretch>
            <a:fillRect/>
          </a:stretch>
        </p:blipFill>
        <p:spPr>
          <a:xfrm>
            <a:off x="662567" y="2586796"/>
            <a:ext cx="10866865" cy="3694734"/>
          </a:xfrm>
          <a:prstGeom prst="rect">
            <a:avLst/>
          </a:prstGeom>
        </p:spPr>
      </p:pic>
    </p:spTree>
    <p:extLst>
      <p:ext uri="{BB962C8B-B14F-4D97-AF65-F5344CB8AC3E}">
        <p14:creationId xmlns:p14="http://schemas.microsoft.com/office/powerpoint/2010/main" val="2260716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A189CCAE-616E-06EE-A7AD-8ABE5EF2F8A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CDEA7869-4CE8-C0B2-0D40-214FBAD98A1B}"/>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2EAA1457-2A72-5BA5-2129-7A37A6B22E1C}"/>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F787CE4D-51CF-C039-1DEB-6A8850B23AA4}"/>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86360D3B-40F1-DD5B-0FE1-CFD267339E03}"/>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6" name="Picture 5">
            <a:extLst>
              <a:ext uri="{FF2B5EF4-FFF2-40B4-BE49-F238E27FC236}">
                <a16:creationId xmlns:a16="http://schemas.microsoft.com/office/drawing/2014/main" id="{42AFBBAE-4BE2-FD2F-3E81-81CCBEE1B503}"/>
              </a:ext>
            </a:extLst>
          </p:cNvPr>
          <p:cNvPicPr>
            <a:picLocks noChangeAspect="1"/>
          </p:cNvPicPr>
          <p:nvPr/>
        </p:nvPicPr>
        <p:blipFill>
          <a:blip r:embed="rId3"/>
          <a:stretch>
            <a:fillRect/>
          </a:stretch>
        </p:blipFill>
        <p:spPr>
          <a:xfrm>
            <a:off x="478113" y="2656370"/>
            <a:ext cx="9725025" cy="2543175"/>
          </a:xfrm>
          <a:prstGeom prst="rect">
            <a:avLst/>
          </a:prstGeom>
        </p:spPr>
      </p:pic>
    </p:spTree>
    <p:extLst>
      <p:ext uri="{BB962C8B-B14F-4D97-AF65-F5344CB8AC3E}">
        <p14:creationId xmlns:p14="http://schemas.microsoft.com/office/powerpoint/2010/main" val="3741545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2FB1CE2-C97E-F50A-F782-02CA665E13A1}"/>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EA2FDA53-F4C5-4439-80FE-2C117C63F50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CBBF6DB-0DA6-BF72-2FF2-21170D617CC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2A9E4EE9-5234-F18B-FBDD-063B5A8A051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B30BAD3-DCCC-2DDA-B725-F7C0D08C5A9F}"/>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Distance Vectors</a:t>
            </a:r>
          </a:p>
        </p:txBody>
      </p:sp>
      <p:pic>
        <p:nvPicPr>
          <p:cNvPr id="4" name="Picture 3">
            <a:extLst>
              <a:ext uri="{FF2B5EF4-FFF2-40B4-BE49-F238E27FC236}">
                <a16:creationId xmlns:a16="http://schemas.microsoft.com/office/drawing/2014/main" id="{448C12C1-067B-C7D1-F341-AA408C601291}"/>
              </a:ext>
            </a:extLst>
          </p:cNvPr>
          <p:cNvPicPr>
            <a:picLocks noChangeAspect="1"/>
          </p:cNvPicPr>
          <p:nvPr/>
        </p:nvPicPr>
        <p:blipFill>
          <a:blip r:embed="rId3"/>
          <a:stretch>
            <a:fillRect/>
          </a:stretch>
        </p:blipFill>
        <p:spPr>
          <a:xfrm>
            <a:off x="906780" y="2362124"/>
            <a:ext cx="10134600" cy="3505200"/>
          </a:xfrm>
          <a:prstGeom prst="rect">
            <a:avLst/>
          </a:prstGeom>
        </p:spPr>
      </p:pic>
    </p:spTree>
    <p:extLst>
      <p:ext uri="{BB962C8B-B14F-4D97-AF65-F5344CB8AC3E}">
        <p14:creationId xmlns:p14="http://schemas.microsoft.com/office/powerpoint/2010/main" val="1353638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82C121ED-71E6-5485-EE42-CC8102B5E1D6}"/>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E13304D6-8E2E-E496-69A3-11572021D642}"/>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D638DADA-AC6C-AA57-7522-846B392D5C21}"/>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2A9E4227-252A-2AA6-C18D-DF5ADF36926E}"/>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3EC4BD3-3AAD-93AC-57BF-81C7443E2881}"/>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9E9B70F5-C0A7-8E53-D06E-86BA2CEC6323}"/>
              </a:ext>
            </a:extLst>
          </p:cNvPr>
          <p:cNvPicPr>
            <a:picLocks noChangeAspect="1"/>
          </p:cNvPicPr>
          <p:nvPr/>
        </p:nvPicPr>
        <p:blipFill>
          <a:blip r:embed="rId3"/>
          <a:stretch>
            <a:fillRect/>
          </a:stretch>
        </p:blipFill>
        <p:spPr>
          <a:xfrm>
            <a:off x="906946" y="2476500"/>
            <a:ext cx="10020300" cy="4000500"/>
          </a:xfrm>
          <a:prstGeom prst="rect">
            <a:avLst/>
          </a:prstGeom>
        </p:spPr>
      </p:pic>
    </p:spTree>
    <p:extLst>
      <p:ext uri="{BB962C8B-B14F-4D97-AF65-F5344CB8AC3E}">
        <p14:creationId xmlns:p14="http://schemas.microsoft.com/office/powerpoint/2010/main" val="1056969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A5DC427-E0EF-F036-88DF-E4FAB39EF3FF}"/>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0ED777D2-F9CE-7585-BE7F-EB1122962E6F}"/>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EB52F727-4E68-6E26-B88C-461200BC28A7}"/>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018F1B30-C599-CD93-2010-426A0590CAC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B2C0F2BB-DE1B-BCD7-DF78-0AFA2BCF779E}"/>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A7E941C9-9BEC-257B-8DCF-AFCC81A83D5D}"/>
              </a:ext>
            </a:extLst>
          </p:cNvPr>
          <p:cNvPicPr>
            <a:picLocks noChangeAspect="1"/>
          </p:cNvPicPr>
          <p:nvPr/>
        </p:nvPicPr>
        <p:blipFill>
          <a:blip r:embed="rId3"/>
          <a:stretch>
            <a:fillRect/>
          </a:stretch>
        </p:blipFill>
        <p:spPr>
          <a:xfrm>
            <a:off x="1093851" y="2315126"/>
            <a:ext cx="10001250" cy="4019550"/>
          </a:xfrm>
          <a:prstGeom prst="rect">
            <a:avLst/>
          </a:prstGeom>
        </p:spPr>
      </p:pic>
    </p:spTree>
    <p:extLst>
      <p:ext uri="{BB962C8B-B14F-4D97-AF65-F5344CB8AC3E}">
        <p14:creationId xmlns:p14="http://schemas.microsoft.com/office/powerpoint/2010/main" val="4043263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9ED224D2-ADF8-0545-620E-B3940901D2B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E66DA843-4059-5C09-718F-02C2B33F63C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2BE0AAA9-4829-335B-3ABF-4979ABBB7931}"/>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BEAEDF4-B975-595F-F39A-CCAE065911CF}"/>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257D5773-04FE-F1BD-3CD3-DCA21C3B431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4E5A1BA7-3A44-F5D3-D944-DBFEAAFA2843}"/>
              </a:ext>
            </a:extLst>
          </p:cNvPr>
          <p:cNvPicPr>
            <a:picLocks noChangeAspect="1"/>
          </p:cNvPicPr>
          <p:nvPr/>
        </p:nvPicPr>
        <p:blipFill>
          <a:blip r:embed="rId3"/>
          <a:stretch>
            <a:fillRect/>
          </a:stretch>
        </p:blipFill>
        <p:spPr>
          <a:xfrm>
            <a:off x="2144914" y="2225674"/>
            <a:ext cx="7436408" cy="4649953"/>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EDEFEAF-D63E-F1DC-9865-98D0B7FD25D4}"/>
                  </a:ext>
                </a:extLst>
              </p14:cNvPr>
              <p14:cNvContentPartPr/>
              <p14:nvPr/>
            </p14:nvContentPartPr>
            <p14:xfrm>
              <a:off x="7175520" y="4680000"/>
              <a:ext cx="711720" cy="1663920"/>
            </p14:xfrm>
          </p:contentPart>
        </mc:Choice>
        <mc:Fallback xmlns="">
          <p:pic>
            <p:nvPicPr>
              <p:cNvPr id="2" name="Ink 1">
                <a:extLst>
                  <a:ext uri="{FF2B5EF4-FFF2-40B4-BE49-F238E27FC236}">
                    <a16:creationId xmlns:a16="http://schemas.microsoft.com/office/drawing/2014/main" id="{EEDEFEAF-D63E-F1DC-9865-98D0B7FD25D4}"/>
                  </a:ext>
                </a:extLst>
              </p:cNvPr>
              <p:cNvPicPr/>
              <p:nvPr/>
            </p:nvPicPr>
            <p:blipFill>
              <a:blip r:embed="rId5"/>
              <a:stretch>
                <a:fillRect/>
              </a:stretch>
            </p:blipFill>
            <p:spPr>
              <a:xfrm>
                <a:off x="7166160" y="4670640"/>
                <a:ext cx="730440" cy="1682640"/>
              </a:xfrm>
              <a:prstGeom prst="rect">
                <a:avLst/>
              </a:prstGeom>
            </p:spPr>
          </p:pic>
        </mc:Fallback>
      </mc:AlternateContent>
    </p:spTree>
    <p:extLst>
      <p:ext uri="{BB962C8B-B14F-4D97-AF65-F5344CB8AC3E}">
        <p14:creationId xmlns:p14="http://schemas.microsoft.com/office/powerpoint/2010/main" val="1289638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66EB8EE5-2548-6F8E-381B-18FBC00B3EA1}"/>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F1A2B99-CB7A-EB77-88FD-C582811E0699}"/>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1E08173-5F30-5114-4DD8-AF60E1786EC3}"/>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F652579-3A77-426E-F801-DED3F056124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6F5AE40F-D258-CD14-127D-CEBB8D8B3641}"/>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3B6FBB5E-69D5-8DD5-36E3-0614A2EF9116}"/>
              </a:ext>
            </a:extLst>
          </p:cNvPr>
          <p:cNvPicPr>
            <a:picLocks noChangeAspect="1"/>
          </p:cNvPicPr>
          <p:nvPr/>
        </p:nvPicPr>
        <p:blipFill>
          <a:blip r:embed="rId3"/>
          <a:stretch>
            <a:fillRect/>
          </a:stretch>
        </p:blipFill>
        <p:spPr>
          <a:xfrm>
            <a:off x="2516233" y="2305186"/>
            <a:ext cx="7159533" cy="4446180"/>
          </a:xfrm>
          <a:prstGeom prst="rect">
            <a:avLst/>
          </a:prstGeom>
        </p:spPr>
      </p:pic>
    </p:spTree>
    <p:extLst>
      <p:ext uri="{BB962C8B-B14F-4D97-AF65-F5344CB8AC3E}">
        <p14:creationId xmlns:p14="http://schemas.microsoft.com/office/powerpoint/2010/main" val="3243484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0D2C8A9A-1F45-8E4F-B4A3-9A9B8A88032A}"/>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0541A95-6E39-D854-F4ED-6754BD09710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A13E8B1-71B0-FE6E-3E5A-A7B45574A48F}"/>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2238C94C-53BB-7B7B-C556-4E627D8B28C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6F6A1D3F-071B-87FF-0F10-0D9FC8AC70E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17D70BB9-4537-6293-48A0-CF3758B84852}"/>
              </a:ext>
            </a:extLst>
          </p:cNvPr>
          <p:cNvPicPr>
            <a:picLocks noChangeAspect="1"/>
          </p:cNvPicPr>
          <p:nvPr/>
        </p:nvPicPr>
        <p:blipFill>
          <a:blip r:embed="rId3"/>
          <a:stretch>
            <a:fillRect/>
          </a:stretch>
        </p:blipFill>
        <p:spPr>
          <a:xfrm>
            <a:off x="2315817" y="2245552"/>
            <a:ext cx="7518338" cy="4592570"/>
          </a:xfrm>
          <a:prstGeom prst="rect">
            <a:avLst/>
          </a:prstGeom>
        </p:spPr>
      </p:pic>
    </p:spTree>
    <p:extLst>
      <p:ext uri="{BB962C8B-B14F-4D97-AF65-F5344CB8AC3E}">
        <p14:creationId xmlns:p14="http://schemas.microsoft.com/office/powerpoint/2010/main" val="1072558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917DACE-31EB-D697-2FC2-F87705EBF27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B877B42-42B7-9244-4EFA-16D25759E24B}"/>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19051EC-1C1B-5771-9310-C2FDD14D116E}"/>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FD3252D-B036-48EC-E0A6-286DA971789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37268AE-AF7E-2F80-838E-5B0BBAF084E4}"/>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7FF6C59C-CDC7-B9D1-EBE0-1E220DCFB76A}"/>
              </a:ext>
            </a:extLst>
          </p:cNvPr>
          <p:cNvPicPr>
            <a:picLocks noChangeAspect="1"/>
          </p:cNvPicPr>
          <p:nvPr/>
        </p:nvPicPr>
        <p:blipFill>
          <a:blip r:embed="rId3"/>
          <a:stretch>
            <a:fillRect/>
          </a:stretch>
        </p:blipFill>
        <p:spPr>
          <a:xfrm>
            <a:off x="2315780" y="2225674"/>
            <a:ext cx="7560440" cy="4632666"/>
          </a:xfrm>
          <a:prstGeom prst="rect">
            <a:avLst/>
          </a:prstGeom>
        </p:spPr>
      </p:pic>
    </p:spTree>
    <p:extLst>
      <p:ext uri="{BB962C8B-B14F-4D97-AF65-F5344CB8AC3E}">
        <p14:creationId xmlns:p14="http://schemas.microsoft.com/office/powerpoint/2010/main" val="1366996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2905B32-14E7-3B2A-923C-B1AA94503D0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C3F19910-64CE-9203-062E-B24E3591818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7A5DDEB-ED11-7429-D00D-2C8C44868669}"/>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10ACADF2-147E-B25C-56AC-84AD89967F2E}"/>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0658F3C8-93D9-F320-5114-326B5CB30102}"/>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29BE31C0-F7E6-94AB-A40E-ABA6A90DB522}"/>
              </a:ext>
            </a:extLst>
          </p:cNvPr>
          <p:cNvPicPr>
            <a:picLocks noChangeAspect="1"/>
          </p:cNvPicPr>
          <p:nvPr/>
        </p:nvPicPr>
        <p:blipFill>
          <a:blip r:embed="rId3"/>
          <a:stretch>
            <a:fillRect/>
          </a:stretch>
        </p:blipFill>
        <p:spPr>
          <a:xfrm>
            <a:off x="2253751" y="2301371"/>
            <a:ext cx="7639367" cy="4397603"/>
          </a:xfrm>
          <a:prstGeom prst="rect">
            <a:avLst/>
          </a:prstGeom>
        </p:spPr>
      </p:pic>
    </p:spTree>
    <p:extLst>
      <p:ext uri="{BB962C8B-B14F-4D97-AF65-F5344CB8AC3E}">
        <p14:creationId xmlns:p14="http://schemas.microsoft.com/office/powerpoint/2010/main" val="4226415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7AF1-B8AE-BEA5-CAC6-B0BB4811FF1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8CEFCFF-9F9A-EE00-C115-A9DF01CBE095}"/>
              </a:ext>
            </a:extLst>
          </p:cNvPr>
          <p:cNvSpPr>
            <a:spLocks noGrp="1"/>
          </p:cNvSpPr>
          <p:nvPr>
            <p:ph type="body" idx="1"/>
          </p:nvPr>
        </p:nvSpPr>
        <p:spPr/>
        <p:txBody>
          <a:bodyPr/>
          <a:lstStyle/>
          <a:p>
            <a:r>
              <a:rPr lang="en-US" dirty="0"/>
              <a:t>For(</a:t>
            </a:r>
            <a:r>
              <a:rPr lang="en-US" dirty="0" err="1"/>
              <a:t>i</a:t>
            </a:r>
            <a:r>
              <a:rPr lang="en-US" dirty="0"/>
              <a:t>=1 to 4)</a:t>
            </a:r>
          </a:p>
          <a:p>
            <a:r>
              <a:rPr lang="en-US" dirty="0"/>
              <a:t>For(j=1 to 6)</a:t>
            </a:r>
          </a:p>
          <a:p>
            <a:r>
              <a:rPr lang="en-US" dirty="0"/>
              <a:t>S1: A(</a:t>
            </a:r>
            <a:r>
              <a:rPr lang="en-US" dirty="0" err="1"/>
              <a:t>i,j</a:t>
            </a:r>
            <a:r>
              <a:rPr lang="en-US" dirty="0"/>
              <a:t>) = A(i-1,j) + A(i,j-1)</a:t>
            </a:r>
          </a:p>
        </p:txBody>
      </p:sp>
    </p:spTree>
    <p:extLst>
      <p:ext uri="{BB962C8B-B14F-4D97-AF65-F5344CB8AC3E}">
        <p14:creationId xmlns:p14="http://schemas.microsoft.com/office/powerpoint/2010/main" val="36784472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AF2A19A6-8283-D6E5-50E3-474AE8B5976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ED8E45A-1764-72AE-7BBA-C275DFF7B3F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ACD4A3AD-2F42-65A2-6F77-732D0EA07849}"/>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50BF961-E152-3E95-EEAD-1DA5A5FB064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785E6D84-CEE2-6FEE-4A28-FF15454DA0A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3E99300A-5756-96F6-3B3E-7E7D7C41053E}"/>
              </a:ext>
            </a:extLst>
          </p:cNvPr>
          <p:cNvPicPr>
            <a:picLocks noChangeAspect="1"/>
          </p:cNvPicPr>
          <p:nvPr/>
        </p:nvPicPr>
        <p:blipFill>
          <a:blip r:embed="rId3"/>
          <a:stretch>
            <a:fillRect/>
          </a:stretch>
        </p:blipFill>
        <p:spPr>
          <a:xfrm>
            <a:off x="2524125" y="2342246"/>
            <a:ext cx="7514397" cy="4343428"/>
          </a:xfrm>
          <a:prstGeom prst="rect">
            <a:avLst/>
          </a:prstGeom>
        </p:spPr>
      </p:pic>
    </p:spTree>
    <p:extLst>
      <p:ext uri="{BB962C8B-B14F-4D97-AF65-F5344CB8AC3E}">
        <p14:creationId xmlns:p14="http://schemas.microsoft.com/office/powerpoint/2010/main" val="7227828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7C6EEE1-8D43-6FE1-9DB5-83087BC111CE}"/>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E7AE1EC-7059-8801-A692-BE4BECC31E4A}"/>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D3D035C-9E5A-CA7E-493B-34DF54FFE090}"/>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A67C981-8CAF-8371-8982-F4683EE732D7}"/>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102633A-D7A2-7706-D9F4-4A86B278416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9CD211F0-CCC9-FFD1-B40D-AC36657B7C47}"/>
              </a:ext>
            </a:extLst>
          </p:cNvPr>
          <p:cNvPicPr>
            <a:picLocks noChangeAspect="1"/>
          </p:cNvPicPr>
          <p:nvPr/>
        </p:nvPicPr>
        <p:blipFill>
          <a:blip r:embed="rId3"/>
          <a:stretch>
            <a:fillRect/>
          </a:stretch>
        </p:blipFill>
        <p:spPr>
          <a:xfrm>
            <a:off x="2307460" y="2191641"/>
            <a:ext cx="7574032" cy="4646481"/>
          </a:xfrm>
          <a:prstGeom prst="rect">
            <a:avLst/>
          </a:prstGeom>
        </p:spPr>
      </p:pic>
    </p:spTree>
    <p:extLst>
      <p:ext uri="{BB962C8B-B14F-4D97-AF65-F5344CB8AC3E}">
        <p14:creationId xmlns:p14="http://schemas.microsoft.com/office/powerpoint/2010/main" val="3545061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82294722-8213-3817-DE46-4BC956EBCC55}"/>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5411E2E-5A93-EC21-776F-8A18876088CD}"/>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2F335D66-8E44-D617-E091-278EED5982F8}"/>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5C3D1438-7B3B-8EC1-5285-94B2E85B560D}"/>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67375EBC-0BFA-2700-1D25-F8FA4167EEDF}"/>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4" name="Picture 3">
            <a:extLst>
              <a:ext uri="{FF2B5EF4-FFF2-40B4-BE49-F238E27FC236}">
                <a16:creationId xmlns:a16="http://schemas.microsoft.com/office/drawing/2014/main" id="{438CF19C-959E-3649-336A-7549BD0AE41A}"/>
              </a:ext>
            </a:extLst>
          </p:cNvPr>
          <p:cNvPicPr>
            <a:picLocks noChangeAspect="1"/>
          </p:cNvPicPr>
          <p:nvPr/>
        </p:nvPicPr>
        <p:blipFill>
          <a:blip r:embed="rId3"/>
          <a:stretch>
            <a:fillRect/>
          </a:stretch>
        </p:blipFill>
        <p:spPr>
          <a:xfrm>
            <a:off x="2278389" y="2225674"/>
            <a:ext cx="7842803" cy="4543994"/>
          </a:xfrm>
          <a:prstGeom prst="rect">
            <a:avLst/>
          </a:prstGeom>
        </p:spPr>
      </p:pic>
    </p:spTree>
    <p:extLst>
      <p:ext uri="{BB962C8B-B14F-4D97-AF65-F5344CB8AC3E}">
        <p14:creationId xmlns:p14="http://schemas.microsoft.com/office/powerpoint/2010/main" val="30435059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09F09E8-5FCB-09EA-5BED-78983AECA628}"/>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4763D68-551B-FC44-08F8-E34C37BD628A}"/>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4931D83-03B4-465B-EA5D-99E722652F8E}"/>
              </a:ext>
            </a:extLst>
          </p:cNvPr>
          <p:cNvSpPr/>
          <p:nvPr/>
        </p:nvSpPr>
        <p:spPr>
          <a:xfrm>
            <a:off x="3048" y="19878"/>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096EDC36-6897-8B32-5562-92B4DB8303C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444FAC0-0DD0-5C07-CC39-8B01E232BB2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Dependence</a:t>
            </a:r>
            <a:br>
              <a:rPr lang="en-US" dirty="0"/>
            </a:br>
            <a:r>
              <a:rPr lang="en-US" dirty="0"/>
              <a:t>(Dependencies between iterations)</a:t>
            </a:r>
          </a:p>
        </p:txBody>
      </p:sp>
      <p:pic>
        <p:nvPicPr>
          <p:cNvPr id="3" name="Picture 2">
            <a:extLst>
              <a:ext uri="{FF2B5EF4-FFF2-40B4-BE49-F238E27FC236}">
                <a16:creationId xmlns:a16="http://schemas.microsoft.com/office/drawing/2014/main" id="{E7602646-6687-92B1-0EEC-D873ED763C95}"/>
              </a:ext>
            </a:extLst>
          </p:cNvPr>
          <p:cNvPicPr>
            <a:picLocks noChangeAspect="1"/>
          </p:cNvPicPr>
          <p:nvPr/>
        </p:nvPicPr>
        <p:blipFill>
          <a:blip r:embed="rId3"/>
          <a:stretch>
            <a:fillRect/>
          </a:stretch>
        </p:blipFill>
        <p:spPr>
          <a:xfrm>
            <a:off x="2175478" y="2201863"/>
            <a:ext cx="8048625" cy="4648200"/>
          </a:xfrm>
          <a:prstGeom prst="rect">
            <a:avLst/>
          </a:prstGeom>
        </p:spPr>
      </p:pic>
    </p:spTree>
    <p:extLst>
      <p:ext uri="{BB962C8B-B14F-4D97-AF65-F5344CB8AC3E}">
        <p14:creationId xmlns:p14="http://schemas.microsoft.com/office/powerpoint/2010/main" val="2036142365"/>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10921</TotalTime>
  <Words>1427</Words>
  <Application>Microsoft Office PowerPoint</Application>
  <PresentationFormat>Widescreen</PresentationFormat>
  <Paragraphs>243</Paragraphs>
  <Slides>43</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Avenir</vt:lpstr>
      <vt:lpstr>Calibri</vt:lpstr>
      <vt:lpstr>ff2</vt:lpstr>
      <vt:lpstr>ff3</vt:lpstr>
      <vt:lpstr>BlockprintVTI</vt:lpstr>
      <vt:lpstr>CSDC-446 Parallel and Distributed Computing</vt:lpstr>
      <vt:lpstr>Topics Covered</vt:lpstr>
      <vt:lpstr>How to Write Efficient and Scalable Programs?</vt:lpstr>
      <vt:lpstr>Role of a Good Compiler</vt:lpstr>
      <vt:lpstr>Parallelism Challenges for a Compiler</vt:lpstr>
      <vt:lpstr>Can we parallelize the following loops?</vt:lpstr>
      <vt:lpstr>Dependences</vt:lpstr>
      <vt:lpstr>Dependences</vt:lpstr>
      <vt:lpstr>Data Dependence</vt:lpstr>
      <vt:lpstr>Types of Dependences</vt:lpstr>
      <vt:lpstr>Data Dependence</vt:lpstr>
      <vt:lpstr>Bernstein’s Conditions</vt:lpstr>
      <vt:lpstr>Bernstein’s Conditions</vt:lpstr>
      <vt:lpstr>Bernstein’s Conditions</vt:lpstr>
      <vt:lpstr>Find Parallelism in Loops – Is it Easy?</vt:lpstr>
      <vt:lpstr>Dependence in Loops</vt:lpstr>
      <vt:lpstr>Dependence in Loops</vt:lpstr>
      <vt:lpstr>Dependence in Loops</vt:lpstr>
      <vt:lpstr>Normalized Iteration Number</vt:lpstr>
      <vt:lpstr>Iteration Vector</vt:lpstr>
      <vt:lpstr>Iteration Space Graph</vt:lpstr>
      <vt:lpstr>Iteration Space Graph</vt:lpstr>
      <vt:lpstr>Iteration Vector Ordering</vt:lpstr>
      <vt:lpstr>Lexicographic Ordering of Iteration Vectors</vt:lpstr>
      <vt:lpstr>Dependence (Dependencies between iterations)</vt:lpstr>
      <vt:lpstr>Loop-Independent Dependences</vt:lpstr>
      <vt:lpstr>Loop-Carried Dependences</vt:lpstr>
      <vt:lpstr>Dependence (Dependencies between iterations)</vt:lpstr>
      <vt:lpstr>Dependence (Dependencies between iterations)</vt:lpstr>
      <vt:lpstr>Dependence (Dependencies between iterations)</vt:lpstr>
      <vt:lpstr>Distance Vectors</vt:lpstr>
      <vt:lpstr>Dependence (Dependencies between iterations)</vt:lpstr>
      <vt:lpstr>Dependence (Dependencies between iterations)</vt:lpstr>
      <vt:lpstr>Dependence (Dependencies between iterations)</vt:lpstr>
      <vt:lpstr>Dependence (Dependencies between iterations)</vt:lpstr>
      <vt:lpstr>Dependence (Dependencies between iterations)</vt:lpstr>
      <vt:lpstr>Dependence (Dependencies between iterations)</vt:lpstr>
      <vt:lpstr>Dependence (Dependencies between iterations)</vt:lpstr>
      <vt:lpstr>PowerPoint Presentation</vt:lpstr>
      <vt:lpstr>Dependence (Dependencies between iterations)</vt:lpstr>
      <vt:lpstr>Dependence (Dependencies between iterations)</vt:lpstr>
      <vt:lpstr>Dependence (Dependencies between iterations)</vt:lpstr>
      <vt:lpstr>Dependence (Dependencies between iterations)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CS621 Parallel and Distributed Computing</dc:title>
  <dc:creator>Academics 1</dc:creator>
  <cp:lastModifiedBy>Sehrish Amjad</cp:lastModifiedBy>
  <cp:revision>627</cp:revision>
  <dcterms:created xsi:type="dcterms:W3CDTF">2022-12-26T05:14:17Z</dcterms:created>
  <dcterms:modified xsi:type="dcterms:W3CDTF">2026-10-05T11:50:03Z</dcterms:modified>
</cp:coreProperties>
</file>